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19"/>
  </p:notesMasterIdLst>
  <p:handoutMasterIdLst>
    <p:handoutMasterId r:id="rId20"/>
  </p:handoutMasterIdLst>
  <p:sldIdLst>
    <p:sldId id="282" r:id="rId2"/>
    <p:sldId id="278" r:id="rId3"/>
    <p:sldId id="283" r:id="rId4"/>
    <p:sldId id="284" r:id="rId5"/>
    <p:sldId id="285" r:id="rId6"/>
    <p:sldId id="286" r:id="rId7"/>
    <p:sldId id="287" r:id="rId8"/>
    <p:sldId id="288" r:id="rId9"/>
    <p:sldId id="289" r:id="rId10"/>
    <p:sldId id="290" r:id="rId11"/>
    <p:sldId id="291" r:id="rId12"/>
    <p:sldId id="292" r:id="rId13"/>
    <p:sldId id="293" r:id="rId14"/>
    <p:sldId id="294" r:id="rId15"/>
    <p:sldId id="295" r:id="rId16"/>
    <p:sldId id="296" r:id="rId17"/>
    <p:sldId id="297" r:id="rId18"/>
  </p:sldIdLst>
  <p:sldSz cx="9144000" cy="6858000" type="screen4x3"/>
  <p:notesSz cx="7315200" cy="96012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124" autoAdjust="0"/>
    <p:restoredTop sz="94660"/>
  </p:normalViewPr>
  <p:slideViewPr>
    <p:cSldViewPr>
      <p:cViewPr varScale="1">
        <p:scale>
          <a:sx n="59" d="100"/>
          <a:sy n="59" d="100"/>
        </p:scale>
        <p:origin x="1252" y="7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66" d="100"/>
          <a:sy n="66" d="100"/>
        </p:scale>
        <p:origin x="-3276" y="-102"/>
      </p:cViewPr>
      <p:guideLst>
        <p:guide orient="horz" pos="3024"/>
        <p:guide pos="2304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68650" cy="481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49" tIns="48325" rIns="96649" bIns="48325" numCol="1" anchor="t" anchorCtr="0" compatLnSpc="1">
            <a:prstTxWarp prst="textNoShape">
              <a:avLst/>
            </a:prstTxWarp>
          </a:bodyPr>
          <a:lstStyle>
            <a:lvl1pPr defTabSz="966788" eaLnBrk="1" hangingPunct="1">
              <a:defRPr sz="1300"/>
            </a:lvl1pPr>
          </a:lstStyle>
          <a:p>
            <a:pPr>
              <a:defRPr/>
            </a:pPr>
            <a:r>
              <a:rPr lang="en-US"/>
              <a:t>1.1 Khái niệm về phần mềm</a:t>
            </a:r>
          </a:p>
        </p:txBody>
      </p:sp>
      <p:sp>
        <p:nvSpPr>
          <p:cNvPr id="3277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44963" y="0"/>
            <a:ext cx="3168650" cy="481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49" tIns="48325" rIns="96649" bIns="48325" numCol="1" anchor="t" anchorCtr="0" compatLnSpc="1">
            <a:prstTxWarp prst="textNoShape">
              <a:avLst/>
            </a:prstTxWarp>
          </a:bodyPr>
          <a:lstStyle>
            <a:lvl1pPr algn="r" defTabSz="966788" eaLnBrk="1" hangingPunct="1">
              <a:defRPr sz="13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277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4963" y="9118600"/>
            <a:ext cx="3168650" cy="481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49" tIns="48325" rIns="96649" bIns="48325" numCol="1" anchor="b" anchorCtr="0" compatLnSpc="1">
            <a:prstTxWarp prst="textNoShape">
              <a:avLst/>
            </a:prstTxWarp>
          </a:bodyPr>
          <a:lstStyle>
            <a:lvl1pPr algn="r" defTabSz="966788" eaLnBrk="1" hangingPunct="1">
              <a:defRPr sz="1300"/>
            </a:lvl1pPr>
          </a:lstStyle>
          <a:p>
            <a:pPr>
              <a:defRPr/>
            </a:pPr>
            <a:fld id="{6A785CD0-D7B0-4298-A684-ED6C1D09B34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2"/>
          </p:nvPr>
        </p:nvSpPr>
        <p:spPr>
          <a:xfrm>
            <a:off x="0" y="9120188"/>
            <a:ext cx="3170238" cy="4794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smtClean="0"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68650" cy="481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49" tIns="48325" rIns="96649" bIns="48325" numCol="1" anchor="t" anchorCtr="0" compatLnSpc="1">
            <a:prstTxWarp prst="textNoShape">
              <a:avLst/>
            </a:prstTxWarp>
          </a:bodyPr>
          <a:lstStyle>
            <a:lvl1pPr defTabSz="966788" eaLnBrk="1" hangingPunct="1">
              <a:defRPr sz="1300"/>
            </a:lvl1pPr>
          </a:lstStyle>
          <a:p>
            <a:pPr>
              <a:defRPr/>
            </a:pPr>
            <a:r>
              <a:rPr lang="en-US"/>
              <a:t>1.1 Khái niệm về phần mềm</a:t>
            </a:r>
          </a:p>
        </p:txBody>
      </p:sp>
      <p:sp>
        <p:nvSpPr>
          <p:cNvPr id="307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4963" y="0"/>
            <a:ext cx="3168650" cy="481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49" tIns="48325" rIns="96649" bIns="48325" numCol="1" anchor="t" anchorCtr="0" compatLnSpc="1">
            <a:prstTxWarp prst="textNoShape">
              <a:avLst/>
            </a:prstTxWarp>
          </a:bodyPr>
          <a:lstStyle>
            <a:lvl1pPr algn="r" defTabSz="966788" eaLnBrk="1" hangingPunct="1">
              <a:defRPr sz="13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458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57300" y="720725"/>
            <a:ext cx="4802188" cy="360203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07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31838" y="4560888"/>
            <a:ext cx="5851525" cy="4319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49" tIns="48325" rIns="96649" bIns="4832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07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18600"/>
            <a:ext cx="3168650" cy="481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49" tIns="48325" rIns="96649" bIns="48325" numCol="1" anchor="b" anchorCtr="0" compatLnSpc="1">
            <a:prstTxWarp prst="textNoShape">
              <a:avLst/>
            </a:prstTxWarp>
          </a:bodyPr>
          <a:lstStyle>
            <a:lvl1pPr defTabSz="966788" eaLnBrk="1" hangingPunct="1">
              <a:defRPr sz="13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4963" y="9118600"/>
            <a:ext cx="3168650" cy="481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49" tIns="48325" rIns="96649" bIns="48325" numCol="1" anchor="b" anchorCtr="0" compatLnSpc="1">
            <a:prstTxWarp prst="textNoShape">
              <a:avLst/>
            </a:prstTxWarp>
          </a:bodyPr>
          <a:lstStyle>
            <a:lvl1pPr algn="r" defTabSz="966788" eaLnBrk="1" hangingPunct="1">
              <a:defRPr sz="1300"/>
            </a:lvl1pPr>
          </a:lstStyle>
          <a:p>
            <a:pPr>
              <a:defRPr/>
            </a:pPr>
            <a:fld id="{19E9699E-53E9-43C5-973E-72D2DD4D49E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2"/>
          <p:cNvSpPr>
            <a:spLocks noChangeShapeType="1"/>
          </p:cNvSpPr>
          <p:nvPr/>
        </p:nvSpPr>
        <p:spPr bwMode="auto">
          <a:xfrm>
            <a:off x="609600" y="3200400"/>
            <a:ext cx="7975600" cy="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ChangeArrowheads="1"/>
          </p:cNvSpPr>
          <p:nvPr/>
        </p:nvSpPr>
        <p:spPr bwMode="auto">
          <a:xfrm>
            <a:off x="0" y="6400800"/>
            <a:ext cx="9144000" cy="45878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840" tIns="44623" rIns="90840" bIns="44623">
            <a:spAutoFit/>
          </a:bodyPr>
          <a:lstStyle/>
          <a:p>
            <a:pPr defTabSz="917575">
              <a:defRPr/>
            </a:pPr>
            <a:r>
              <a:rPr lang="en-US" sz="1400" i="1" dirty="0">
                <a:solidFill>
                  <a:schemeClr val="tx2"/>
                </a:solidFill>
                <a:cs typeface="Arial" charset="0"/>
              </a:rPr>
              <a:t>© </a:t>
            </a:r>
            <a:r>
              <a:rPr lang="en-GB" sz="1400" i="1" dirty="0" err="1">
                <a:solidFill>
                  <a:schemeClr val="tx2"/>
                </a:solidFill>
              </a:rPr>
              <a:t>Bộ</a:t>
            </a:r>
            <a:r>
              <a:rPr lang="en-GB" sz="1400" i="1" dirty="0">
                <a:solidFill>
                  <a:schemeClr val="tx2"/>
                </a:solidFill>
              </a:rPr>
              <a:t> </a:t>
            </a:r>
            <a:r>
              <a:rPr lang="en-GB" sz="1400" i="1" dirty="0" err="1">
                <a:solidFill>
                  <a:schemeClr val="tx2"/>
                </a:solidFill>
              </a:rPr>
              <a:t>môn</a:t>
            </a:r>
            <a:r>
              <a:rPr lang="en-GB" sz="1400" i="1" dirty="0">
                <a:solidFill>
                  <a:schemeClr val="tx2"/>
                </a:solidFill>
              </a:rPr>
              <a:t> </a:t>
            </a:r>
            <a:r>
              <a:rPr lang="en-GB" sz="1400" i="1" dirty="0" err="1">
                <a:solidFill>
                  <a:schemeClr val="tx2"/>
                </a:solidFill>
              </a:rPr>
              <a:t>Công</a:t>
            </a:r>
            <a:r>
              <a:rPr lang="en-GB" sz="1400" i="1" dirty="0">
                <a:solidFill>
                  <a:schemeClr val="tx2"/>
                </a:solidFill>
              </a:rPr>
              <a:t> </a:t>
            </a:r>
            <a:r>
              <a:rPr lang="en-GB" sz="1400" i="1" dirty="0" err="1">
                <a:solidFill>
                  <a:schemeClr val="tx2"/>
                </a:solidFill>
              </a:rPr>
              <a:t>nghệ</a:t>
            </a:r>
            <a:r>
              <a:rPr lang="en-GB" sz="1400" i="1" dirty="0">
                <a:solidFill>
                  <a:schemeClr val="tx2"/>
                </a:solidFill>
              </a:rPr>
              <a:t> </a:t>
            </a:r>
            <a:r>
              <a:rPr lang="en-GB" sz="1400" i="1" dirty="0" err="1">
                <a:solidFill>
                  <a:schemeClr val="tx2"/>
                </a:solidFill>
              </a:rPr>
              <a:t>phần</a:t>
            </a:r>
            <a:r>
              <a:rPr lang="en-GB" sz="1400" i="1" dirty="0">
                <a:solidFill>
                  <a:schemeClr val="tx2"/>
                </a:solidFill>
              </a:rPr>
              <a:t> </a:t>
            </a:r>
            <a:r>
              <a:rPr lang="en-GB" sz="1400" i="1" dirty="0" err="1">
                <a:solidFill>
                  <a:schemeClr val="tx2"/>
                </a:solidFill>
              </a:rPr>
              <a:t>mềm</a:t>
            </a:r>
            <a:r>
              <a:rPr lang="en-GB" sz="1400" i="1" dirty="0">
                <a:solidFill>
                  <a:schemeClr val="tx2"/>
                </a:solidFill>
              </a:rPr>
              <a:t> – </a:t>
            </a:r>
            <a:r>
              <a:rPr lang="en-GB" sz="1400" i="1" dirty="0" err="1">
                <a:solidFill>
                  <a:schemeClr val="tx2"/>
                </a:solidFill>
              </a:rPr>
              <a:t>Khoa</a:t>
            </a:r>
            <a:r>
              <a:rPr lang="en-GB" sz="1400" i="1" dirty="0">
                <a:solidFill>
                  <a:schemeClr val="tx2"/>
                </a:solidFill>
              </a:rPr>
              <a:t> CNTT- ĐHCN- ĐHQGHN	                </a:t>
            </a:r>
            <a:r>
              <a:rPr lang="en-GB" sz="1400" i="1" dirty="0" err="1">
                <a:solidFill>
                  <a:schemeClr val="tx2"/>
                </a:solidFill>
              </a:rPr>
              <a:t>Công</a:t>
            </a:r>
            <a:r>
              <a:rPr lang="en-GB" sz="1400" i="1" dirty="0">
                <a:solidFill>
                  <a:schemeClr val="tx2"/>
                </a:solidFill>
              </a:rPr>
              <a:t> </a:t>
            </a:r>
            <a:r>
              <a:rPr lang="en-GB" sz="1400" i="1" dirty="0" err="1">
                <a:solidFill>
                  <a:schemeClr val="tx2"/>
                </a:solidFill>
              </a:rPr>
              <a:t>nghệ</a:t>
            </a:r>
            <a:r>
              <a:rPr lang="en-GB" sz="1400" i="1" dirty="0">
                <a:solidFill>
                  <a:schemeClr val="tx2"/>
                </a:solidFill>
              </a:rPr>
              <a:t> </a:t>
            </a:r>
            <a:r>
              <a:rPr lang="en-GB" sz="1400" i="1" dirty="0" err="1">
                <a:solidFill>
                  <a:schemeClr val="tx2"/>
                </a:solidFill>
              </a:rPr>
              <a:t>phần</a:t>
            </a:r>
            <a:r>
              <a:rPr lang="en-GB" sz="1400" i="1" dirty="0">
                <a:solidFill>
                  <a:schemeClr val="tx2"/>
                </a:solidFill>
              </a:rPr>
              <a:t> </a:t>
            </a:r>
            <a:r>
              <a:rPr lang="en-GB" sz="1400" i="1" dirty="0" err="1">
                <a:solidFill>
                  <a:schemeClr val="tx2"/>
                </a:solidFill>
              </a:rPr>
              <a:t>mềm</a:t>
            </a:r>
            <a:r>
              <a:rPr lang="en-GB" dirty="0">
                <a:solidFill>
                  <a:schemeClr val="tx2"/>
                </a:solidFill>
              </a:rPr>
              <a:t> </a:t>
            </a:r>
            <a:r>
              <a:rPr lang="en-GB" sz="1200" dirty="0">
                <a:solidFill>
                  <a:schemeClr val="tx2"/>
                </a:solidFill>
              </a:rPr>
              <a:t> </a:t>
            </a:r>
            <a:r>
              <a:rPr lang="en-GB" sz="1400" i="1" dirty="0">
                <a:solidFill>
                  <a:schemeClr val="tx2"/>
                </a:solidFill>
              </a:rPr>
              <a:t>Slide  </a:t>
            </a:r>
            <a:fld id="{E52B8ACD-D9E3-4E2A-A184-6E1832FB52F5}" type="slidenum">
              <a:rPr lang="en-GB" sz="1400" i="1">
                <a:solidFill>
                  <a:schemeClr val="tx2"/>
                </a:solidFill>
              </a:rPr>
              <a:pPr defTabSz="917575">
                <a:defRPr/>
              </a:pPr>
              <a:t>‹#›</a:t>
            </a:fld>
            <a:endParaRPr lang="en-GB" sz="1400" i="1" dirty="0">
              <a:solidFill>
                <a:schemeClr val="tx2"/>
              </a:solidFill>
            </a:endParaRPr>
          </a:p>
        </p:txBody>
      </p:sp>
      <p:sp>
        <p:nvSpPr>
          <p:cNvPr id="243715" name="Rectangle 3"/>
          <p:cNvSpPr>
            <a:spLocks noGrp="1" noChangeArrowheads="1"/>
          </p:cNvSpPr>
          <p:nvPr>
            <p:ph type="ctrTitle"/>
          </p:nvPr>
        </p:nvSpPr>
        <p:spPr>
          <a:xfrm>
            <a:off x="685800" y="1447800"/>
            <a:ext cx="7772400" cy="1470025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43716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581400"/>
            <a:ext cx="6400800" cy="1752600"/>
          </a:xfrm>
        </p:spPr>
        <p:txBody>
          <a:bodyPr/>
          <a:lstStyle>
            <a:lvl1pPr marL="0" indent="0" algn="ctr">
              <a:buFont typeface="Zapf Dingbats" charset="2"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90600" y="1676400"/>
            <a:ext cx="3825875" cy="41306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68875" y="1676400"/>
            <a:ext cx="3825875" cy="41306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72263" y="304800"/>
            <a:ext cx="2122487" cy="550227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4800" y="304800"/>
            <a:ext cx="6215063" cy="55022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80963"/>
            <a:ext cx="8229600" cy="74136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179388" y="1016000"/>
            <a:ext cx="4405312" cy="56530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737100" y="1016000"/>
            <a:ext cx="4406900" cy="27495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737100" y="3917950"/>
            <a:ext cx="4406900" cy="27511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383118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690" name="Line 2"/>
          <p:cNvSpPr>
            <a:spLocks noChangeShapeType="1"/>
          </p:cNvSpPr>
          <p:nvPr/>
        </p:nvSpPr>
        <p:spPr bwMode="auto">
          <a:xfrm>
            <a:off x="0" y="1371600"/>
            <a:ext cx="7975600" cy="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304800" y="304800"/>
            <a:ext cx="7804150" cy="11080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wrap="square" lIns="90840" tIns="44623" rIns="90840" bIns="44623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title style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990600" y="1676400"/>
            <a:ext cx="7804150" cy="41306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wrap="square" lIns="90840" tIns="44623" rIns="90840" bIns="446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smtClean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1" r:id="rId1"/>
    <p:sldLayoutId id="2147483732" r:id="rId2"/>
    <p:sldLayoutId id="2147483733" r:id="rId3"/>
    <p:sldLayoutId id="2147483734" r:id="rId4"/>
    <p:sldLayoutId id="2147483735" r:id="rId5"/>
    <p:sldLayoutId id="2147483736" r:id="rId6"/>
    <p:sldLayoutId id="2147483737" r:id="rId7"/>
    <p:sldLayoutId id="2147483738" r:id="rId8"/>
    <p:sldLayoutId id="2147483739" r:id="rId9"/>
    <p:sldLayoutId id="2147483740" r:id="rId10"/>
    <p:sldLayoutId id="2147483741" r:id="rId11"/>
    <p:sldLayoutId id="2147483742" r:id="rId12"/>
  </p:sldLayoutIdLst>
  <p:hf sldNum="0" hdr="0" ftr="0"/>
  <p:txStyles>
    <p:titleStyle>
      <a:lvl1pPr algn="l" defTabSz="917575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defTabSz="917575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l" defTabSz="917575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l" defTabSz="917575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l" defTabSz="917575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l" defTabSz="917575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l" defTabSz="917575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l" defTabSz="917575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l" defTabSz="917575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466725" indent="-466725" algn="l" defTabSz="917575" rtl="0" eaLnBrk="0" fontAlgn="base" hangingPunct="0">
        <a:spcBef>
          <a:spcPct val="40000"/>
        </a:spcBef>
        <a:spcAft>
          <a:spcPct val="0"/>
        </a:spcAft>
        <a:buClr>
          <a:schemeClr val="tx2"/>
        </a:buClr>
        <a:buSzPct val="50000"/>
        <a:buFont typeface="Zapf Dingbats" charset="2"/>
        <a:buChar char="l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1039813" indent="-458788" algn="l" defTabSz="917575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100000"/>
        <a:buChar char="-"/>
        <a:defRPr sz="2400">
          <a:solidFill>
            <a:schemeClr val="tx1"/>
          </a:solidFill>
          <a:latin typeface="+mn-lt"/>
        </a:defRPr>
      </a:lvl2pPr>
      <a:lvl3pPr marL="1382713" indent="-228600" algn="l" defTabSz="917575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100000"/>
        <a:buChar char="•"/>
        <a:defRPr sz="2400">
          <a:solidFill>
            <a:schemeClr val="tx1"/>
          </a:solidFill>
          <a:latin typeface="+mn-lt"/>
        </a:defRPr>
      </a:lvl3pPr>
      <a:lvl4pPr marL="1727200" indent="-228600" algn="l" defTabSz="917575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65000"/>
        <a:buFont typeface="Monotype Sorts" pitchFamily="2" charset="2"/>
        <a:buChar char=""/>
        <a:defRPr sz="2000">
          <a:solidFill>
            <a:schemeClr val="tx1"/>
          </a:solidFill>
          <a:latin typeface="+mn-lt"/>
        </a:defRPr>
      </a:lvl4pPr>
      <a:lvl5pPr marL="2071688" indent="-228600" algn="l" defTabSz="917575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100000"/>
        <a:buChar char="•"/>
        <a:defRPr sz="2000">
          <a:solidFill>
            <a:schemeClr val="tx1"/>
          </a:solidFill>
          <a:latin typeface="+mn-lt"/>
        </a:defRPr>
      </a:lvl5pPr>
      <a:lvl6pPr marL="2528888" indent="-228600" algn="l" defTabSz="917575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100000"/>
        <a:buChar char="•"/>
        <a:defRPr sz="2000">
          <a:solidFill>
            <a:schemeClr val="tx1"/>
          </a:solidFill>
          <a:latin typeface="+mn-lt"/>
        </a:defRPr>
      </a:lvl6pPr>
      <a:lvl7pPr marL="2986088" indent="-228600" algn="l" defTabSz="917575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100000"/>
        <a:buChar char="•"/>
        <a:defRPr sz="2000">
          <a:solidFill>
            <a:schemeClr val="tx1"/>
          </a:solidFill>
          <a:latin typeface="+mn-lt"/>
        </a:defRPr>
      </a:lvl7pPr>
      <a:lvl8pPr marL="3443288" indent="-228600" algn="l" defTabSz="917575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100000"/>
        <a:buChar char="•"/>
        <a:defRPr sz="2000">
          <a:solidFill>
            <a:schemeClr val="tx1"/>
          </a:solidFill>
          <a:latin typeface="+mn-lt"/>
        </a:defRPr>
      </a:lvl8pPr>
      <a:lvl9pPr marL="3900488" indent="-228600" algn="l" defTabSz="917575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100000"/>
        <a:buChar char="•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F94F7BE1-3075-450C-B75B-BA8D9F7DF8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2057400"/>
            <a:ext cx="8153400" cy="3505200"/>
          </a:xfrm>
        </p:spPr>
        <p:txBody>
          <a:bodyPr/>
          <a:lstStyle/>
          <a:p>
            <a:pPr algn="ctr"/>
            <a:r>
              <a:rPr lang="en-US" sz="3600" b="1" dirty="0"/>
              <a:t>At Most One – AMO,</a:t>
            </a:r>
            <a:br>
              <a:rPr lang="en-US" sz="3600" b="1" dirty="0"/>
            </a:br>
            <a:r>
              <a:rPr lang="en-US" sz="3600" b="1" dirty="0"/>
              <a:t>At Least One – ALO</a:t>
            </a:r>
            <a:br>
              <a:rPr lang="en-US" sz="3600" b="1" dirty="0"/>
            </a:br>
            <a:r>
              <a:rPr lang="en-US" sz="3600" b="1" dirty="0"/>
              <a:t> Encoding</a:t>
            </a:r>
            <a:br>
              <a:rPr lang="en-US" sz="3600" dirty="0"/>
            </a:br>
            <a:br>
              <a:rPr lang="en-US" sz="1800" i="1" dirty="0"/>
            </a:br>
            <a:br>
              <a:rPr lang="en-US" sz="1800" i="1" dirty="0"/>
            </a:br>
            <a:br>
              <a:rPr lang="en-US" sz="1800" i="1" dirty="0"/>
            </a:br>
            <a:br>
              <a:rPr lang="en-US" sz="1800" i="1" dirty="0"/>
            </a:br>
            <a:br>
              <a:rPr lang="en-US" sz="1800" i="1" dirty="0"/>
            </a:br>
            <a:r>
              <a:rPr lang="en-US" sz="1800" i="1" dirty="0"/>
              <a:t>To Van Khanh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43760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2400" y="1676400"/>
            <a:ext cx="8915400" cy="4130675"/>
          </a:xfrm>
        </p:spPr>
        <p:txBody>
          <a:bodyPr/>
          <a:lstStyle/>
          <a:p>
            <a:pPr marL="581025" lvl="1" indent="0">
              <a:buNone/>
            </a:pPr>
            <a:r>
              <a:rPr lang="en-US" sz="2800" dirty="0"/>
              <a:t>1. Binomial encoding</a:t>
            </a:r>
          </a:p>
          <a:p>
            <a:pPr marL="581025" lvl="1" indent="0">
              <a:buNone/>
            </a:pPr>
            <a:r>
              <a:rPr lang="en-US" sz="2800" dirty="0"/>
              <a:t>2. Binary encoding</a:t>
            </a:r>
          </a:p>
          <a:p>
            <a:pPr marL="581025" lvl="1" indent="0">
              <a:buNone/>
            </a:pPr>
            <a:r>
              <a:rPr lang="en-US" sz="2800" dirty="0"/>
              <a:t>3. Sequential encounter encoding</a:t>
            </a:r>
          </a:p>
          <a:p>
            <a:pPr marL="581025" lvl="1" indent="0">
              <a:buNone/>
            </a:pPr>
            <a:r>
              <a:rPr lang="en-US" sz="2800" dirty="0"/>
              <a:t>4. Commander encoding</a:t>
            </a:r>
          </a:p>
          <a:p>
            <a:pPr marL="581025" lvl="1" indent="0">
              <a:buNone/>
            </a:pPr>
            <a:r>
              <a:rPr lang="en-US" sz="2800" dirty="0"/>
              <a:t>5. Product encoding</a:t>
            </a:r>
          </a:p>
          <a:p>
            <a:pPr marL="581025" lvl="1" indent="0">
              <a:buNone/>
            </a:pPr>
            <a:endParaRPr lang="en-US" sz="2800" dirty="0"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08F41C-85B4-42CF-A1F3-61F98B5823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AMO, ALO Encoding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5B90A5-5F18-4782-A6D9-136F8F2021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676400"/>
            <a:ext cx="8413750" cy="4130675"/>
          </a:xfrm>
        </p:spPr>
        <p:txBody>
          <a:bodyPr/>
          <a:lstStyle/>
          <a:p>
            <a:r>
              <a:rPr lang="en-US" dirty="0"/>
              <a:t>Applications: i.e., Sudoku, </a:t>
            </a:r>
            <a:r>
              <a:rPr lang="en-US" dirty="0" err="1"/>
              <a:t>Hitori</a:t>
            </a:r>
            <a:r>
              <a:rPr lang="en-US" dirty="0"/>
              <a:t>, </a:t>
            </a:r>
            <a:r>
              <a:rPr lang="en-US" dirty="0" err="1"/>
              <a:t>Numberlink</a:t>
            </a:r>
            <a:r>
              <a:rPr lang="en-US" dirty="0"/>
              <a:t>,..</a:t>
            </a:r>
          </a:p>
          <a:p>
            <a:pPr eaLnBrk="1" hangingPunct="1"/>
            <a:r>
              <a:rPr lang="en-US" altLang="ja-JP" sz="1800" i="1" dirty="0" err="1"/>
              <a:t>x</a:t>
            </a:r>
            <a:r>
              <a:rPr lang="en-US" altLang="ja-JP" sz="1800" i="1" baseline="-25000" dirty="0" err="1"/>
              <a:t>ijk</a:t>
            </a:r>
            <a:r>
              <a:rPr lang="en-US" altLang="ja-JP" sz="1800" dirty="0"/>
              <a:t> </a:t>
            </a:r>
            <a:r>
              <a:rPr lang="en-US" altLang="ja-JP" sz="1800" dirty="0" err="1"/>
              <a:t>iff</a:t>
            </a:r>
            <a:r>
              <a:rPr lang="en-US" altLang="ja-JP" sz="1800" dirty="0"/>
              <a:t> </a:t>
            </a:r>
            <a:r>
              <a:rPr lang="en-US" altLang="ja-JP" sz="1800" i="1" dirty="0"/>
              <a:t>k</a:t>
            </a:r>
            <a:r>
              <a:rPr lang="en-US" altLang="ja-JP" sz="1800" dirty="0"/>
              <a:t> at (</a:t>
            </a:r>
            <a:r>
              <a:rPr lang="en-US" altLang="ja-JP" sz="1800" i="1" dirty="0" err="1"/>
              <a:t>i</a:t>
            </a:r>
            <a:r>
              <a:rPr lang="en-US" altLang="ja-JP" sz="1800" dirty="0" err="1"/>
              <a:t>,</a:t>
            </a:r>
            <a:r>
              <a:rPr lang="en-US" altLang="ja-JP" sz="1800" i="1" dirty="0" err="1"/>
              <a:t>j</a:t>
            </a:r>
            <a:r>
              <a:rPr lang="en-US" altLang="ja-JP" sz="1800" dirty="0"/>
              <a:t>) where 1≦ </a:t>
            </a:r>
            <a:r>
              <a:rPr lang="en-US" altLang="ja-JP" sz="1800" i="1" dirty="0" err="1"/>
              <a:t>i</a:t>
            </a:r>
            <a:r>
              <a:rPr lang="en-US" altLang="ja-JP" sz="1800" i="1" dirty="0"/>
              <a:t>, j, k </a:t>
            </a:r>
            <a:r>
              <a:rPr lang="en-US" altLang="ja-JP" sz="1800" dirty="0"/>
              <a:t>≦9</a:t>
            </a:r>
            <a:endParaRPr kumimoji="0" lang="en-US" altLang="ja-JP" sz="1800" dirty="0"/>
          </a:p>
          <a:p>
            <a:pPr eaLnBrk="1" hangingPunct="1"/>
            <a:r>
              <a:rPr kumimoji="0" lang="en-US" altLang="ja-JP" sz="1800" dirty="0"/>
              <a:t>Each box contains precisely one number. </a:t>
            </a:r>
          </a:p>
          <a:p>
            <a:pPr eaLnBrk="1" hangingPunct="1">
              <a:buFontTx/>
              <a:buNone/>
            </a:pPr>
            <a:r>
              <a:rPr lang="en-US" altLang="ja-JP" sz="1800" dirty="0"/>
              <a:t>(</a:t>
            </a:r>
            <a:r>
              <a:rPr lang="en-US" altLang="ja-JP" sz="1800" i="1" dirty="0"/>
              <a:t>x</a:t>
            </a:r>
            <a:r>
              <a:rPr lang="en-US" altLang="ja-JP" sz="1800" i="1" baseline="-25000" dirty="0"/>
              <a:t>ij</a:t>
            </a:r>
            <a:r>
              <a:rPr lang="en-US" altLang="ja-JP" sz="1800" i="1" baseline="-25000" dirty="0">
                <a:solidFill>
                  <a:srgbClr val="FF0000"/>
                </a:solidFill>
              </a:rPr>
              <a:t>1</a:t>
            </a:r>
            <a:r>
              <a:rPr lang="en-US" altLang="ja-JP" sz="1800" dirty="0"/>
              <a:t>∨</a:t>
            </a:r>
            <a:r>
              <a:rPr lang="en-US" altLang="ja-JP" sz="1800" i="1" dirty="0"/>
              <a:t>x</a:t>
            </a:r>
            <a:r>
              <a:rPr lang="en-US" altLang="ja-JP" sz="1800" i="1" baseline="-25000" dirty="0"/>
              <a:t>ij</a:t>
            </a:r>
            <a:r>
              <a:rPr lang="en-US" altLang="ja-JP" sz="1800" i="1" baseline="-25000" dirty="0">
                <a:solidFill>
                  <a:srgbClr val="FF0000"/>
                </a:solidFill>
              </a:rPr>
              <a:t>2</a:t>
            </a:r>
            <a:r>
              <a:rPr lang="en-US" altLang="ja-JP" sz="1800" dirty="0"/>
              <a:t>∨…∨</a:t>
            </a:r>
            <a:r>
              <a:rPr lang="en-US" altLang="ja-JP" sz="1800" i="1" dirty="0"/>
              <a:t>x</a:t>
            </a:r>
            <a:r>
              <a:rPr lang="en-US" altLang="ja-JP" sz="1800" i="1" baseline="-25000" dirty="0"/>
              <a:t>ij</a:t>
            </a:r>
            <a:r>
              <a:rPr lang="en-US" altLang="ja-JP" sz="1800" i="1" baseline="-25000" dirty="0">
                <a:solidFill>
                  <a:srgbClr val="FF0000"/>
                </a:solidFill>
              </a:rPr>
              <a:t>9 </a:t>
            </a:r>
            <a:r>
              <a:rPr lang="en-US" altLang="ja-JP" sz="1800" dirty="0"/>
              <a:t>)∧(</a:t>
            </a:r>
            <a:r>
              <a:rPr lang="en-US" altLang="ja-JP" sz="1800" i="1" dirty="0"/>
              <a:t>x</a:t>
            </a:r>
            <a:r>
              <a:rPr lang="en-US" altLang="ja-JP" sz="1800" i="1" baseline="-25000" dirty="0"/>
              <a:t>ij</a:t>
            </a:r>
            <a:r>
              <a:rPr lang="en-US" altLang="ja-JP" sz="1800" i="1" baseline="-25000" dirty="0">
                <a:solidFill>
                  <a:srgbClr val="FF0000"/>
                </a:solidFill>
              </a:rPr>
              <a:t>1</a:t>
            </a:r>
            <a:r>
              <a:rPr lang="en-US" altLang="ja-JP" sz="1800" dirty="0"/>
              <a:t>⊃</a:t>
            </a:r>
            <a:r>
              <a:rPr lang="ja-JP" altLang="en-US" sz="1800" dirty="0"/>
              <a:t>￢</a:t>
            </a:r>
            <a:r>
              <a:rPr lang="en-US" altLang="ja-JP" sz="1800" i="1" dirty="0"/>
              <a:t>x</a:t>
            </a:r>
            <a:r>
              <a:rPr lang="en-US" altLang="ja-JP" sz="1800" i="1" baseline="-25000" dirty="0"/>
              <a:t>ij</a:t>
            </a:r>
            <a:r>
              <a:rPr lang="en-US" altLang="ja-JP" sz="1800" i="1" baseline="-25000" dirty="0">
                <a:solidFill>
                  <a:srgbClr val="FF0000"/>
                </a:solidFill>
              </a:rPr>
              <a:t>2</a:t>
            </a:r>
            <a:r>
              <a:rPr lang="en-US" altLang="ja-JP" sz="1800" dirty="0"/>
              <a:t>) </a:t>
            </a:r>
            <a:r>
              <a:rPr lang="en-US" altLang="ja-JP" sz="1800" dirty="0">
                <a:solidFill>
                  <a:srgbClr val="FF0000"/>
                </a:solidFill>
              </a:rPr>
              <a:t> </a:t>
            </a:r>
            <a:r>
              <a:rPr lang="en-US" altLang="ja-JP" sz="1800" dirty="0"/>
              <a:t>(i.e.,</a:t>
            </a:r>
            <a:r>
              <a:rPr lang="ja-JP" altLang="en-US" sz="1800" dirty="0"/>
              <a:t>￢</a:t>
            </a:r>
            <a:r>
              <a:rPr lang="en-US" altLang="ja-JP" sz="1800" i="1" dirty="0"/>
              <a:t>x</a:t>
            </a:r>
            <a:r>
              <a:rPr lang="en-US" altLang="ja-JP" sz="1800" i="1" baseline="-25000" dirty="0"/>
              <a:t>ij</a:t>
            </a:r>
            <a:r>
              <a:rPr lang="en-US" altLang="ja-JP" sz="1800" i="1" baseline="-25000" dirty="0">
                <a:solidFill>
                  <a:srgbClr val="FF0000"/>
                </a:solidFill>
              </a:rPr>
              <a:t>1</a:t>
            </a:r>
            <a:r>
              <a:rPr lang="en-US" altLang="ja-JP" sz="1800" dirty="0"/>
              <a:t>∨</a:t>
            </a:r>
            <a:r>
              <a:rPr lang="ja-JP" altLang="en-US" sz="1800" dirty="0"/>
              <a:t>￢</a:t>
            </a:r>
            <a:r>
              <a:rPr lang="en-US" altLang="ja-JP" sz="1800" i="1" dirty="0"/>
              <a:t>x</a:t>
            </a:r>
            <a:r>
              <a:rPr lang="en-US" altLang="ja-JP" sz="1800" i="1" baseline="-25000" dirty="0"/>
              <a:t>ij</a:t>
            </a:r>
            <a:r>
              <a:rPr lang="en-US" altLang="ja-JP" sz="1800" i="1" baseline="-25000" dirty="0">
                <a:solidFill>
                  <a:srgbClr val="FF0000"/>
                </a:solidFill>
              </a:rPr>
              <a:t>2</a:t>
            </a:r>
            <a:r>
              <a:rPr lang="en-US" altLang="ja-JP" sz="1800" dirty="0"/>
              <a:t>), …</a:t>
            </a:r>
          </a:p>
          <a:p>
            <a:pPr eaLnBrk="1" hangingPunct="1"/>
            <a:r>
              <a:rPr lang="en-US" altLang="ja-JP" sz="1800" dirty="0"/>
              <a:t>Precisely once in each row (fix </a:t>
            </a:r>
            <a:r>
              <a:rPr lang="en-US" altLang="ja-JP" sz="1800" i="1" dirty="0" err="1"/>
              <a:t>i</a:t>
            </a:r>
            <a:r>
              <a:rPr lang="en-US" altLang="ja-JP" sz="1800" i="1" dirty="0"/>
              <a:t> </a:t>
            </a:r>
            <a:r>
              <a:rPr lang="en-US" altLang="ja-JP" sz="1800" dirty="0"/>
              <a:t>):</a:t>
            </a:r>
          </a:p>
          <a:p>
            <a:pPr eaLnBrk="1" hangingPunct="1">
              <a:buFontTx/>
              <a:buNone/>
            </a:pPr>
            <a:r>
              <a:rPr lang="en-US" altLang="ja-JP" sz="1800" dirty="0"/>
              <a:t>(</a:t>
            </a:r>
            <a:r>
              <a:rPr lang="en-US" altLang="ja-JP" sz="1800" i="1" dirty="0"/>
              <a:t>x</a:t>
            </a:r>
            <a:r>
              <a:rPr lang="en-US" altLang="ja-JP" sz="1800" i="1" baseline="-25000" dirty="0"/>
              <a:t>i</a:t>
            </a:r>
            <a:r>
              <a:rPr lang="en-US" altLang="ja-JP" sz="1800" i="1" baseline="-25000" dirty="0">
                <a:solidFill>
                  <a:srgbClr val="FF0000"/>
                </a:solidFill>
              </a:rPr>
              <a:t>1</a:t>
            </a:r>
            <a:r>
              <a:rPr lang="en-US" altLang="ja-JP" sz="1800" i="1" baseline="-25000" dirty="0"/>
              <a:t>k</a:t>
            </a:r>
            <a:r>
              <a:rPr lang="en-US" altLang="ja-JP" sz="1800" dirty="0"/>
              <a:t>∨</a:t>
            </a:r>
            <a:r>
              <a:rPr lang="en-US" altLang="ja-JP" sz="1800" i="1" dirty="0"/>
              <a:t>x</a:t>
            </a:r>
            <a:r>
              <a:rPr lang="en-US" altLang="ja-JP" sz="1800" i="1" baseline="-25000" dirty="0"/>
              <a:t>i</a:t>
            </a:r>
            <a:r>
              <a:rPr lang="en-US" altLang="ja-JP" sz="1800" i="1" baseline="-25000" dirty="0">
                <a:solidFill>
                  <a:srgbClr val="FF0000"/>
                </a:solidFill>
              </a:rPr>
              <a:t>2</a:t>
            </a:r>
            <a:r>
              <a:rPr lang="en-US" altLang="ja-JP" sz="1800" i="1" baseline="-25000" dirty="0"/>
              <a:t>k</a:t>
            </a:r>
            <a:r>
              <a:rPr lang="en-US" altLang="ja-JP" sz="1800" dirty="0"/>
              <a:t>∨…∨</a:t>
            </a:r>
            <a:r>
              <a:rPr lang="en-US" altLang="ja-JP" sz="1800" i="1" dirty="0"/>
              <a:t>x</a:t>
            </a:r>
            <a:r>
              <a:rPr lang="en-US" altLang="ja-JP" sz="1800" i="1" baseline="-25000" dirty="0"/>
              <a:t>i</a:t>
            </a:r>
            <a:r>
              <a:rPr lang="en-US" altLang="ja-JP" sz="1800" i="1" baseline="-25000" dirty="0">
                <a:solidFill>
                  <a:srgbClr val="FF0000"/>
                </a:solidFill>
              </a:rPr>
              <a:t>9</a:t>
            </a:r>
            <a:r>
              <a:rPr lang="en-US" altLang="ja-JP" sz="1800" i="1" baseline="-25000" dirty="0"/>
              <a:t>k</a:t>
            </a:r>
            <a:r>
              <a:rPr lang="en-US" altLang="ja-JP" sz="1800" dirty="0"/>
              <a:t>)∧(</a:t>
            </a:r>
            <a:r>
              <a:rPr lang="en-US" altLang="ja-JP" sz="1800" i="1" dirty="0"/>
              <a:t>x</a:t>
            </a:r>
            <a:r>
              <a:rPr lang="en-US" altLang="ja-JP" sz="1800" i="1" baseline="-25000" dirty="0"/>
              <a:t>i</a:t>
            </a:r>
            <a:r>
              <a:rPr lang="en-US" altLang="ja-JP" sz="1800" i="1" baseline="-25000" dirty="0">
                <a:solidFill>
                  <a:srgbClr val="FF0000"/>
                </a:solidFill>
              </a:rPr>
              <a:t>1</a:t>
            </a:r>
            <a:r>
              <a:rPr lang="en-US" altLang="ja-JP" sz="1800" i="1" baseline="-25000" dirty="0"/>
              <a:t>k</a:t>
            </a:r>
            <a:r>
              <a:rPr lang="en-US" altLang="ja-JP" sz="1800" dirty="0"/>
              <a:t>⊃</a:t>
            </a:r>
            <a:r>
              <a:rPr lang="ja-JP" altLang="en-US" sz="1800" dirty="0"/>
              <a:t>￢</a:t>
            </a:r>
            <a:r>
              <a:rPr lang="en-US" altLang="ja-JP" sz="1800" i="1" dirty="0"/>
              <a:t>x</a:t>
            </a:r>
            <a:r>
              <a:rPr lang="en-US" altLang="ja-JP" sz="1800" i="1" baseline="-25000" dirty="0"/>
              <a:t>i</a:t>
            </a:r>
            <a:r>
              <a:rPr lang="en-US" altLang="ja-JP" sz="1800" i="1" baseline="-25000" dirty="0">
                <a:solidFill>
                  <a:srgbClr val="FF0000"/>
                </a:solidFill>
              </a:rPr>
              <a:t>2</a:t>
            </a:r>
            <a:r>
              <a:rPr lang="en-US" altLang="ja-JP" sz="1800" i="1" baseline="-25000" dirty="0"/>
              <a:t>k</a:t>
            </a:r>
            <a:r>
              <a:rPr lang="en-US" altLang="ja-JP" sz="1800" dirty="0"/>
              <a:t>) (i.e.,</a:t>
            </a:r>
            <a:r>
              <a:rPr lang="ja-JP" altLang="en-US" sz="1800" dirty="0"/>
              <a:t>￢</a:t>
            </a:r>
            <a:r>
              <a:rPr lang="en-US" altLang="ja-JP" sz="1800" i="1" dirty="0"/>
              <a:t>x</a:t>
            </a:r>
            <a:r>
              <a:rPr lang="en-US" altLang="ja-JP" sz="1800" i="1" baseline="-25000" dirty="0"/>
              <a:t>i</a:t>
            </a:r>
            <a:r>
              <a:rPr lang="en-US" altLang="ja-JP" sz="1800" i="1" baseline="-25000" dirty="0">
                <a:solidFill>
                  <a:srgbClr val="FF0000"/>
                </a:solidFill>
              </a:rPr>
              <a:t>1</a:t>
            </a:r>
            <a:r>
              <a:rPr lang="en-US" altLang="ja-JP" sz="1800" i="1" baseline="-25000" dirty="0"/>
              <a:t>k</a:t>
            </a:r>
            <a:r>
              <a:rPr lang="en-US" altLang="ja-JP" sz="1800" dirty="0"/>
              <a:t>∨</a:t>
            </a:r>
            <a:r>
              <a:rPr lang="ja-JP" altLang="en-US" sz="1800" dirty="0"/>
              <a:t>￢</a:t>
            </a:r>
            <a:r>
              <a:rPr lang="en-US" altLang="ja-JP" sz="1800" i="1" dirty="0"/>
              <a:t>x</a:t>
            </a:r>
            <a:r>
              <a:rPr lang="en-US" altLang="ja-JP" sz="1800" i="1" baseline="-25000" dirty="0"/>
              <a:t>i</a:t>
            </a:r>
            <a:r>
              <a:rPr lang="en-US" altLang="ja-JP" sz="1800" i="1" baseline="-25000" dirty="0">
                <a:solidFill>
                  <a:srgbClr val="FF0000"/>
                </a:solidFill>
              </a:rPr>
              <a:t>2</a:t>
            </a:r>
            <a:r>
              <a:rPr lang="en-US" altLang="ja-JP" sz="1800" i="1" baseline="-25000" dirty="0"/>
              <a:t>k</a:t>
            </a:r>
            <a:r>
              <a:rPr lang="en-US" altLang="ja-JP" sz="1800" dirty="0"/>
              <a:t>), …</a:t>
            </a:r>
          </a:p>
          <a:p>
            <a:pPr eaLnBrk="1" hangingPunct="1"/>
            <a:r>
              <a:rPr lang="en-US" altLang="ja-JP" sz="1800" dirty="0"/>
              <a:t>Precisely once in each </a:t>
            </a:r>
            <a:r>
              <a:rPr lang="en-US" altLang="ja-JP" sz="1800" dirty="0" err="1"/>
              <a:t>colum</a:t>
            </a:r>
            <a:r>
              <a:rPr lang="en-US" altLang="ja-JP" sz="1800" dirty="0"/>
              <a:t> (fix j):</a:t>
            </a:r>
          </a:p>
          <a:p>
            <a:pPr eaLnBrk="1" hangingPunct="1">
              <a:buFontTx/>
              <a:buNone/>
            </a:pPr>
            <a:r>
              <a:rPr lang="en-US" altLang="ja-JP" sz="1800" dirty="0"/>
              <a:t>(</a:t>
            </a:r>
            <a:r>
              <a:rPr lang="en-US" altLang="ja-JP" sz="1800" i="1" dirty="0"/>
              <a:t>x</a:t>
            </a:r>
            <a:r>
              <a:rPr lang="en-US" altLang="ja-JP" sz="1800" i="1" baseline="-25000" dirty="0">
                <a:solidFill>
                  <a:srgbClr val="FF0000"/>
                </a:solidFill>
              </a:rPr>
              <a:t>1</a:t>
            </a:r>
            <a:r>
              <a:rPr lang="en-US" altLang="ja-JP" sz="1800" i="1" baseline="-25000" dirty="0"/>
              <a:t>jk</a:t>
            </a:r>
            <a:r>
              <a:rPr lang="en-US" altLang="ja-JP" sz="1800" dirty="0"/>
              <a:t>∨</a:t>
            </a:r>
            <a:r>
              <a:rPr lang="en-US" altLang="ja-JP" sz="1800" i="1" dirty="0"/>
              <a:t>x</a:t>
            </a:r>
            <a:r>
              <a:rPr lang="en-US" altLang="ja-JP" sz="1800" i="1" baseline="-25000" dirty="0">
                <a:solidFill>
                  <a:srgbClr val="FF0000"/>
                </a:solidFill>
              </a:rPr>
              <a:t>2</a:t>
            </a:r>
            <a:r>
              <a:rPr lang="en-US" altLang="ja-JP" sz="1800" i="1" baseline="-25000" dirty="0"/>
              <a:t>jk</a:t>
            </a:r>
            <a:r>
              <a:rPr lang="en-US" altLang="ja-JP" sz="1800" dirty="0"/>
              <a:t>∨…∨</a:t>
            </a:r>
            <a:r>
              <a:rPr lang="en-US" altLang="ja-JP" sz="1800" i="1" dirty="0"/>
              <a:t>x</a:t>
            </a:r>
            <a:r>
              <a:rPr lang="en-US" altLang="ja-JP" sz="1800" i="1" baseline="-25000" dirty="0">
                <a:solidFill>
                  <a:srgbClr val="FF0000"/>
                </a:solidFill>
              </a:rPr>
              <a:t>9</a:t>
            </a:r>
            <a:r>
              <a:rPr lang="en-US" altLang="ja-JP" sz="1800" i="1" baseline="-25000" dirty="0"/>
              <a:t>jk</a:t>
            </a:r>
            <a:r>
              <a:rPr lang="en-US" altLang="ja-JP" sz="1800" dirty="0"/>
              <a:t>)∧(</a:t>
            </a:r>
            <a:r>
              <a:rPr lang="en-US" altLang="ja-JP" sz="1800" i="1" dirty="0"/>
              <a:t>x</a:t>
            </a:r>
            <a:r>
              <a:rPr lang="en-US" altLang="ja-JP" sz="1800" i="1" baseline="-25000" dirty="0">
                <a:solidFill>
                  <a:srgbClr val="FF0000"/>
                </a:solidFill>
              </a:rPr>
              <a:t>1</a:t>
            </a:r>
            <a:r>
              <a:rPr lang="en-US" altLang="ja-JP" sz="1800" i="1" baseline="-25000" dirty="0"/>
              <a:t>jk</a:t>
            </a:r>
            <a:r>
              <a:rPr lang="en-US" altLang="ja-JP" sz="1800" dirty="0"/>
              <a:t>⊃</a:t>
            </a:r>
            <a:r>
              <a:rPr lang="ja-JP" altLang="en-US" sz="1800" dirty="0"/>
              <a:t>￢</a:t>
            </a:r>
            <a:r>
              <a:rPr lang="en-US" altLang="ja-JP" sz="1800" i="1" dirty="0"/>
              <a:t>x</a:t>
            </a:r>
            <a:r>
              <a:rPr lang="en-US" altLang="ja-JP" sz="1800" i="1" baseline="-25000" dirty="0">
                <a:solidFill>
                  <a:srgbClr val="FF0000"/>
                </a:solidFill>
              </a:rPr>
              <a:t>2</a:t>
            </a:r>
            <a:r>
              <a:rPr lang="en-US" altLang="ja-JP" sz="1800" i="1" baseline="-25000" dirty="0"/>
              <a:t>jk</a:t>
            </a:r>
            <a:r>
              <a:rPr lang="en-US" altLang="ja-JP" sz="1800" dirty="0"/>
              <a:t>)</a:t>
            </a:r>
            <a:r>
              <a:rPr lang="en-US" altLang="ja-JP" sz="1800" dirty="0">
                <a:solidFill>
                  <a:srgbClr val="FF0000"/>
                </a:solidFill>
              </a:rPr>
              <a:t> </a:t>
            </a:r>
            <a:r>
              <a:rPr lang="en-US" altLang="ja-JP" sz="1800" dirty="0"/>
              <a:t>(i.e.,</a:t>
            </a:r>
            <a:r>
              <a:rPr lang="ja-JP" altLang="en-US" sz="1800" dirty="0"/>
              <a:t>￢</a:t>
            </a:r>
            <a:r>
              <a:rPr lang="en-US" altLang="ja-JP" sz="1800" i="1" dirty="0"/>
              <a:t>x</a:t>
            </a:r>
            <a:r>
              <a:rPr lang="en-US" altLang="ja-JP" sz="1800" i="1" baseline="-25000" dirty="0">
                <a:solidFill>
                  <a:srgbClr val="FF0000"/>
                </a:solidFill>
              </a:rPr>
              <a:t>1</a:t>
            </a:r>
            <a:r>
              <a:rPr lang="en-US" altLang="ja-JP" sz="1800" i="1" baseline="-25000" dirty="0"/>
              <a:t>jk</a:t>
            </a:r>
            <a:r>
              <a:rPr lang="en-US" altLang="ja-JP" sz="1800" dirty="0"/>
              <a:t>∨</a:t>
            </a:r>
            <a:r>
              <a:rPr lang="ja-JP" altLang="en-US" sz="1800" dirty="0"/>
              <a:t>￢</a:t>
            </a:r>
            <a:r>
              <a:rPr lang="en-US" altLang="ja-JP" sz="1800" i="1" dirty="0"/>
              <a:t>x</a:t>
            </a:r>
            <a:r>
              <a:rPr lang="en-US" altLang="ja-JP" sz="1800" i="1" baseline="-25000" dirty="0">
                <a:solidFill>
                  <a:srgbClr val="FF0000"/>
                </a:solidFill>
              </a:rPr>
              <a:t>2</a:t>
            </a:r>
            <a:r>
              <a:rPr lang="en-US" altLang="ja-JP" sz="1800" i="1" baseline="-25000" dirty="0"/>
              <a:t>jk</a:t>
            </a:r>
            <a:r>
              <a:rPr lang="en-US" altLang="ja-JP" sz="1800" dirty="0"/>
              <a:t>), …</a:t>
            </a:r>
          </a:p>
          <a:p>
            <a:pPr eaLnBrk="1" hangingPunct="1"/>
            <a:r>
              <a:rPr lang="en-US" altLang="ja-JP" sz="1800" dirty="0"/>
              <a:t>Precisely once in each sub-3x3 matrix. </a:t>
            </a:r>
          </a:p>
          <a:p>
            <a:pPr eaLnBrk="1" hangingPunct="1">
              <a:buFontTx/>
              <a:buNone/>
            </a:pPr>
            <a:r>
              <a:rPr lang="en-US" altLang="ja-JP" sz="1800" dirty="0"/>
              <a:t>(</a:t>
            </a:r>
            <a:r>
              <a:rPr lang="en-US" altLang="ja-JP" sz="1800" i="1" dirty="0"/>
              <a:t>x</a:t>
            </a:r>
            <a:r>
              <a:rPr lang="en-US" altLang="ja-JP" sz="1800" i="1" baseline="-25000" dirty="0">
                <a:solidFill>
                  <a:srgbClr val="FF0000"/>
                </a:solidFill>
              </a:rPr>
              <a:t>11</a:t>
            </a:r>
            <a:r>
              <a:rPr lang="en-US" altLang="ja-JP" sz="1800" i="1" baseline="-25000" dirty="0"/>
              <a:t>k</a:t>
            </a:r>
            <a:r>
              <a:rPr lang="en-US" altLang="ja-JP" sz="1800" dirty="0"/>
              <a:t>∨</a:t>
            </a:r>
            <a:r>
              <a:rPr lang="en-US" altLang="ja-JP" sz="1800" i="1" dirty="0"/>
              <a:t>x</a:t>
            </a:r>
            <a:r>
              <a:rPr lang="en-US" altLang="ja-JP" sz="1800" i="1" baseline="-25000" dirty="0">
                <a:solidFill>
                  <a:srgbClr val="FF0000"/>
                </a:solidFill>
              </a:rPr>
              <a:t>12</a:t>
            </a:r>
            <a:r>
              <a:rPr lang="en-US" altLang="ja-JP" sz="1800" i="1" baseline="-25000" dirty="0"/>
              <a:t>k</a:t>
            </a:r>
            <a:r>
              <a:rPr lang="en-US" altLang="ja-JP" sz="1800" dirty="0"/>
              <a:t>∨…∨</a:t>
            </a:r>
            <a:r>
              <a:rPr lang="en-US" altLang="ja-JP" sz="1800" i="1" dirty="0"/>
              <a:t>x</a:t>
            </a:r>
            <a:r>
              <a:rPr lang="en-US" altLang="ja-JP" sz="1800" i="1" baseline="-25000" dirty="0">
                <a:solidFill>
                  <a:srgbClr val="FF0000"/>
                </a:solidFill>
              </a:rPr>
              <a:t>33</a:t>
            </a:r>
            <a:r>
              <a:rPr lang="en-US" altLang="ja-JP" sz="1800" i="1" baseline="-25000" dirty="0"/>
              <a:t>k</a:t>
            </a:r>
            <a:r>
              <a:rPr lang="en-US" altLang="ja-JP" sz="1800" dirty="0"/>
              <a:t>)∧(</a:t>
            </a:r>
            <a:r>
              <a:rPr lang="en-US" altLang="ja-JP" sz="1800" i="1" baseline="-25000" dirty="0"/>
              <a:t> </a:t>
            </a:r>
            <a:r>
              <a:rPr lang="en-US" altLang="ja-JP" sz="1800" i="1" dirty="0"/>
              <a:t>x</a:t>
            </a:r>
            <a:r>
              <a:rPr lang="en-US" altLang="ja-JP" sz="1800" i="1" baseline="-25000" dirty="0">
                <a:solidFill>
                  <a:srgbClr val="FF0000"/>
                </a:solidFill>
              </a:rPr>
              <a:t>11</a:t>
            </a:r>
            <a:r>
              <a:rPr lang="en-US" altLang="ja-JP" sz="1800" i="1" baseline="-25000" dirty="0"/>
              <a:t>k</a:t>
            </a:r>
            <a:r>
              <a:rPr lang="en-US" altLang="ja-JP" sz="1800" dirty="0"/>
              <a:t>⊃</a:t>
            </a:r>
            <a:r>
              <a:rPr lang="ja-JP" altLang="en-US" sz="1800" dirty="0"/>
              <a:t>￢</a:t>
            </a:r>
            <a:r>
              <a:rPr lang="en-US" altLang="ja-JP" sz="1800" i="1" dirty="0"/>
              <a:t>x</a:t>
            </a:r>
            <a:r>
              <a:rPr lang="en-US" altLang="ja-JP" sz="1800" i="1" baseline="-25000" dirty="0">
                <a:solidFill>
                  <a:srgbClr val="FF0000"/>
                </a:solidFill>
              </a:rPr>
              <a:t>12</a:t>
            </a:r>
            <a:r>
              <a:rPr lang="en-US" altLang="ja-JP" sz="1800" i="1" baseline="-25000" dirty="0"/>
              <a:t>k</a:t>
            </a:r>
            <a:r>
              <a:rPr lang="en-US" altLang="ja-JP" sz="1800" dirty="0"/>
              <a:t>)(i.e.,</a:t>
            </a:r>
            <a:r>
              <a:rPr lang="ja-JP" altLang="en-US" sz="1800" dirty="0"/>
              <a:t>￢</a:t>
            </a:r>
            <a:r>
              <a:rPr lang="en-US" altLang="ja-JP" sz="1800" i="1" dirty="0"/>
              <a:t>x</a:t>
            </a:r>
            <a:r>
              <a:rPr lang="en-US" altLang="ja-JP" sz="1800" i="1" baseline="-25000" dirty="0">
                <a:solidFill>
                  <a:srgbClr val="FF0000"/>
                </a:solidFill>
              </a:rPr>
              <a:t>11</a:t>
            </a:r>
            <a:r>
              <a:rPr lang="en-US" altLang="ja-JP" sz="1800" i="1" baseline="-25000" dirty="0"/>
              <a:t>k</a:t>
            </a:r>
            <a:r>
              <a:rPr lang="en-US" altLang="ja-JP" sz="1800" dirty="0"/>
              <a:t>∨</a:t>
            </a:r>
            <a:r>
              <a:rPr lang="ja-JP" altLang="en-US" sz="1800" dirty="0"/>
              <a:t>￢</a:t>
            </a:r>
            <a:r>
              <a:rPr lang="en-US" altLang="ja-JP" sz="1800" i="1" dirty="0"/>
              <a:t>x</a:t>
            </a:r>
            <a:r>
              <a:rPr lang="en-US" altLang="ja-JP" sz="1800" i="1" baseline="-25000" dirty="0">
                <a:solidFill>
                  <a:srgbClr val="FF0000"/>
                </a:solidFill>
              </a:rPr>
              <a:t>12</a:t>
            </a:r>
            <a:r>
              <a:rPr lang="en-US" altLang="ja-JP" sz="1800" i="1" baseline="-25000" dirty="0"/>
              <a:t>k</a:t>
            </a:r>
            <a:r>
              <a:rPr lang="en-US" altLang="ja-JP" sz="1800" dirty="0"/>
              <a:t>), …</a:t>
            </a:r>
          </a:p>
          <a:p>
            <a:pPr eaLnBrk="1" hangingPunct="1">
              <a:buFontTx/>
              <a:buNone/>
            </a:pPr>
            <a:endParaRPr lang="en-US" sz="1800" dirty="0"/>
          </a:p>
          <a:p>
            <a:pPr eaLnBrk="1" hangingPunct="1">
              <a:buFontTx/>
              <a:buNone/>
            </a:pPr>
            <a:r>
              <a:rPr lang="en-US" sz="1800" dirty="0">
                <a:solidFill>
                  <a:schemeClr val="accent2"/>
                </a:solidFill>
              </a:rPr>
              <a:t>AMO – At Most One Truth; ALO – At Least One Truth</a:t>
            </a:r>
          </a:p>
        </p:txBody>
      </p:sp>
      <p:pic>
        <p:nvPicPr>
          <p:cNvPr id="4" name="Google Shape;278;p4">
            <a:extLst>
              <a:ext uri="{FF2B5EF4-FFF2-40B4-BE49-F238E27FC236}">
                <a16:creationId xmlns:a16="http://schemas.microsoft.com/office/drawing/2014/main" id="{1D19180F-96F7-4345-A56D-F9D4ACC9153A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629400" y="4701309"/>
            <a:ext cx="2209800" cy="1928091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3" descr="00">
            <a:extLst>
              <a:ext uri="{FF2B5EF4-FFF2-40B4-BE49-F238E27FC236}">
                <a16:creationId xmlns:a16="http://schemas.microsoft.com/office/drawing/2014/main" id="{D79F2C71-FC36-4FD7-8C36-9D4D54C300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9400" y="2286000"/>
            <a:ext cx="2209800" cy="2209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076352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8BC69F-5E83-4073-986A-7931CCC72F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AMO – Binomial encoding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3E03F6-11C1-4234-BB2F-79046B462A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76400"/>
            <a:ext cx="8185150" cy="4130675"/>
          </a:xfrm>
        </p:spPr>
        <p:txBody>
          <a:bodyPr/>
          <a:lstStyle/>
          <a:p>
            <a:r>
              <a:rPr lang="en-US" dirty="0"/>
              <a:t>Variables: the same x</a:t>
            </a:r>
            <a:r>
              <a:rPr lang="en-US" baseline="-25000" dirty="0"/>
              <a:t>0</a:t>
            </a:r>
            <a:r>
              <a:rPr lang="en-US" dirty="0"/>
              <a:t>, . . . , </a:t>
            </a:r>
            <a:r>
              <a:rPr lang="en-US" dirty="0" err="1"/>
              <a:t>x</a:t>
            </a:r>
            <a:r>
              <a:rPr lang="en-US" baseline="-25000" dirty="0" err="1"/>
              <a:t>n</a:t>
            </a:r>
            <a:endParaRPr lang="en-US" baseline="-25000" dirty="0"/>
          </a:p>
          <a:p>
            <a:pPr marL="0" indent="0">
              <a:buNone/>
            </a:pPr>
            <a:r>
              <a:rPr lang="en-US" baseline="-25000" dirty="0">
                <a:sym typeface="Wingdings" panose="05000000000000000000" pitchFamily="2" charset="2"/>
              </a:rPr>
              <a:t>	</a:t>
            </a:r>
            <a:r>
              <a:rPr lang="en-US" sz="2000" dirty="0">
                <a:solidFill>
                  <a:srgbClr val="0000FF"/>
                </a:solidFill>
                <a:sym typeface="Wingdings" panose="05000000000000000000" pitchFamily="2" charset="2"/>
              </a:rPr>
              <a:t> no new variables</a:t>
            </a:r>
            <a:endParaRPr lang="en-US" sz="2000" dirty="0">
              <a:solidFill>
                <a:srgbClr val="0000FF"/>
              </a:solidFill>
            </a:endParaRPr>
          </a:p>
          <a:p>
            <a:r>
              <a:rPr lang="en-US" dirty="0"/>
              <a:t>Clauses: for 0 ≤ </a:t>
            </a:r>
            <a:r>
              <a:rPr lang="en-US" dirty="0" err="1"/>
              <a:t>i</a:t>
            </a:r>
            <a:r>
              <a:rPr lang="en-US" dirty="0"/>
              <a:t> &lt; j &lt; n, </a:t>
            </a:r>
            <a:r>
              <a:rPr lang="ja-JP" altLang="en-US" dirty="0"/>
              <a:t>￢</a:t>
            </a:r>
            <a:r>
              <a:rPr lang="en-US" dirty="0"/>
              <a:t>x</a:t>
            </a:r>
            <a:r>
              <a:rPr lang="en-US" baseline="-25000" dirty="0"/>
              <a:t>i</a:t>
            </a:r>
            <a:r>
              <a:rPr lang="en-US" dirty="0"/>
              <a:t> ∨ </a:t>
            </a:r>
            <a:r>
              <a:rPr lang="ja-JP" altLang="en-US" dirty="0"/>
              <a:t>￢</a:t>
            </a:r>
            <a:r>
              <a:rPr lang="en-US" dirty="0" err="1"/>
              <a:t>x</a:t>
            </a:r>
            <a:r>
              <a:rPr lang="en-US" baseline="-25000" dirty="0" err="1"/>
              <a:t>j</a:t>
            </a:r>
            <a:r>
              <a:rPr lang="en-US" dirty="0"/>
              <a:t> (x</a:t>
            </a:r>
            <a:r>
              <a:rPr lang="en-US" baseline="-25000" dirty="0"/>
              <a:t>i</a:t>
            </a:r>
            <a:r>
              <a:rPr lang="en-US" dirty="0"/>
              <a:t> </a:t>
            </a:r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ja-JP" altLang="en-US" dirty="0"/>
              <a:t>￢</a:t>
            </a:r>
            <a:r>
              <a:rPr lang="en-US" altLang="ja-JP" dirty="0" err="1"/>
              <a:t>x</a:t>
            </a:r>
            <a:r>
              <a:rPr lang="en-US" altLang="ja-JP" baseline="-25000" dirty="0" err="1"/>
              <a:t>j</a:t>
            </a:r>
            <a:r>
              <a:rPr lang="en-US" altLang="ja-JP" dirty="0"/>
              <a:t>)</a:t>
            </a:r>
            <a:endParaRPr lang="en-US" dirty="0"/>
          </a:p>
          <a:p>
            <a:r>
              <a:rPr lang="en-US" dirty="0"/>
              <a:t>Requires: </a:t>
            </a:r>
            <a:r>
              <a:rPr lang="en-US" dirty="0">
                <a:solidFill>
                  <a:schemeClr val="accent1"/>
                </a:solidFill>
              </a:rPr>
              <a:t>O(n</a:t>
            </a:r>
            <a:r>
              <a:rPr lang="en-US" baseline="30000" dirty="0">
                <a:solidFill>
                  <a:schemeClr val="accent1"/>
                </a:solidFill>
              </a:rPr>
              <a:t>2</a:t>
            </a:r>
            <a:r>
              <a:rPr lang="en-US" dirty="0">
                <a:solidFill>
                  <a:schemeClr val="accent1"/>
                </a:solidFill>
              </a:rPr>
              <a:t>)</a:t>
            </a:r>
            <a:r>
              <a:rPr lang="en-US" dirty="0"/>
              <a:t> clauses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ALO: </a:t>
            </a:r>
            <a:r>
              <a:rPr lang="en-US" altLang="ja-JP" sz="2800" i="1" dirty="0"/>
              <a:t>x</a:t>
            </a:r>
            <a:r>
              <a:rPr lang="en-US" altLang="ja-JP" i="1" baseline="-25000" dirty="0"/>
              <a:t>0 </a:t>
            </a:r>
            <a:r>
              <a:rPr lang="en-US" altLang="ja-JP" sz="2800" dirty="0"/>
              <a:t>∨ </a:t>
            </a:r>
            <a:r>
              <a:rPr lang="en-US" altLang="ja-JP" sz="2800" i="1" dirty="0"/>
              <a:t>x</a:t>
            </a:r>
            <a:r>
              <a:rPr lang="en-US" altLang="ja-JP" sz="2800" i="1" baseline="-25000" dirty="0"/>
              <a:t>1 </a:t>
            </a:r>
            <a:r>
              <a:rPr lang="en-US" altLang="ja-JP" sz="2800" dirty="0"/>
              <a:t>∨…∨ </a:t>
            </a:r>
            <a:r>
              <a:rPr lang="en-US" altLang="ja-JP" sz="2800" i="1" dirty="0" err="1"/>
              <a:t>x</a:t>
            </a:r>
            <a:r>
              <a:rPr lang="en-US" altLang="ja-JP" sz="2800" i="1" baseline="-25000" dirty="0" err="1"/>
              <a:t>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9528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A96100-C153-41DA-AFCC-58EB60CD11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encoding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BA5020-A852-43FC-8FCB-E5309E2006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76400"/>
            <a:ext cx="8337550" cy="4130675"/>
          </a:xfrm>
        </p:spPr>
        <p:txBody>
          <a:bodyPr/>
          <a:lstStyle/>
          <a:p>
            <a:r>
              <a:rPr lang="en-US" dirty="0"/>
              <a:t>Idea:</a:t>
            </a:r>
          </a:p>
          <a:p>
            <a:pPr lvl="1"/>
            <a:r>
              <a:rPr lang="en-US" dirty="0"/>
              <a:t>Variables: X</a:t>
            </a:r>
            <a:r>
              <a:rPr lang="en-US" baseline="-25000" dirty="0"/>
              <a:t>i</a:t>
            </a:r>
            <a:r>
              <a:rPr lang="en-US" dirty="0"/>
              <a:t> and new k variables Y</a:t>
            </a:r>
            <a:r>
              <a:rPr lang="en-US" baseline="-25000" dirty="0"/>
              <a:t>1</a:t>
            </a:r>
            <a:r>
              <a:rPr lang="en-US" dirty="0"/>
              <a:t>, Y</a:t>
            </a:r>
            <a:r>
              <a:rPr lang="en-US" baseline="-25000" dirty="0"/>
              <a:t>2</a:t>
            </a:r>
            <a:r>
              <a:rPr lang="en-US" dirty="0"/>
              <a:t>, …, </a:t>
            </a:r>
            <a:r>
              <a:rPr lang="en-US" dirty="0" err="1"/>
              <a:t>Y</a:t>
            </a:r>
            <a:r>
              <a:rPr lang="en-US" baseline="-25000" dirty="0" err="1"/>
              <a:t>k</a:t>
            </a:r>
            <a:r>
              <a:rPr lang="en-US" baseline="-25000" dirty="0"/>
              <a:t>  </a:t>
            </a:r>
            <a:r>
              <a:rPr lang="en-US" dirty="0"/>
              <a:t>(k = [log</a:t>
            </a:r>
            <a:r>
              <a:rPr lang="en-US" baseline="-25000" dirty="0"/>
              <a:t>2</a:t>
            </a:r>
            <a:r>
              <a:rPr lang="en-US" baseline="30000" dirty="0"/>
              <a:t>n</a:t>
            </a:r>
            <a:r>
              <a:rPr lang="en-US" dirty="0"/>
              <a:t>])</a:t>
            </a:r>
          </a:p>
          <a:p>
            <a:pPr lvl="1"/>
            <a:r>
              <a:rPr lang="en-US" dirty="0"/>
              <a:t>X</a:t>
            </a:r>
            <a:r>
              <a:rPr lang="en-US" baseline="-25000" dirty="0"/>
              <a:t>i</a:t>
            </a:r>
            <a:r>
              <a:rPr lang="en-US" dirty="0"/>
              <a:t> corresponding a binary string</a:t>
            </a:r>
          </a:p>
          <a:p>
            <a:pPr lvl="1"/>
            <a:r>
              <a:rPr lang="en-US" dirty="0"/>
              <a:t>Clauses: X</a:t>
            </a:r>
            <a:r>
              <a:rPr lang="en-US" baseline="-25000" dirty="0"/>
              <a:t>i</a:t>
            </a:r>
            <a:r>
              <a:rPr lang="en-US" dirty="0"/>
              <a:t>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↔</a:t>
            </a:r>
            <a:r>
              <a:rPr lang="en-US" dirty="0"/>
              <a:t> φ(i,1)</a:t>
            </a:r>
            <a:r>
              <a:rPr kumimoji="1" lang="en-US" altLang="ja-JP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50" charset="-128"/>
              </a:rPr>
              <a:t> ∧</a:t>
            </a:r>
            <a:r>
              <a:rPr lang="en-US" dirty="0"/>
              <a:t> φ(i,2) </a:t>
            </a:r>
            <a:r>
              <a:rPr kumimoji="1" lang="en-US" altLang="ja-JP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50" charset="-128"/>
              </a:rPr>
              <a:t>∧ … ∧ </a:t>
            </a:r>
            <a:r>
              <a:rPr lang="en-US" dirty="0"/>
              <a:t>φ(</a:t>
            </a:r>
            <a:r>
              <a:rPr lang="en-US" dirty="0" err="1"/>
              <a:t>i,k</a:t>
            </a:r>
            <a:r>
              <a:rPr lang="en-US" dirty="0"/>
              <a:t>) where </a:t>
            </a:r>
          </a:p>
          <a:p>
            <a:pPr lvl="2"/>
            <a:r>
              <a:rPr lang="en-US" dirty="0"/>
              <a:t>φ(</a:t>
            </a:r>
            <a:r>
              <a:rPr lang="en-US" dirty="0" err="1"/>
              <a:t>i,j</a:t>
            </a:r>
            <a:r>
              <a:rPr lang="en-US" dirty="0"/>
              <a:t>) denotes for </a:t>
            </a:r>
            <a:r>
              <a:rPr lang="en-US" dirty="0" err="1"/>
              <a:t>Y</a:t>
            </a:r>
            <a:r>
              <a:rPr lang="en-US" baseline="-25000" dirty="0" err="1"/>
              <a:t>j</a:t>
            </a:r>
            <a:r>
              <a:rPr lang="en-US" dirty="0"/>
              <a:t> if </a:t>
            </a:r>
            <a:r>
              <a:rPr lang="en-US" i="1" dirty="0">
                <a:solidFill>
                  <a:srgbClr val="0000FF"/>
                </a:solidFill>
              </a:rPr>
              <a:t>j-</a:t>
            </a:r>
            <a:r>
              <a:rPr lang="en-US" i="1" dirty="0" err="1">
                <a:solidFill>
                  <a:srgbClr val="0000FF"/>
                </a:solidFill>
              </a:rPr>
              <a:t>th</a:t>
            </a:r>
            <a:r>
              <a:rPr lang="en-US" dirty="0"/>
              <a:t> digit in binary string is 1</a:t>
            </a:r>
          </a:p>
          <a:p>
            <a:pPr lvl="2"/>
            <a:r>
              <a:rPr lang="en-US" dirty="0"/>
              <a:t>φ(</a:t>
            </a:r>
            <a:r>
              <a:rPr lang="en-US" dirty="0" err="1"/>
              <a:t>i,j</a:t>
            </a:r>
            <a:r>
              <a:rPr lang="en-US" dirty="0"/>
              <a:t>) denotes for </a:t>
            </a:r>
            <a:r>
              <a:rPr lang="ja-JP" altLang="en-US" dirty="0"/>
              <a:t>￢</a:t>
            </a:r>
            <a:r>
              <a:rPr lang="en-US" dirty="0" err="1"/>
              <a:t>Y</a:t>
            </a:r>
            <a:r>
              <a:rPr lang="en-US" baseline="-25000" dirty="0" err="1"/>
              <a:t>j</a:t>
            </a:r>
            <a:r>
              <a:rPr lang="en-US" dirty="0"/>
              <a:t> otherwise</a:t>
            </a:r>
          </a:p>
          <a:p>
            <a:pPr lvl="1"/>
            <a:r>
              <a:rPr lang="en-US" dirty="0"/>
              <a:t>Requires: </a:t>
            </a:r>
            <a:r>
              <a:rPr lang="pt-BR" dirty="0">
                <a:solidFill>
                  <a:srgbClr val="0000FF"/>
                </a:solidFill>
              </a:rPr>
              <a:t>O(log</a:t>
            </a:r>
            <a:r>
              <a:rPr lang="pt-BR" baseline="-25000" dirty="0">
                <a:solidFill>
                  <a:srgbClr val="0000FF"/>
                </a:solidFill>
              </a:rPr>
              <a:t>2</a:t>
            </a:r>
            <a:r>
              <a:rPr lang="pt-BR" baseline="30000" dirty="0">
                <a:solidFill>
                  <a:srgbClr val="0000FF"/>
                </a:solidFill>
              </a:rPr>
              <a:t>n</a:t>
            </a:r>
            <a:r>
              <a:rPr lang="pt-BR" dirty="0">
                <a:solidFill>
                  <a:srgbClr val="0000FF"/>
                </a:solidFill>
              </a:rPr>
              <a:t>)</a:t>
            </a:r>
            <a:r>
              <a:rPr lang="pt-BR" dirty="0"/>
              <a:t> new variables, </a:t>
            </a:r>
            <a:r>
              <a:rPr lang="pt-BR" dirty="0">
                <a:solidFill>
                  <a:srgbClr val="0000FF"/>
                </a:solidFill>
              </a:rPr>
              <a:t>O(n*log</a:t>
            </a:r>
            <a:r>
              <a:rPr lang="pt-BR" baseline="-25000" dirty="0">
                <a:solidFill>
                  <a:srgbClr val="0000FF"/>
                </a:solidFill>
              </a:rPr>
              <a:t>2</a:t>
            </a:r>
            <a:r>
              <a:rPr lang="pt-BR" baseline="30000" dirty="0">
                <a:solidFill>
                  <a:srgbClr val="0000FF"/>
                </a:solidFill>
              </a:rPr>
              <a:t>n</a:t>
            </a:r>
            <a:r>
              <a:rPr lang="pt-BR" dirty="0">
                <a:solidFill>
                  <a:srgbClr val="0000FF"/>
                </a:solidFill>
              </a:rPr>
              <a:t>)</a:t>
            </a:r>
            <a:r>
              <a:rPr lang="pt-BR" dirty="0"/>
              <a:t> clauses</a:t>
            </a:r>
            <a:endParaRPr lang="en-US" dirty="0"/>
          </a:p>
          <a:p>
            <a:pPr lvl="2"/>
            <a:endParaRPr lang="en-US" dirty="0"/>
          </a:p>
          <a:p>
            <a:pPr lvl="3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40362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A96100-C153-41DA-AFCC-58EB60CD11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encoding (1)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BA5020-A852-43FC-8FCB-E5309E2006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76400"/>
            <a:ext cx="8610600" cy="4130675"/>
          </a:xfrm>
        </p:spPr>
        <p:txBody>
          <a:bodyPr/>
          <a:lstStyle/>
          <a:p>
            <a:r>
              <a:rPr lang="en-US" dirty="0"/>
              <a:t>For n = 4 (X</a:t>
            </a:r>
            <a:r>
              <a:rPr lang="en-US" baseline="-25000" dirty="0"/>
              <a:t>1</a:t>
            </a:r>
            <a:r>
              <a:rPr lang="en-US" dirty="0"/>
              <a:t>, X</a:t>
            </a:r>
            <a:r>
              <a:rPr lang="en-US" baseline="-25000" dirty="0"/>
              <a:t>2</a:t>
            </a:r>
            <a:r>
              <a:rPr lang="en-US" dirty="0"/>
              <a:t>, X</a:t>
            </a:r>
            <a:r>
              <a:rPr lang="en-US" baseline="-25000" dirty="0"/>
              <a:t>3</a:t>
            </a:r>
            <a:r>
              <a:rPr lang="en-US" dirty="0"/>
              <a:t>, X</a:t>
            </a:r>
            <a:r>
              <a:rPr lang="en-US" baseline="-25000" dirty="0"/>
              <a:t>4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sz="2000" dirty="0"/>
              <a:t>X</a:t>
            </a:r>
            <a:r>
              <a:rPr lang="en-US" sz="2000" baseline="-25000" dirty="0"/>
              <a:t>1</a:t>
            </a:r>
            <a:r>
              <a:rPr lang="en-US" sz="2000" dirty="0"/>
              <a:t> corresponding “00” 		X</a:t>
            </a:r>
            <a:r>
              <a:rPr lang="en-US" sz="2000" baseline="-25000" dirty="0"/>
              <a:t>1</a:t>
            </a:r>
            <a:r>
              <a:rPr lang="en-US" sz="2000" dirty="0"/>
              <a:t>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↔ </a:t>
            </a:r>
            <a:r>
              <a:rPr lang="ja-JP" altLang="en-US" sz="2000" dirty="0"/>
              <a:t>￢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r>
              <a:rPr lang="en-US" sz="2000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ja-JP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50" charset="-128"/>
              </a:rPr>
              <a:t>∧ </a:t>
            </a:r>
            <a:r>
              <a:rPr lang="ja-JP" altLang="en-US" sz="2000" dirty="0"/>
              <a:t>￢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r>
              <a:rPr lang="en-US" sz="200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  <a:p>
            <a:pPr marL="0" indent="0">
              <a:buNone/>
            </a:pPr>
            <a:r>
              <a:rPr lang="en-US" sz="2000" dirty="0"/>
              <a:t>X</a:t>
            </a:r>
            <a:r>
              <a:rPr lang="en-US" sz="2000" baseline="-25000" dirty="0"/>
              <a:t>2</a:t>
            </a:r>
            <a:r>
              <a:rPr lang="en-US" sz="2000" dirty="0"/>
              <a:t> corresponding “01” 		X</a:t>
            </a:r>
            <a:r>
              <a:rPr lang="en-US" sz="2000" baseline="-25000" dirty="0"/>
              <a:t>2</a:t>
            </a:r>
            <a:r>
              <a:rPr lang="en-US" sz="2000" dirty="0"/>
              <a:t>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↔ Y</a:t>
            </a:r>
            <a:r>
              <a:rPr lang="en-US" sz="2000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ja-JP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50" charset="-128"/>
              </a:rPr>
              <a:t>∧ </a:t>
            </a:r>
            <a:r>
              <a:rPr lang="ja-JP" altLang="en-US" sz="2000" dirty="0"/>
              <a:t>￢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r>
              <a:rPr lang="en-US" sz="200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  <a:p>
            <a:pPr marL="0" indent="0">
              <a:buNone/>
            </a:pPr>
            <a:r>
              <a:rPr lang="en-US" sz="2000" dirty="0"/>
              <a:t>X</a:t>
            </a:r>
            <a:r>
              <a:rPr lang="en-US" sz="2000" baseline="-25000" dirty="0"/>
              <a:t>3</a:t>
            </a:r>
            <a:r>
              <a:rPr lang="en-US" sz="2000" dirty="0"/>
              <a:t> corresponding “10” 		X</a:t>
            </a:r>
            <a:r>
              <a:rPr lang="en-US" sz="2000" baseline="-25000" dirty="0"/>
              <a:t>3</a:t>
            </a:r>
            <a:r>
              <a:rPr lang="en-US" sz="2000" dirty="0"/>
              <a:t>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↔ </a:t>
            </a:r>
            <a:r>
              <a:rPr lang="ja-JP" altLang="en-US" sz="2000" dirty="0"/>
              <a:t>￢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r>
              <a:rPr lang="en-US" sz="2000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ja-JP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50" charset="-128"/>
              </a:rPr>
              <a:t>∧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r>
              <a:rPr lang="en-US" sz="200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  <a:p>
            <a:pPr marL="0" indent="0">
              <a:buNone/>
            </a:pPr>
            <a:r>
              <a:rPr lang="en-US" sz="2000" dirty="0"/>
              <a:t>X</a:t>
            </a:r>
            <a:r>
              <a:rPr lang="en-US" sz="2000" baseline="-25000" dirty="0"/>
              <a:t>4</a:t>
            </a:r>
            <a:r>
              <a:rPr lang="en-US" sz="2000" dirty="0"/>
              <a:t> corresponding “11” 		X</a:t>
            </a:r>
            <a:r>
              <a:rPr lang="en-US" sz="2000" baseline="-25000" dirty="0"/>
              <a:t>4</a:t>
            </a:r>
            <a:r>
              <a:rPr lang="en-US" sz="2000" dirty="0"/>
              <a:t>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↔ Y</a:t>
            </a:r>
            <a:r>
              <a:rPr lang="en-US" sz="2000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ja-JP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50" charset="-128"/>
              </a:rPr>
              <a:t>∧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r>
              <a:rPr lang="en-US" sz="200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  <a:p>
            <a:r>
              <a:rPr lang="en-US" sz="2000" dirty="0">
                <a:latin typeface="+mj-lt"/>
                <a:cs typeface="Arial" panose="020B0604020202020204" pitchFamily="34" charset="0"/>
              </a:rPr>
              <a:t>AMO Encoding: </a:t>
            </a:r>
          </a:p>
          <a:p>
            <a:pPr marL="581025" lvl="1" indent="0">
              <a:buNone/>
            </a:pPr>
            <a:r>
              <a:rPr lang="en-US" sz="1800" b="1" dirty="0">
                <a:latin typeface="+mj-lt"/>
                <a:cs typeface="Arial" panose="020B0604020202020204" pitchFamily="34" charset="0"/>
              </a:rPr>
              <a:t>(X</a:t>
            </a:r>
            <a:r>
              <a:rPr lang="en-US" sz="1800" b="1" baseline="-25000" dirty="0">
                <a:latin typeface="+mj-lt"/>
                <a:cs typeface="Arial" panose="020B0604020202020204" pitchFamily="34" charset="0"/>
              </a:rPr>
              <a:t>1</a:t>
            </a:r>
            <a:r>
              <a:rPr lang="en-US" sz="1800" b="1" dirty="0">
                <a:latin typeface="+mj-lt"/>
                <a:cs typeface="Arial" panose="020B0604020202020204" pitchFamily="34" charset="0"/>
              </a:rPr>
              <a:t> </a:t>
            </a:r>
            <a:r>
              <a:rPr lang="en-US" sz="1800" b="1" dirty="0">
                <a:latin typeface="+mj-lt"/>
                <a:cs typeface="Arial" panose="020B0604020202020204" pitchFamily="34" charset="0"/>
                <a:sym typeface="Wingdings" panose="05000000000000000000" pitchFamily="2" charset="2"/>
              </a:rPr>
              <a:t></a:t>
            </a:r>
            <a:r>
              <a:rPr lang="en-US" sz="1800" b="1" baseline="-25000" dirty="0">
                <a:latin typeface="+mj-lt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ja-JP" altLang="en-US" sz="1800" b="1" dirty="0">
                <a:latin typeface="+mj-lt"/>
              </a:rPr>
              <a:t>￢</a:t>
            </a:r>
            <a:r>
              <a:rPr lang="en-US" sz="1800" b="1" dirty="0">
                <a:latin typeface="+mj-lt"/>
                <a:cs typeface="Arial" panose="020B0604020202020204" pitchFamily="34" charset="0"/>
              </a:rPr>
              <a:t>Y</a:t>
            </a:r>
            <a:r>
              <a:rPr lang="en-US" sz="1800" b="1" baseline="-25000" dirty="0">
                <a:latin typeface="+mj-lt"/>
                <a:cs typeface="Arial" panose="020B0604020202020204" pitchFamily="34" charset="0"/>
              </a:rPr>
              <a:t>1</a:t>
            </a:r>
            <a:r>
              <a:rPr lang="en-US" sz="1800" b="1" dirty="0">
                <a:latin typeface="+mj-lt"/>
                <a:cs typeface="Arial" panose="020B0604020202020204" pitchFamily="34" charset="0"/>
              </a:rPr>
              <a:t> </a:t>
            </a:r>
            <a:r>
              <a:rPr kumimoji="1" lang="en-US" altLang="ja-JP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ＭＳ Ｐゴシック" pitchFamily="50" charset="-128"/>
              </a:rPr>
              <a:t>∧ </a:t>
            </a:r>
            <a:r>
              <a:rPr lang="ja-JP" altLang="en-US" sz="1800" b="1" dirty="0">
                <a:latin typeface="+mj-lt"/>
              </a:rPr>
              <a:t>￢</a:t>
            </a:r>
            <a:r>
              <a:rPr lang="en-US" sz="1800" b="1" dirty="0">
                <a:latin typeface="+mj-lt"/>
                <a:cs typeface="Arial" panose="020B0604020202020204" pitchFamily="34" charset="0"/>
              </a:rPr>
              <a:t>Y</a:t>
            </a:r>
            <a:r>
              <a:rPr lang="en-US" sz="1800" b="1" baseline="-25000" dirty="0">
                <a:latin typeface="+mj-lt"/>
                <a:cs typeface="Arial" panose="020B0604020202020204" pitchFamily="34" charset="0"/>
              </a:rPr>
              <a:t>2</a:t>
            </a:r>
            <a:r>
              <a:rPr lang="en-US" sz="1800" b="1" dirty="0">
                <a:latin typeface="+mj-lt"/>
                <a:cs typeface="Arial" panose="020B0604020202020204" pitchFamily="34" charset="0"/>
              </a:rPr>
              <a:t>) </a:t>
            </a:r>
            <a:r>
              <a:rPr kumimoji="1" lang="en-US" altLang="ja-JP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ＭＳ Ｐゴシック" pitchFamily="50" charset="-128"/>
              </a:rPr>
              <a:t>∧ </a:t>
            </a:r>
            <a:r>
              <a:rPr lang="en-US" sz="1800" b="1" dirty="0">
                <a:latin typeface="+mj-lt"/>
                <a:cs typeface="Arial" panose="020B0604020202020204" pitchFamily="34" charset="0"/>
              </a:rPr>
              <a:t>(X</a:t>
            </a:r>
            <a:r>
              <a:rPr lang="en-US" sz="1800" b="1" baseline="-25000" dirty="0">
                <a:latin typeface="+mj-lt"/>
                <a:cs typeface="Arial" panose="020B0604020202020204" pitchFamily="34" charset="0"/>
              </a:rPr>
              <a:t>2</a:t>
            </a:r>
            <a:r>
              <a:rPr lang="en-US" sz="1800" b="1" dirty="0">
                <a:latin typeface="+mj-lt"/>
                <a:cs typeface="Arial" panose="020B0604020202020204" pitchFamily="34" charset="0"/>
              </a:rPr>
              <a:t> </a:t>
            </a:r>
            <a:r>
              <a:rPr lang="en-US" sz="1800" b="1" dirty="0">
                <a:latin typeface="+mj-lt"/>
                <a:cs typeface="Arial" panose="020B0604020202020204" pitchFamily="34" charset="0"/>
                <a:sym typeface="Wingdings" panose="05000000000000000000" pitchFamily="2" charset="2"/>
              </a:rPr>
              <a:t></a:t>
            </a:r>
            <a:r>
              <a:rPr lang="en-US" sz="1800" b="1" baseline="-25000" dirty="0">
                <a:latin typeface="+mj-lt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800" b="1" dirty="0">
                <a:latin typeface="+mj-lt"/>
                <a:cs typeface="Arial" panose="020B0604020202020204" pitchFamily="34" charset="0"/>
              </a:rPr>
              <a:t>Y</a:t>
            </a:r>
            <a:r>
              <a:rPr lang="en-US" sz="1800" b="1" baseline="-25000" dirty="0">
                <a:latin typeface="+mj-lt"/>
                <a:cs typeface="Arial" panose="020B0604020202020204" pitchFamily="34" charset="0"/>
              </a:rPr>
              <a:t>1</a:t>
            </a:r>
            <a:r>
              <a:rPr lang="en-US" sz="1800" b="1" dirty="0">
                <a:latin typeface="+mj-lt"/>
                <a:cs typeface="Arial" panose="020B0604020202020204" pitchFamily="34" charset="0"/>
              </a:rPr>
              <a:t> </a:t>
            </a:r>
            <a:r>
              <a:rPr kumimoji="1" lang="en-US" altLang="ja-JP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ＭＳ Ｐゴシック" pitchFamily="50" charset="-128"/>
              </a:rPr>
              <a:t>∧ </a:t>
            </a:r>
            <a:r>
              <a:rPr lang="ja-JP" altLang="en-US" sz="1800" b="1" dirty="0">
                <a:latin typeface="+mj-lt"/>
              </a:rPr>
              <a:t>￢</a:t>
            </a:r>
            <a:r>
              <a:rPr lang="en-US" sz="1800" b="1" dirty="0">
                <a:latin typeface="+mj-lt"/>
                <a:cs typeface="Arial" panose="020B0604020202020204" pitchFamily="34" charset="0"/>
              </a:rPr>
              <a:t>Y</a:t>
            </a:r>
            <a:r>
              <a:rPr lang="en-US" sz="1800" b="1" baseline="-25000" dirty="0">
                <a:latin typeface="+mj-lt"/>
                <a:cs typeface="Arial" panose="020B0604020202020204" pitchFamily="34" charset="0"/>
              </a:rPr>
              <a:t>2</a:t>
            </a:r>
            <a:r>
              <a:rPr lang="en-US" sz="1800" b="1" dirty="0">
                <a:latin typeface="+mj-lt"/>
                <a:cs typeface="Arial" panose="020B0604020202020204" pitchFamily="34" charset="0"/>
              </a:rPr>
              <a:t>) </a:t>
            </a:r>
            <a:r>
              <a:rPr kumimoji="1" lang="en-US" altLang="ja-JP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ＭＳ Ｐゴシック" pitchFamily="50" charset="-128"/>
              </a:rPr>
              <a:t>∧ </a:t>
            </a:r>
            <a:r>
              <a:rPr lang="en-US" sz="1800" b="1" dirty="0">
                <a:latin typeface="+mj-lt"/>
                <a:cs typeface="Arial" panose="020B0604020202020204" pitchFamily="34" charset="0"/>
              </a:rPr>
              <a:t>(X</a:t>
            </a:r>
            <a:r>
              <a:rPr lang="en-US" sz="1800" b="1" baseline="-25000" dirty="0">
                <a:latin typeface="+mj-lt"/>
                <a:cs typeface="Arial" panose="020B0604020202020204" pitchFamily="34" charset="0"/>
              </a:rPr>
              <a:t>3</a:t>
            </a:r>
            <a:r>
              <a:rPr lang="en-US" sz="1800" b="1" dirty="0">
                <a:latin typeface="+mj-lt"/>
                <a:cs typeface="Arial" panose="020B0604020202020204" pitchFamily="34" charset="0"/>
              </a:rPr>
              <a:t> </a:t>
            </a:r>
            <a:r>
              <a:rPr lang="en-US" sz="1800" b="1" dirty="0">
                <a:latin typeface="+mj-lt"/>
                <a:cs typeface="Arial" panose="020B0604020202020204" pitchFamily="34" charset="0"/>
                <a:sym typeface="Wingdings" panose="05000000000000000000" pitchFamily="2" charset="2"/>
              </a:rPr>
              <a:t></a:t>
            </a:r>
            <a:r>
              <a:rPr lang="en-US" sz="1800" b="1" baseline="-25000" dirty="0">
                <a:latin typeface="+mj-lt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ja-JP" altLang="en-US" sz="1800" b="1" dirty="0">
                <a:latin typeface="+mj-lt"/>
              </a:rPr>
              <a:t>￢</a:t>
            </a:r>
            <a:r>
              <a:rPr lang="en-US" sz="1800" b="1" dirty="0">
                <a:latin typeface="+mj-lt"/>
                <a:cs typeface="Arial" panose="020B0604020202020204" pitchFamily="34" charset="0"/>
              </a:rPr>
              <a:t>Y</a:t>
            </a:r>
            <a:r>
              <a:rPr lang="en-US" sz="1800" b="1" baseline="-25000" dirty="0">
                <a:latin typeface="+mj-lt"/>
                <a:cs typeface="Arial" panose="020B0604020202020204" pitchFamily="34" charset="0"/>
              </a:rPr>
              <a:t>1</a:t>
            </a:r>
            <a:r>
              <a:rPr lang="en-US" sz="1800" b="1" dirty="0">
                <a:latin typeface="+mj-lt"/>
                <a:cs typeface="Arial" panose="020B0604020202020204" pitchFamily="34" charset="0"/>
              </a:rPr>
              <a:t> </a:t>
            </a:r>
            <a:r>
              <a:rPr kumimoji="1" lang="en-US" altLang="ja-JP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ＭＳ Ｐゴシック" pitchFamily="50" charset="-128"/>
              </a:rPr>
              <a:t>∧ </a:t>
            </a:r>
            <a:r>
              <a:rPr lang="en-US" sz="1800" b="1" dirty="0">
                <a:latin typeface="+mj-lt"/>
                <a:cs typeface="Arial" panose="020B0604020202020204" pitchFamily="34" charset="0"/>
              </a:rPr>
              <a:t>Y</a:t>
            </a:r>
            <a:r>
              <a:rPr lang="en-US" sz="1800" b="1" baseline="-25000" dirty="0">
                <a:latin typeface="+mj-lt"/>
                <a:cs typeface="Arial" panose="020B0604020202020204" pitchFamily="34" charset="0"/>
              </a:rPr>
              <a:t>2</a:t>
            </a:r>
            <a:r>
              <a:rPr lang="en-US" sz="1800" b="1" dirty="0">
                <a:latin typeface="+mj-lt"/>
                <a:cs typeface="Arial" panose="020B0604020202020204" pitchFamily="34" charset="0"/>
              </a:rPr>
              <a:t>) </a:t>
            </a:r>
            <a:r>
              <a:rPr kumimoji="1" lang="en-US" altLang="ja-JP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ＭＳ Ｐゴシック" pitchFamily="50" charset="-128"/>
              </a:rPr>
              <a:t>∧ </a:t>
            </a:r>
            <a:r>
              <a:rPr lang="en-US" sz="1800" b="1" dirty="0">
                <a:latin typeface="+mj-lt"/>
                <a:cs typeface="Arial" panose="020B0604020202020204" pitchFamily="34" charset="0"/>
              </a:rPr>
              <a:t>(X</a:t>
            </a:r>
            <a:r>
              <a:rPr lang="en-US" sz="1800" b="1" baseline="-25000" dirty="0">
                <a:latin typeface="+mj-lt"/>
                <a:cs typeface="Arial" panose="020B0604020202020204" pitchFamily="34" charset="0"/>
              </a:rPr>
              <a:t>4</a:t>
            </a:r>
            <a:r>
              <a:rPr lang="en-US" sz="1800" b="1" dirty="0">
                <a:latin typeface="+mj-lt"/>
                <a:cs typeface="Arial" panose="020B0604020202020204" pitchFamily="34" charset="0"/>
              </a:rPr>
              <a:t> </a:t>
            </a:r>
            <a:r>
              <a:rPr lang="en-US" sz="1800" b="1" dirty="0">
                <a:latin typeface="+mj-lt"/>
                <a:cs typeface="Arial" panose="020B0604020202020204" pitchFamily="34" charset="0"/>
                <a:sym typeface="Wingdings" panose="05000000000000000000" pitchFamily="2" charset="2"/>
              </a:rPr>
              <a:t></a:t>
            </a:r>
            <a:r>
              <a:rPr lang="en-US" sz="1800" b="1" baseline="-25000" dirty="0">
                <a:latin typeface="+mj-lt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800" b="1" dirty="0">
                <a:latin typeface="+mj-lt"/>
                <a:cs typeface="Arial" panose="020B0604020202020204" pitchFamily="34" charset="0"/>
              </a:rPr>
              <a:t>Y</a:t>
            </a:r>
            <a:r>
              <a:rPr lang="en-US" sz="1800" b="1" baseline="-25000" dirty="0">
                <a:latin typeface="+mj-lt"/>
                <a:cs typeface="Arial" panose="020B0604020202020204" pitchFamily="34" charset="0"/>
              </a:rPr>
              <a:t>1</a:t>
            </a:r>
            <a:r>
              <a:rPr lang="en-US" sz="1800" b="1" dirty="0">
                <a:latin typeface="+mj-lt"/>
                <a:cs typeface="Arial" panose="020B0604020202020204" pitchFamily="34" charset="0"/>
              </a:rPr>
              <a:t> </a:t>
            </a:r>
            <a:r>
              <a:rPr kumimoji="1" lang="en-US" altLang="ja-JP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ＭＳ Ｐゴシック" pitchFamily="50" charset="-128"/>
              </a:rPr>
              <a:t>∧ </a:t>
            </a:r>
            <a:r>
              <a:rPr lang="en-US" sz="1800" b="1" dirty="0">
                <a:latin typeface="+mj-lt"/>
                <a:cs typeface="Arial" panose="020B0604020202020204" pitchFamily="34" charset="0"/>
              </a:rPr>
              <a:t>Y</a:t>
            </a:r>
            <a:r>
              <a:rPr lang="en-US" sz="1800" b="1" baseline="-25000" dirty="0">
                <a:latin typeface="+mj-lt"/>
                <a:cs typeface="Arial" panose="020B0604020202020204" pitchFamily="34" charset="0"/>
              </a:rPr>
              <a:t>2</a:t>
            </a:r>
            <a:r>
              <a:rPr lang="en-US" sz="1800" b="1" dirty="0">
                <a:latin typeface="+mj-lt"/>
                <a:cs typeface="Arial" panose="020B0604020202020204" pitchFamily="34" charset="0"/>
              </a:rPr>
              <a:t>)</a:t>
            </a:r>
          </a:p>
          <a:p>
            <a:r>
              <a:rPr lang="en-US" sz="2000" dirty="0">
                <a:latin typeface="+mj-lt"/>
                <a:cs typeface="Arial" panose="020B0604020202020204" pitchFamily="34" charset="0"/>
              </a:rPr>
              <a:t>ALO Encoding: </a:t>
            </a:r>
          </a:p>
          <a:p>
            <a:pPr marL="0" indent="0">
              <a:buNone/>
            </a:pPr>
            <a:r>
              <a:rPr lang="en-US" sz="2000" b="1" dirty="0">
                <a:latin typeface="+mj-lt"/>
                <a:cs typeface="Arial" panose="020B0604020202020204" pitchFamily="34" charset="0"/>
              </a:rPr>
              <a:t> (</a:t>
            </a:r>
            <a:r>
              <a:rPr lang="en-US" sz="2000" b="1" dirty="0" err="1">
                <a:latin typeface="+mj-lt"/>
                <a:cs typeface="Arial" panose="020B0604020202020204" pitchFamily="34" charset="0"/>
              </a:rPr>
              <a:t>i</a:t>
            </a:r>
            <a:r>
              <a:rPr lang="en-US" sz="2000" b="1" dirty="0">
                <a:latin typeface="+mj-lt"/>
                <a:cs typeface="Arial" panose="020B0604020202020204" pitchFamily="34" charset="0"/>
              </a:rPr>
              <a:t>): </a:t>
            </a:r>
            <a:r>
              <a:rPr lang="en-US" sz="1800" b="1" dirty="0">
                <a:latin typeface="+mj-lt"/>
                <a:cs typeface="Arial" panose="020B0604020202020204" pitchFamily="34" charset="0"/>
              </a:rPr>
              <a:t>(</a:t>
            </a:r>
            <a:r>
              <a:rPr lang="ja-JP" altLang="en-US" sz="1800" b="1" dirty="0">
                <a:latin typeface="+mj-lt"/>
              </a:rPr>
              <a:t>￢</a:t>
            </a:r>
            <a:r>
              <a:rPr lang="en-US" sz="1800" b="1" dirty="0">
                <a:latin typeface="+mj-lt"/>
                <a:cs typeface="Arial" panose="020B0604020202020204" pitchFamily="34" charset="0"/>
              </a:rPr>
              <a:t>Y</a:t>
            </a:r>
            <a:r>
              <a:rPr lang="en-US" sz="1800" b="1" baseline="-25000" dirty="0">
                <a:latin typeface="+mj-lt"/>
                <a:cs typeface="Arial" panose="020B0604020202020204" pitchFamily="34" charset="0"/>
              </a:rPr>
              <a:t>1</a:t>
            </a:r>
            <a:r>
              <a:rPr lang="en-US" sz="1800" b="1" dirty="0">
                <a:latin typeface="+mj-lt"/>
                <a:cs typeface="Arial" panose="020B0604020202020204" pitchFamily="34" charset="0"/>
              </a:rPr>
              <a:t> </a:t>
            </a:r>
            <a:r>
              <a:rPr kumimoji="1" lang="en-US" altLang="ja-JP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ＭＳ Ｐゴシック" pitchFamily="50" charset="-128"/>
              </a:rPr>
              <a:t>∧ </a:t>
            </a:r>
            <a:r>
              <a:rPr lang="ja-JP" altLang="en-US" sz="1800" b="1" dirty="0">
                <a:latin typeface="+mj-lt"/>
              </a:rPr>
              <a:t>￢</a:t>
            </a:r>
            <a:r>
              <a:rPr lang="en-US" sz="1800" b="1" dirty="0">
                <a:latin typeface="+mj-lt"/>
                <a:cs typeface="Arial" panose="020B0604020202020204" pitchFamily="34" charset="0"/>
              </a:rPr>
              <a:t>Y</a:t>
            </a:r>
            <a:r>
              <a:rPr lang="en-US" sz="1800" b="1" baseline="-25000" dirty="0">
                <a:latin typeface="+mj-lt"/>
                <a:cs typeface="Arial" panose="020B0604020202020204" pitchFamily="34" charset="0"/>
              </a:rPr>
              <a:t>2 </a:t>
            </a:r>
            <a:r>
              <a:rPr lang="en-US" sz="1800" b="1" dirty="0">
                <a:latin typeface="+mj-lt"/>
                <a:cs typeface="Arial" panose="020B0604020202020204" pitchFamily="34" charset="0"/>
                <a:sym typeface="Wingdings" panose="05000000000000000000" pitchFamily="2" charset="2"/>
              </a:rPr>
              <a:t> </a:t>
            </a:r>
            <a:r>
              <a:rPr lang="en-US" sz="1800" b="1" dirty="0">
                <a:latin typeface="+mj-lt"/>
                <a:cs typeface="Arial" panose="020B0604020202020204" pitchFamily="34" charset="0"/>
              </a:rPr>
              <a:t>X</a:t>
            </a:r>
            <a:r>
              <a:rPr lang="en-US" sz="1800" b="1" baseline="-25000" dirty="0">
                <a:latin typeface="+mj-lt"/>
                <a:cs typeface="Arial" panose="020B0604020202020204" pitchFamily="34" charset="0"/>
              </a:rPr>
              <a:t>1</a:t>
            </a:r>
            <a:r>
              <a:rPr lang="en-US" sz="1800" b="1" dirty="0">
                <a:latin typeface="+mj-lt"/>
                <a:cs typeface="Arial" panose="020B0604020202020204" pitchFamily="34" charset="0"/>
              </a:rPr>
              <a:t>) </a:t>
            </a:r>
            <a:r>
              <a:rPr kumimoji="1" lang="en-US" altLang="ja-JP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ＭＳ Ｐゴシック" pitchFamily="50" charset="-128"/>
              </a:rPr>
              <a:t>∧ </a:t>
            </a:r>
            <a:r>
              <a:rPr lang="en-US" sz="1800" b="1" dirty="0">
                <a:latin typeface="+mj-lt"/>
                <a:cs typeface="Arial" panose="020B0604020202020204" pitchFamily="34" charset="0"/>
              </a:rPr>
              <a:t>(Y</a:t>
            </a:r>
            <a:r>
              <a:rPr lang="en-US" sz="1800" b="1" baseline="-25000" dirty="0">
                <a:latin typeface="+mj-lt"/>
                <a:cs typeface="Arial" panose="020B0604020202020204" pitchFamily="34" charset="0"/>
              </a:rPr>
              <a:t>1</a:t>
            </a:r>
            <a:r>
              <a:rPr lang="en-US" sz="1800" b="1" dirty="0">
                <a:latin typeface="+mj-lt"/>
                <a:cs typeface="Arial" panose="020B0604020202020204" pitchFamily="34" charset="0"/>
              </a:rPr>
              <a:t> </a:t>
            </a:r>
            <a:r>
              <a:rPr kumimoji="1" lang="en-US" altLang="ja-JP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ＭＳ Ｐゴシック" pitchFamily="50" charset="-128"/>
              </a:rPr>
              <a:t>∧ </a:t>
            </a:r>
            <a:r>
              <a:rPr lang="ja-JP" altLang="en-US" sz="1800" b="1" dirty="0">
                <a:latin typeface="+mj-lt"/>
              </a:rPr>
              <a:t>￢</a:t>
            </a:r>
            <a:r>
              <a:rPr lang="en-US" sz="1800" b="1" dirty="0">
                <a:latin typeface="+mj-lt"/>
                <a:cs typeface="Arial" panose="020B0604020202020204" pitchFamily="34" charset="0"/>
              </a:rPr>
              <a:t>Y</a:t>
            </a:r>
            <a:r>
              <a:rPr lang="en-US" sz="1800" b="1" baseline="-25000" dirty="0">
                <a:latin typeface="+mj-lt"/>
                <a:cs typeface="Arial" panose="020B0604020202020204" pitchFamily="34" charset="0"/>
              </a:rPr>
              <a:t>2 </a:t>
            </a:r>
            <a:r>
              <a:rPr lang="en-US" sz="1800" b="1" dirty="0">
                <a:latin typeface="+mj-lt"/>
                <a:cs typeface="Arial" panose="020B0604020202020204" pitchFamily="34" charset="0"/>
                <a:sym typeface="Wingdings" panose="05000000000000000000" pitchFamily="2" charset="2"/>
              </a:rPr>
              <a:t> </a:t>
            </a:r>
            <a:r>
              <a:rPr lang="en-US" sz="1800" b="1" dirty="0">
                <a:latin typeface="+mj-lt"/>
                <a:cs typeface="Arial" panose="020B0604020202020204" pitchFamily="34" charset="0"/>
              </a:rPr>
              <a:t>X</a:t>
            </a:r>
            <a:r>
              <a:rPr lang="en-US" sz="1800" b="1" baseline="-25000" dirty="0">
                <a:latin typeface="+mj-lt"/>
                <a:cs typeface="Arial" panose="020B0604020202020204" pitchFamily="34" charset="0"/>
              </a:rPr>
              <a:t>2</a:t>
            </a:r>
            <a:r>
              <a:rPr lang="en-US" sz="1800" b="1" dirty="0">
                <a:latin typeface="+mj-lt"/>
                <a:cs typeface="Arial" panose="020B0604020202020204" pitchFamily="34" charset="0"/>
              </a:rPr>
              <a:t>) </a:t>
            </a:r>
            <a:r>
              <a:rPr kumimoji="1" lang="en-US" altLang="ja-JP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ＭＳ Ｐゴシック" pitchFamily="50" charset="-128"/>
              </a:rPr>
              <a:t>∧ </a:t>
            </a:r>
            <a:r>
              <a:rPr lang="en-US" sz="1800" b="1" dirty="0">
                <a:latin typeface="+mj-lt"/>
                <a:cs typeface="Arial" panose="020B0604020202020204" pitchFamily="34" charset="0"/>
              </a:rPr>
              <a:t>(</a:t>
            </a:r>
            <a:r>
              <a:rPr lang="ja-JP" altLang="en-US" sz="1800" b="1" dirty="0">
                <a:latin typeface="+mj-lt"/>
              </a:rPr>
              <a:t>￢</a:t>
            </a:r>
            <a:r>
              <a:rPr lang="en-US" sz="1800" b="1" dirty="0">
                <a:latin typeface="+mj-lt"/>
                <a:cs typeface="Arial" panose="020B0604020202020204" pitchFamily="34" charset="0"/>
              </a:rPr>
              <a:t>Y</a:t>
            </a:r>
            <a:r>
              <a:rPr lang="en-US" sz="1800" b="1" baseline="-25000" dirty="0">
                <a:latin typeface="+mj-lt"/>
                <a:cs typeface="Arial" panose="020B0604020202020204" pitchFamily="34" charset="0"/>
              </a:rPr>
              <a:t>1</a:t>
            </a:r>
            <a:r>
              <a:rPr lang="en-US" sz="1800" b="1" dirty="0">
                <a:latin typeface="+mj-lt"/>
                <a:cs typeface="Arial" panose="020B0604020202020204" pitchFamily="34" charset="0"/>
              </a:rPr>
              <a:t> </a:t>
            </a:r>
            <a:r>
              <a:rPr kumimoji="1" lang="en-US" altLang="ja-JP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ＭＳ Ｐゴシック" pitchFamily="50" charset="-128"/>
              </a:rPr>
              <a:t>∧ </a:t>
            </a:r>
            <a:r>
              <a:rPr lang="en-US" sz="1800" b="1" dirty="0">
                <a:latin typeface="+mj-lt"/>
                <a:cs typeface="Arial" panose="020B0604020202020204" pitchFamily="34" charset="0"/>
              </a:rPr>
              <a:t>Y</a:t>
            </a:r>
            <a:r>
              <a:rPr lang="en-US" sz="1800" b="1" baseline="-25000" dirty="0">
                <a:latin typeface="+mj-lt"/>
                <a:cs typeface="Arial" panose="020B0604020202020204" pitchFamily="34" charset="0"/>
              </a:rPr>
              <a:t>2</a:t>
            </a:r>
            <a:r>
              <a:rPr lang="en-US" sz="1800" b="1" dirty="0">
                <a:latin typeface="+mj-lt"/>
                <a:cs typeface="Arial" panose="020B0604020202020204" pitchFamily="34" charset="0"/>
                <a:sym typeface="Wingdings" panose="05000000000000000000" pitchFamily="2" charset="2"/>
              </a:rPr>
              <a:t>  </a:t>
            </a:r>
            <a:r>
              <a:rPr lang="en-US" sz="1800" b="1" dirty="0">
                <a:latin typeface="+mj-lt"/>
                <a:cs typeface="Arial" panose="020B0604020202020204" pitchFamily="34" charset="0"/>
              </a:rPr>
              <a:t>X</a:t>
            </a:r>
            <a:r>
              <a:rPr lang="en-US" sz="1800" b="1" baseline="-25000" dirty="0">
                <a:latin typeface="+mj-lt"/>
                <a:cs typeface="Arial" panose="020B0604020202020204" pitchFamily="34" charset="0"/>
              </a:rPr>
              <a:t>3</a:t>
            </a:r>
            <a:r>
              <a:rPr lang="en-US" sz="1800" b="1" dirty="0">
                <a:latin typeface="+mj-lt"/>
                <a:cs typeface="Arial" panose="020B0604020202020204" pitchFamily="34" charset="0"/>
              </a:rPr>
              <a:t>) </a:t>
            </a:r>
            <a:r>
              <a:rPr kumimoji="1" lang="en-US" altLang="ja-JP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ＭＳ Ｐゴシック" pitchFamily="50" charset="-128"/>
              </a:rPr>
              <a:t>∧ </a:t>
            </a:r>
            <a:r>
              <a:rPr lang="en-US" sz="1800" b="1" dirty="0">
                <a:latin typeface="+mj-lt"/>
                <a:cs typeface="Arial" panose="020B0604020202020204" pitchFamily="34" charset="0"/>
              </a:rPr>
              <a:t>(</a:t>
            </a:r>
            <a:r>
              <a:rPr lang="en-US" sz="1800" b="1" baseline="-25000" dirty="0">
                <a:latin typeface="+mj-lt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800" b="1" dirty="0">
                <a:latin typeface="+mj-lt"/>
                <a:cs typeface="Arial" panose="020B0604020202020204" pitchFamily="34" charset="0"/>
              </a:rPr>
              <a:t>Y</a:t>
            </a:r>
            <a:r>
              <a:rPr lang="en-US" sz="1800" b="1" baseline="-25000" dirty="0">
                <a:latin typeface="+mj-lt"/>
                <a:cs typeface="Arial" panose="020B0604020202020204" pitchFamily="34" charset="0"/>
              </a:rPr>
              <a:t>1</a:t>
            </a:r>
            <a:r>
              <a:rPr lang="en-US" sz="1800" b="1" dirty="0">
                <a:latin typeface="+mj-lt"/>
                <a:cs typeface="Arial" panose="020B0604020202020204" pitchFamily="34" charset="0"/>
              </a:rPr>
              <a:t> </a:t>
            </a:r>
            <a:r>
              <a:rPr kumimoji="1" lang="en-US" altLang="ja-JP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ＭＳ Ｐゴシック" pitchFamily="50" charset="-128"/>
              </a:rPr>
              <a:t>∧ </a:t>
            </a:r>
            <a:r>
              <a:rPr lang="en-US" sz="1800" b="1" dirty="0">
                <a:latin typeface="+mj-lt"/>
                <a:cs typeface="Arial" panose="020B0604020202020204" pitchFamily="34" charset="0"/>
              </a:rPr>
              <a:t>Y</a:t>
            </a:r>
            <a:r>
              <a:rPr lang="en-US" sz="1800" b="1" baseline="-25000" dirty="0">
                <a:latin typeface="+mj-lt"/>
                <a:cs typeface="Arial" panose="020B0604020202020204" pitchFamily="34" charset="0"/>
              </a:rPr>
              <a:t>2 </a:t>
            </a:r>
            <a:r>
              <a:rPr lang="en-US" sz="1800" b="1" dirty="0">
                <a:latin typeface="+mj-lt"/>
                <a:cs typeface="Arial" panose="020B0604020202020204" pitchFamily="34" charset="0"/>
                <a:sym typeface="Wingdings" panose="05000000000000000000" pitchFamily="2" charset="2"/>
              </a:rPr>
              <a:t> </a:t>
            </a:r>
            <a:r>
              <a:rPr lang="en-US" sz="1800" b="1" dirty="0">
                <a:latin typeface="+mj-lt"/>
                <a:cs typeface="Arial" panose="020B0604020202020204" pitchFamily="34" charset="0"/>
              </a:rPr>
              <a:t>X</a:t>
            </a:r>
            <a:r>
              <a:rPr lang="en-US" sz="1800" b="1" baseline="-25000" dirty="0">
                <a:latin typeface="+mj-lt"/>
                <a:cs typeface="Arial" panose="020B0604020202020204" pitchFamily="34" charset="0"/>
              </a:rPr>
              <a:t>4</a:t>
            </a:r>
            <a:r>
              <a:rPr lang="en-US" sz="1800" b="1" dirty="0">
                <a:latin typeface="+mj-lt"/>
                <a:cs typeface="Arial" panose="020B0604020202020204" pitchFamily="34" charset="0"/>
              </a:rPr>
              <a:t>)</a:t>
            </a:r>
          </a:p>
          <a:p>
            <a:pPr marL="0" indent="0">
              <a:buNone/>
            </a:pPr>
            <a:r>
              <a:rPr lang="en-US" sz="1800" b="1" dirty="0">
                <a:latin typeface="+mj-lt"/>
                <a:cs typeface="Arial" panose="020B0604020202020204" pitchFamily="34" charset="0"/>
              </a:rPr>
              <a:t> (ii): (X</a:t>
            </a:r>
            <a:r>
              <a:rPr lang="en-US" sz="1800" b="1" baseline="-25000" dirty="0">
                <a:latin typeface="+mj-lt"/>
                <a:cs typeface="Arial" panose="020B0604020202020204" pitchFamily="34" charset="0"/>
              </a:rPr>
              <a:t>1</a:t>
            </a:r>
            <a:r>
              <a:rPr lang="en-US" sz="1800" b="1" dirty="0">
                <a:latin typeface="+mj-lt"/>
                <a:cs typeface="Arial" panose="020B0604020202020204" pitchFamily="34" charset="0"/>
              </a:rPr>
              <a:t> v X</a:t>
            </a:r>
            <a:r>
              <a:rPr lang="en-US" sz="1800" b="1" baseline="-25000" dirty="0">
                <a:latin typeface="+mj-lt"/>
                <a:cs typeface="Arial" panose="020B0604020202020204" pitchFamily="34" charset="0"/>
              </a:rPr>
              <a:t>2</a:t>
            </a:r>
            <a:r>
              <a:rPr lang="en-US" sz="1800" b="1" dirty="0">
                <a:latin typeface="+mj-lt"/>
                <a:cs typeface="Arial" panose="020B0604020202020204" pitchFamily="34" charset="0"/>
              </a:rPr>
              <a:t> v X</a:t>
            </a:r>
            <a:r>
              <a:rPr lang="en-US" sz="1800" b="1" baseline="-25000" dirty="0">
                <a:latin typeface="+mj-lt"/>
                <a:cs typeface="Arial" panose="020B0604020202020204" pitchFamily="34" charset="0"/>
              </a:rPr>
              <a:t>3</a:t>
            </a:r>
            <a:r>
              <a:rPr lang="en-US" sz="1800" b="1" dirty="0">
                <a:latin typeface="+mj-lt"/>
                <a:cs typeface="Arial" panose="020B0604020202020204" pitchFamily="34" charset="0"/>
              </a:rPr>
              <a:t> v X</a:t>
            </a:r>
            <a:r>
              <a:rPr lang="en-US" sz="1800" b="1" baseline="-25000" dirty="0">
                <a:latin typeface="+mj-lt"/>
                <a:cs typeface="Arial" panose="020B0604020202020204" pitchFamily="34" charset="0"/>
              </a:rPr>
              <a:t>4</a:t>
            </a:r>
            <a:r>
              <a:rPr lang="en-US" sz="1800" b="1" dirty="0">
                <a:latin typeface="+mj-lt"/>
                <a:cs typeface="Arial" panose="020B0604020202020204" pitchFamily="34" charset="0"/>
              </a:rPr>
              <a:t>)</a:t>
            </a:r>
            <a:endParaRPr lang="en-US" sz="1800" b="1" dirty="0">
              <a:latin typeface="+mj-lt"/>
            </a:endParaRPr>
          </a:p>
          <a:p>
            <a:pPr lvl="2"/>
            <a:endParaRPr lang="en-US" dirty="0"/>
          </a:p>
          <a:p>
            <a:pPr lvl="3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35961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A96100-C153-41DA-AFCC-58EB60CD11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encoding (2)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BA5020-A852-43FC-8FCB-E5309E2006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76400"/>
            <a:ext cx="8610600" cy="4130675"/>
          </a:xfrm>
        </p:spPr>
        <p:txBody>
          <a:bodyPr/>
          <a:lstStyle/>
          <a:p>
            <a:r>
              <a:rPr lang="en-US" dirty="0"/>
              <a:t>For n = 3 (X</a:t>
            </a:r>
            <a:r>
              <a:rPr lang="en-US" baseline="-25000" dirty="0"/>
              <a:t>1</a:t>
            </a:r>
            <a:r>
              <a:rPr lang="en-US" dirty="0"/>
              <a:t>, X</a:t>
            </a:r>
            <a:r>
              <a:rPr lang="en-US" baseline="-25000" dirty="0"/>
              <a:t>2</a:t>
            </a:r>
            <a:r>
              <a:rPr lang="en-US" dirty="0"/>
              <a:t>, X</a:t>
            </a:r>
            <a:r>
              <a:rPr lang="en-US" baseline="-25000" dirty="0"/>
              <a:t>3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sz="2000" dirty="0"/>
              <a:t>X</a:t>
            </a:r>
            <a:r>
              <a:rPr lang="en-US" sz="2000" baseline="-25000" dirty="0"/>
              <a:t>1</a:t>
            </a:r>
            <a:r>
              <a:rPr lang="en-US" sz="2000" dirty="0"/>
              <a:t> corresponding “00” 		X</a:t>
            </a:r>
            <a:r>
              <a:rPr lang="en-US" sz="2000" baseline="-25000" dirty="0"/>
              <a:t>1</a:t>
            </a:r>
            <a:r>
              <a:rPr lang="en-US" sz="2000" dirty="0"/>
              <a:t>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↔ </a:t>
            </a:r>
            <a:r>
              <a:rPr lang="ja-JP" altLang="en-US" sz="2000" dirty="0"/>
              <a:t>￢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r>
              <a:rPr lang="en-US" sz="2000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ja-JP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50" charset="-128"/>
              </a:rPr>
              <a:t>∧ </a:t>
            </a:r>
            <a:r>
              <a:rPr lang="ja-JP" altLang="en-US" sz="2000" dirty="0"/>
              <a:t>￢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r>
              <a:rPr lang="en-US" sz="200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  <a:p>
            <a:pPr marL="0" indent="0">
              <a:buNone/>
            </a:pPr>
            <a:r>
              <a:rPr lang="en-US" sz="2000" dirty="0"/>
              <a:t>X</a:t>
            </a:r>
            <a:r>
              <a:rPr lang="en-US" sz="2000" baseline="-25000" dirty="0"/>
              <a:t>2</a:t>
            </a:r>
            <a:r>
              <a:rPr lang="en-US" sz="2000" dirty="0"/>
              <a:t> corresponding “01” 		X</a:t>
            </a:r>
            <a:r>
              <a:rPr lang="en-US" sz="2000" baseline="-25000" dirty="0"/>
              <a:t>2</a:t>
            </a:r>
            <a:r>
              <a:rPr lang="en-US" sz="2000" dirty="0"/>
              <a:t>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↔ Y</a:t>
            </a:r>
            <a:r>
              <a:rPr lang="en-US" sz="2000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ja-JP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50" charset="-128"/>
              </a:rPr>
              <a:t>∧ </a:t>
            </a:r>
            <a:r>
              <a:rPr lang="ja-JP" altLang="en-US" sz="2000" dirty="0"/>
              <a:t>￢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r>
              <a:rPr lang="en-US" sz="200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  <a:p>
            <a:pPr marL="0" indent="0">
              <a:buNone/>
            </a:pPr>
            <a:r>
              <a:rPr lang="en-US" sz="2000" dirty="0"/>
              <a:t>X</a:t>
            </a:r>
            <a:r>
              <a:rPr lang="en-US" sz="2000" baseline="-25000" dirty="0"/>
              <a:t>3</a:t>
            </a:r>
            <a:r>
              <a:rPr lang="en-US" sz="2000" dirty="0"/>
              <a:t> corresponding “10” 		X</a:t>
            </a:r>
            <a:r>
              <a:rPr lang="en-US" sz="2000" baseline="-25000" dirty="0"/>
              <a:t>3</a:t>
            </a:r>
            <a:r>
              <a:rPr lang="en-US" sz="2000" dirty="0"/>
              <a:t>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↔ </a:t>
            </a:r>
            <a:r>
              <a:rPr lang="ja-JP" altLang="en-US" sz="2000" dirty="0"/>
              <a:t>￢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r>
              <a:rPr lang="en-US" sz="2000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ja-JP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50" charset="-128"/>
              </a:rPr>
              <a:t>∧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r>
              <a:rPr lang="en-US" sz="200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  <a:p>
            <a:r>
              <a:rPr lang="en-US" sz="2000" dirty="0">
                <a:latin typeface="+mj-lt"/>
                <a:cs typeface="Arial" panose="020B0604020202020204" pitchFamily="34" charset="0"/>
              </a:rPr>
              <a:t>AMO Encoding: </a:t>
            </a:r>
          </a:p>
          <a:p>
            <a:pPr marL="581025" lvl="1" indent="0">
              <a:buNone/>
            </a:pPr>
            <a:r>
              <a:rPr lang="en-US" sz="1800" b="1" dirty="0">
                <a:latin typeface="+mj-lt"/>
                <a:cs typeface="Arial" panose="020B0604020202020204" pitchFamily="34" charset="0"/>
              </a:rPr>
              <a:t>(X</a:t>
            </a:r>
            <a:r>
              <a:rPr lang="en-US" sz="1800" b="1" baseline="-25000" dirty="0">
                <a:latin typeface="+mj-lt"/>
                <a:cs typeface="Arial" panose="020B0604020202020204" pitchFamily="34" charset="0"/>
              </a:rPr>
              <a:t>1</a:t>
            </a:r>
            <a:r>
              <a:rPr lang="en-US" sz="1800" b="1" dirty="0">
                <a:latin typeface="+mj-lt"/>
                <a:cs typeface="Arial" panose="020B0604020202020204" pitchFamily="34" charset="0"/>
              </a:rPr>
              <a:t> </a:t>
            </a:r>
            <a:r>
              <a:rPr lang="en-US" sz="1800" b="1" dirty="0">
                <a:latin typeface="+mj-lt"/>
                <a:cs typeface="Arial" panose="020B0604020202020204" pitchFamily="34" charset="0"/>
                <a:sym typeface="Wingdings" panose="05000000000000000000" pitchFamily="2" charset="2"/>
              </a:rPr>
              <a:t></a:t>
            </a:r>
            <a:r>
              <a:rPr lang="en-US" sz="1800" b="1" baseline="-25000" dirty="0">
                <a:latin typeface="+mj-lt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ja-JP" altLang="en-US" sz="1800" b="1" dirty="0">
                <a:latin typeface="+mj-lt"/>
              </a:rPr>
              <a:t>￢</a:t>
            </a:r>
            <a:r>
              <a:rPr lang="en-US" sz="1800" b="1" dirty="0">
                <a:latin typeface="+mj-lt"/>
                <a:cs typeface="Arial" panose="020B0604020202020204" pitchFamily="34" charset="0"/>
              </a:rPr>
              <a:t>Y</a:t>
            </a:r>
            <a:r>
              <a:rPr lang="en-US" sz="1800" b="1" baseline="-25000" dirty="0">
                <a:latin typeface="+mj-lt"/>
                <a:cs typeface="Arial" panose="020B0604020202020204" pitchFamily="34" charset="0"/>
              </a:rPr>
              <a:t>1</a:t>
            </a:r>
            <a:r>
              <a:rPr lang="en-US" sz="1800" b="1" dirty="0">
                <a:latin typeface="+mj-lt"/>
                <a:cs typeface="Arial" panose="020B0604020202020204" pitchFamily="34" charset="0"/>
              </a:rPr>
              <a:t> </a:t>
            </a:r>
            <a:r>
              <a:rPr kumimoji="1" lang="en-US" altLang="ja-JP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ＭＳ Ｐゴシック" pitchFamily="50" charset="-128"/>
              </a:rPr>
              <a:t>∧ </a:t>
            </a:r>
            <a:r>
              <a:rPr lang="ja-JP" altLang="en-US" sz="1800" b="1" dirty="0">
                <a:latin typeface="+mj-lt"/>
              </a:rPr>
              <a:t>￢</a:t>
            </a:r>
            <a:r>
              <a:rPr lang="en-US" sz="1800" b="1" dirty="0">
                <a:latin typeface="+mj-lt"/>
                <a:cs typeface="Arial" panose="020B0604020202020204" pitchFamily="34" charset="0"/>
              </a:rPr>
              <a:t>Y</a:t>
            </a:r>
            <a:r>
              <a:rPr lang="en-US" sz="1800" b="1" baseline="-25000" dirty="0">
                <a:latin typeface="+mj-lt"/>
                <a:cs typeface="Arial" panose="020B0604020202020204" pitchFamily="34" charset="0"/>
              </a:rPr>
              <a:t>2</a:t>
            </a:r>
            <a:r>
              <a:rPr lang="en-US" sz="1800" b="1" dirty="0">
                <a:latin typeface="+mj-lt"/>
                <a:cs typeface="Arial" panose="020B0604020202020204" pitchFamily="34" charset="0"/>
              </a:rPr>
              <a:t>) </a:t>
            </a:r>
            <a:r>
              <a:rPr kumimoji="1" lang="en-US" altLang="ja-JP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ＭＳ Ｐゴシック" pitchFamily="50" charset="-128"/>
              </a:rPr>
              <a:t>∧ </a:t>
            </a:r>
            <a:r>
              <a:rPr lang="en-US" sz="1800" b="1" dirty="0">
                <a:latin typeface="+mj-lt"/>
                <a:cs typeface="Arial" panose="020B0604020202020204" pitchFamily="34" charset="0"/>
              </a:rPr>
              <a:t>(X</a:t>
            </a:r>
            <a:r>
              <a:rPr lang="en-US" sz="1800" b="1" baseline="-25000" dirty="0">
                <a:latin typeface="+mj-lt"/>
                <a:cs typeface="Arial" panose="020B0604020202020204" pitchFamily="34" charset="0"/>
              </a:rPr>
              <a:t>2</a:t>
            </a:r>
            <a:r>
              <a:rPr lang="en-US" sz="1800" b="1" dirty="0">
                <a:latin typeface="+mj-lt"/>
                <a:cs typeface="Arial" panose="020B0604020202020204" pitchFamily="34" charset="0"/>
              </a:rPr>
              <a:t> </a:t>
            </a:r>
            <a:r>
              <a:rPr lang="en-US" sz="1800" b="1" dirty="0">
                <a:latin typeface="+mj-lt"/>
                <a:cs typeface="Arial" panose="020B0604020202020204" pitchFamily="34" charset="0"/>
                <a:sym typeface="Wingdings" panose="05000000000000000000" pitchFamily="2" charset="2"/>
              </a:rPr>
              <a:t></a:t>
            </a:r>
            <a:r>
              <a:rPr lang="en-US" sz="1800" b="1" baseline="-25000" dirty="0">
                <a:latin typeface="+mj-lt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800" b="1" dirty="0">
                <a:latin typeface="+mj-lt"/>
                <a:cs typeface="Arial" panose="020B0604020202020204" pitchFamily="34" charset="0"/>
              </a:rPr>
              <a:t>Y</a:t>
            </a:r>
            <a:r>
              <a:rPr lang="en-US" sz="1800" b="1" baseline="-25000" dirty="0">
                <a:latin typeface="+mj-lt"/>
                <a:cs typeface="Arial" panose="020B0604020202020204" pitchFamily="34" charset="0"/>
              </a:rPr>
              <a:t>1</a:t>
            </a:r>
            <a:r>
              <a:rPr lang="en-US" sz="1800" b="1" dirty="0">
                <a:latin typeface="+mj-lt"/>
                <a:cs typeface="Arial" panose="020B0604020202020204" pitchFamily="34" charset="0"/>
              </a:rPr>
              <a:t> </a:t>
            </a:r>
            <a:r>
              <a:rPr kumimoji="1" lang="en-US" altLang="ja-JP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ＭＳ Ｐゴシック" pitchFamily="50" charset="-128"/>
              </a:rPr>
              <a:t>∧ </a:t>
            </a:r>
            <a:r>
              <a:rPr lang="ja-JP" altLang="en-US" sz="1800" b="1" dirty="0">
                <a:latin typeface="+mj-lt"/>
              </a:rPr>
              <a:t>￢</a:t>
            </a:r>
            <a:r>
              <a:rPr lang="en-US" sz="1800" b="1" dirty="0">
                <a:latin typeface="+mj-lt"/>
                <a:cs typeface="Arial" panose="020B0604020202020204" pitchFamily="34" charset="0"/>
              </a:rPr>
              <a:t>Y</a:t>
            </a:r>
            <a:r>
              <a:rPr lang="en-US" sz="1800" b="1" baseline="-25000" dirty="0">
                <a:latin typeface="+mj-lt"/>
                <a:cs typeface="Arial" panose="020B0604020202020204" pitchFamily="34" charset="0"/>
              </a:rPr>
              <a:t>2</a:t>
            </a:r>
            <a:r>
              <a:rPr lang="en-US" sz="1800" b="1" dirty="0">
                <a:latin typeface="+mj-lt"/>
                <a:cs typeface="Arial" panose="020B0604020202020204" pitchFamily="34" charset="0"/>
              </a:rPr>
              <a:t>) </a:t>
            </a:r>
            <a:r>
              <a:rPr kumimoji="1" lang="en-US" altLang="ja-JP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ＭＳ Ｐゴシック" pitchFamily="50" charset="-128"/>
              </a:rPr>
              <a:t>∧ </a:t>
            </a:r>
            <a:r>
              <a:rPr lang="en-US" sz="1800" b="1" dirty="0">
                <a:latin typeface="+mj-lt"/>
                <a:cs typeface="Arial" panose="020B0604020202020204" pitchFamily="34" charset="0"/>
              </a:rPr>
              <a:t>(X</a:t>
            </a:r>
            <a:r>
              <a:rPr lang="en-US" sz="1800" b="1" baseline="-25000" dirty="0">
                <a:latin typeface="+mj-lt"/>
                <a:cs typeface="Arial" panose="020B0604020202020204" pitchFamily="34" charset="0"/>
              </a:rPr>
              <a:t>3</a:t>
            </a:r>
            <a:r>
              <a:rPr lang="en-US" sz="1800" b="1" dirty="0">
                <a:latin typeface="+mj-lt"/>
                <a:cs typeface="Arial" panose="020B0604020202020204" pitchFamily="34" charset="0"/>
              </a:rPr>
              <a:t> </a:t>
            </a:r>
            <a:r>
              <a:rPr lang="en-US" sz="1800" b="1" dirty="0">
                <a:latin typeface="+mj-lt"/>
                <a:cs typeface="Arial" panose="020B0604020202020204" pitchFamily="34" charset="0"/>
                <a:sym typeface="Wingdings" panose="05000000000000000000" pitchFamily="2" charset="2"/>
              </a:rPr>
              <a:t></a:t>
            </a:r>
            <a:r>
              <a:rPr lang="en-US" sz="1800" b="1" baseline="-25000" dirty="0">
                <a:latin typeface="+mj-lt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ja-JP" altLang="en-US" sz="1800" b="1" dirty="0">
                <a:latin typeface="+mj-lt"/>
              </a:rPr>
              <a:t>￢</a:t>
            </a:r>
            <a:r>
              <a:rPr lang="en-US" sz="1800" b="1" dirty="0">
                <a:latin typeface="+mj-lt"/>
                <a:cs typeface="Arial" panose="020B0604020202020204" pitchFamily="34" charset="0"/>
              </a:rPr>
              <a:t>Y</a:t>
            </a:r>
            <a:r>
              <a:rPr lang="en-US" sz="1800" b="1" baseline="-25000" dirty="0">
                <a:latin typeface="+mj-lt"/>
                <a:cs typeface="Arial" panose="020B0604020202020204" pitchFamily="34" charset="0"/>
              </a:rPr>
              <a:t>1</a:t>
            </a:r>
            <a:r>
              <a:rPr lang="en-US" sz="1800" b="1" dirty="0">
                <a:latin typeface="+mj-lt"/>
                <a:cs typeface="Arial" panose="020B0604020202020204" pitchFamily="34" charset="0"/>
              </a:rPr>
              <a:t> </a:t>
            </a:r>
            <a:r>
              <a:rPr kumimoji="1" lang="en-US" altLang="ja-JP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ＭＳ Ｐゴシック" pitchFamily="50" charset="-128"/>
              </a:rPr>
              <a:t>∧ </a:t>
            </a:r>
            <a:r>
              <a:rPr lang="en-US" sz="1800" b="1" dirty="0">
                <a:latin typeface="+mj-lt"/>
                <a:cs typeface="Arial" panose="020B0604020202020204" pitchFamily="34" charset="0"/>
              </a:rPr>
              <a:t>Y</a:t>
            </a:r>
            <a:r>
              <a:rPr lang="en-US" sz="1800" b="1" baseline="-25000" dirty="0">
                <a:latin typeface="+mj-lt"/>
                <a:cs typeface="Arial" panose="020B0604020202020204" pitchFamily="34" charset="0"/>
              </a:rPr>
              <a:t>2</a:t>
            </a:r>
            <a:r>
              <a:rPr lang="en-US" sz="1800" b="1" dirty="0">
                <a:latin typeface="+mj-lt"/>
                <a:cs typeface="Arial" panose="020B0604020202020204" pitchFamily="34" charset="0"/>
              </a:rPr>
              <a:t>)</a:t>
            </a:r>
          </a:p>
          <a:p>
            <a:r>
              <a:rPr lang="en-US" sz="2000" dirty="0">
                <a:latin typeface="+mj-lt"/>
                <a:cs typeface="Arial" panose="020B0604020202020204" pitchFamily="34" charset="0"/>
              </a:rPr>
              <a:t>ALO Encoding: </a:t>
            </a:r>
            <a:r>
              <a:rPr lang="en-US" sz="1800" b="1" dirty="0">
                <a:latin typeface="+mj-lt"/>
                <a:cs typeface="Arial" panose="020B0604020202020204" pitchFamily="34" charset="0"/>
              </a:rPr>
              <a:t>(X</a:t>
            </a:r>
            <a:r>
              <a:rPr lang="en-US" sz="1800" b="1" baseline="-25000" dirty="0">
                <a:latin typeface="+mj-lt"/>
                <a:cs typeface="Arial" panose="020B0604020202020204" pitchFamily="34" charset="0"/>
              </a:rPr>
              <a:t>1</a:t>
            </a:r>
            <a:r>
              <a:rPr lang="en-US" sz="1800" b="1" dirty="0">
                <a:latin typeface="+mj-lt"/>
                <a:cs typeface="Arial" panose="020B0604020202020204" pitchFamily="34" charset="0"/>
              </a:rPr>
              <a:t> v X</a:t>
            </a:r>
            <a:r>
              <a:rPr lang="en-US" sz="1800" b="1" baseline="-25000" dirty="0">
                <a:latin typeface="+mj-lt"/>
                <a:cs typeface="Arial" panose="020B0604020202020204" pitchFamily="34" charset="0"/>
              </a:rPr>
              <a:t>2</a:t>
            </a:r>
            <a:r>
              <a:rPr lang="en-US" sz="1800" b="1" dirty="0">
                <a:latin typeface="+mj-lt"/>
                <a:cs typeface="Arial" panose="020B0604020202020204" pitchFamily="34" charset="0"/>
              </a:rPr>
              <a:t> v X</a:t>
            </a:r>
            <a:r>
              <a:rPr lang="en-US" sz="1800" b="1" baseline="-25000" dirty="0">
                <a:latin typeface="+mj-lt"/>
                <a:cs typeface="Arial" panose="020B0604020202020204" pitchFamily="34" charset="0"/>
              </a:rPr>
              <a:t>3</a:t>
            </a:r>
            <a:r>
              <a:rPr lang="en-US" sz="1800" b="1" dirty="0">
                <a:latin typeface="+mj-lt"/>
                <a:cs typeface="Arial" panose="020B0604020202020204" pitchFamily="34" charset="0"/>
              </a:rPr>
              <a:t>)</a:t>
            </a:r>
            <a:endParaRPr lang="en-US" sz="1800" b="1" dirty="0">
              <a:latin typeface="+mj-lt"/>
            </a:endParaRPr>
          </a:p>
          <a:p>
            <a:endParaRPr lang="en-US" dirty="0"/>
          </a:p>
          <a:p>
            <a:pPr lvl="3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12280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A96100-C153-41DA-AFCC-58EB60CD11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encoding (3)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BA5020-A852-43FC-8FCB-E5309E2006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76400"/>
            <a:ext cx="8610600" cy="4130675"/>
          </a:xfrm>
        </p:spPr>
        <p:txBody>
          <a:bodyPr/>
          <a:lstStyle/>
          <a:p>
            <a:r>
              <a:rPr lang="en-US" dirty="0"/>
              <a:t>Optimization (for n =3)</a:t>
            </a:r>
          </a:p>
          <a:p>
            <a:pPr marL="0" indent="0">
              <a:buNone/>
            </a:pPr>
            <a:r>
              <a:rPr lang="en-US" sz="2000" dirty="0"/>
              <a:t>X</a:t>
            </a:r>
            <a:r>
              <a:rPr lang="en-US" sz="2000" baseline="-25000" dirty="0"/>
              <a:t>1</a:t>
            </a:r>
            <a:r>
              <a:rPr lang="en-US" sz="2000" dirty="0"/>
              <a:t> corresponding “00” or “01”	X</a:t>
            </a:r>
            <a:r>
              <a:rPr lang="en-US" sz="2000" baseline="-25000" dirty="0"/>
              <a:t>1</a:t>
            </a:r>
            <a:r>
              <a:rPr lang="en-US" sz="2000" dirty="0"/>
              <a:t>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↔ (</a:t>
            </a:r>
            <a:r>
              <a:rPr lang="ja-JP" altLang="en-US" sz="2000" dirty="0"/>
              <a:t>￢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r>
              <a:rPr lang="en-US" sz="2000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ja-JP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50" charset="-128"/>
              </a:rPr>
              <a:t>∧ </a:t>
            </a:r>
            <a:r>
              <a:rPr lang="ja-JP" altLang="en-US" sz="2000" dirty="0"/>
              <a:t>￢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r>
              <a:rPr lang="en-US" sz="200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) v (Y</a:t>
            </a:r>
            <a:r>
              <a:rPr lang="en-US" sz="2000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ja-JP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50" charset="-128"/>
              </a:rPr>
              <a:t>∧ </a:t>
            </a:r>
            <a:r>
              <a:rPr lang="ja-JP" altLang="en-US" sz="2000" dirty="0"/>
              <a:t>￢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r>
              <a:rPr lang="en-US" sz="200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) ≡ </a:t>
            </a:r>
            <a:r>
              <a:rPr lang="ja-JP" altLang="en-US" sz="2000" dirty="0"/>
              <a:t>￢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r>
              <a:rPr lang="en-US" sz="200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2000" dirty="0"/>
              <a:t>X</a:t>
            </a:r>
            <a:r>
              <a:rPr lang="en-US" sz="2000" baseline="-25000" dirty="0"/>
              <a:t>2</a:t>
            </a:r>
            <a:r>
              <a:rPr lang="en-US" sz="2000" dirty="0"/>
              <a:t> corresponding “10” 		X</a:t>
            </a:r>
            <a:r>
              <a:rPr lang="en-US" sz="2000" baseline="-25000" dirty="0"/>
              <a:t>2</a:t>
            </a:r>
            <a:r>
              <a:rPr lang="en-US" sz="2000" dirty="0"/>
              <a:t>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↔ </a:t>
            </a:r>
            <a:r>
              <a:rPr lang="ja-JP" altLang="en-US" sz="2000" dirty="0"/>
              <a:t>￢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r>
              <a:rPr lang="en-US" sz="2000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ja-JP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50" charset="-128"/>
              </a:rPr>
              <a:t>∧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r>
              <a:rPr lang="en-US" sz="200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  <a:p>
            <a:pPr marL="0" indent="0">
              <a:buNone/>
            </a:pPr>
            <a:r>
              <a:rPr lang="en-US" sz="2000" dirty="0"/>
              <a:t>X</a:t>
            </a:r>
            <a:r>
              <a:rPr lang="en-US" sz="2000" baseline="-25000" dirty="0"/>
              <a:t>3</a:t>
            </a:r>
            <a:r>
              <a:rPr lang="en-US" sz="2000" dirty="0"/>
              <a:t> corresponding “11” 		X</a:t>
            </a:r>
            <a:r>
              <a:rPr lang="en-US" sz="2000" baseline="-25000" dirty="0"/>
              <a:t>3</a:t>
            </a:r>
            <a:r>
              <a:rPr lang="en-US" sz="2000" dirty="0"/>
              <a:t>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↔ Y</a:t>
            </a:r>
            <a:r>
              <a:rPr lang="en-US" sz="2000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ja-JP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50" charset="-128"/>
              </a:rPr>
              <a:t>∧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r>
              <a:rPr lang="en-US" sz="200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  <a:p>
            <a:r>
              <a:rPr lang="en-US" sz="2000" dirty="0">
                <a:latin typeface="+mj-lt"/>
                <a:cs typeface="Arial" panose="020B0604020202020204" pitchFamily="34" charset="0"/>
              </a:rPr>
              <a:t>AMO Encoding: </a:t>
            </a:r>
          </a:p>
          <a:p>
            <a:pPr marL="581025" lvl="1" indent="0">
              <a:buNone/>
            </a:pPr>
            <a:r>
              <a:rPr lang="en-US" sz="1800" b="1" dirty="0">
                <a:latin typeface="+mj-lt"/>
                <a:cs typeface="Arial" panose="020B0604020202020204" pitchFamily="34" charset="0"/>
              </a:rPr>
              <a:t>(X</a:t>
            </a:r>
            <a:r>
              <a:rPr lang="en-US" sz="1800" b="1" baseline="-25000" dirty="0">
                <a:latin typeface="+mj-lt"/>
                <a:cs typeface="Arial" panose="020B0604020202020204" pitchFamily="34" charset="0"/>
              </a:rPr>
              <a:t>1</a:t>
            </a:r>
            <a:r>
              <a:rPr lang="en-US" sz="1800" b="1" dirty="0">
                <a:latin typeface="+mj-lt"/>
                <a:cs typeface="Arial" panose="020B0604020202020204" pitchFamily="34" charset="0"/>
              </a:rPr>
              <a:t> </a:t>
            </a:r>
            <a:r>
              <a:rPr lang="en-US" sz="1800" b="1" dirty="0">
                <a:latin typeface="+mj-lt"/>
                <a:cs typeface="Arial" panose="020B0604020202020204" pitchFamily="34" charset="0"/>
                <a:sym typeface="Wingdings" panose="05000000000000000000" pitchFamily="2" charset="2"/>
              </a:rPr>
              <a:t></a:t>
            </a:r>
            <a:r>
              <a:rPr lang="en-US" sz="1800" b="1" baseline="-25000" dirty="0">
                <a:latin typeface="+mj-lt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ja-JP" altLang="en-US" sz="1800" b="1" dirty="0">
                <a:latin typeface="+mj-lt"/>
              </a:rPr>
              <a:t>￢</a:t>
            </a:r>
            <a:r>
              <a:rPr lang="en-US" sz="1800" b="1" dirty="0">
                <a:latin typeface="+mj-lt"/>
                <a:cs typeface="Arial" panose="020B0604020202020204" pitchFamily="34" charset="0"/>
              </a:rPr>
              <a:t>Y</a:t>
            </a:r>
            <a:r>
              <a:rPr lang="en-US" sz="1800" b="1" baseline="-25000" dirty="0">
                <a:latin typeface="+mj-lt"/>
                <a:cs typeface="Arial" panose="020B0604020202020204" pitchFamily="34" charset="0"/>
              </a:rPr>
              <a:t>2</a:t>
            </a:r>
            <a:r>
              <a:rPr lang="en-US" sz="1800" b="1" dirty="0">
                <a:latin typeface="+mj-lt"/>
                <a:cs typeface="Arial" panose="020B0604020202020204" pitchFamily="34" charset="0"/>
              </a:rPr>
              <a:t>) </a:t>
            </a:r>
            <a:r>
              <a:rPr kumimoji="1" lang="en-US" altLang="ja-JP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ＭＳ Ｐゴシック" pitchFamily="50" charset="-128"/>
              </a:rPr>
              <a:t>∧ </a:t>
            </a:r>
            <a:r>
              <a:rPr lang="en-US" sz="1800" b="1" dirty="0">
                <a:latin typeface="+mj-lt"/>
                <a:cs typeface="Arial" panose="020B0604020202020204" pitchFamily="34" charset="0"/>
              </a:rPr>
              <a:t>(X</a:t>
            </a:r>
            <a:r>
              <a:rPr lang="en-US" sz="1800" b="1" baseline="-25000" dirty="0">
                <a:latin typeface="+mj-lt"/>
                <a:cs typeface="Arial" panose="020B0604020202020204" pitchFamily="34" charset="0"/>
              </a:rPr>
              <a:t>2</a:t>
            </a:r>
            <a:r>
              <a:rPr lang="en-US" sz="1800" b="1" dirty="0">
                <a:latin typeface="+mj-lt"/>
                <a:cs typeface="Arial" panose="020B0604020202020204" pitchFamily="34" charset="0"/>
              </a:rPr>
              <a:t> </a:t>
            </a:r>
            <a:r>
              <a:rPr lang="en-US" sz="1800" b="1" dirty="0">
                <a:latin typeface="+mj-lt"/>
                <a:cs typeface="Arial" panose="020B0604020202020204" pitchFamily="34" charset="0"/>
                <a:sym typeface="Wingdings" panose="05000000000000000000" pitchFamily="2" charset="2"/>
              </a:rPr>
              <a:t></a:t>
            </a:r>
            <a:r>
              <a:rPr lang="en-US" sz="1800" b="1" baseline="-25000" dirty="0">
                <a:latin typeface="+mj-lt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ja-JP" altLang="en-US" sz="1800" b="1" dirty="0">
                <a:latin typeface="+mj-lt"/>
              </a:rPr>
              <a:t>￢</a:t>
            </a:r>
            <a:r>
              <a:rPr lang="en-US" sz="1800" b="1" dirty="0">
                <a:latin typeface="+mj-lt"/>
                <a:cs typeface="Arial" panose="020B0604020202020204" pitchFamily="34" charset="0"/>
              </a:rPr>
              <a:t>Y</a:t>
            </a:r>
            <a:r>
              <a:rPr lang="en-US" sz="1800" b="1" baseline="-25000" dirty="0">
                <a:latin typeface="+mj-lt"/>
                <a:cs typeface="Arial" panose="020B0604020202020204" pitchFamily="34" charset="0"/>
              </a:rPr>
              <a:t>1</a:t>
            </a:r>
            <a:r>
              <a:rPr lang="en-US" sz="1800" b="1" dirty="0">
                <a:latin typeface="+mj-lt"/>
                <a:cs typeface="Arial" panose="020B0604020202020204" pitchFamily="34" charset="0"/>
              </a:rPr>
              <a:t> </a:t>
            </a:r>
            <a:r>
              <a:rPr kumimoji="1" lang="en-US" altLang="ja-JP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ＭＳ Ｐゴシック" pitchFamily="50" charset="-128"/>
              </a:rPr>
              <a:t>∧ </a:t>
            </a:r>
            <a:r>
              <a:rPr lang="en-US" sz="1800" b="1" dirty="0">
                <a:latin typeface="+mj-lt"/>
                <a:cs typeface="Arial" panose="020B0604020202020204" pitchFamily="34" charset="0"/>
              </a:rPr>
              <a:t>Y</a:t>
            </a:r>
            <a:r>
              <a:rPr lang="en-US" sz="1800" b="1" baseline="-25000" dirty="0">
                <a:latin typeface="+mj-lt"/>
                <a:cs typeface="Arial" panose="020B0604020202020204" pitchFamily="34" charset="0"/>
              </a:rPr>
              <a:t>2</a:t>
            </a:r>
            <a:r>
              <a:rPr lang="en-US" sz="1800" b="1" dirty="0">
                <a:latin typeface="+mj-lt"/>
                <a:cs typeface="Arial" panose="020B0604020202020204" pitchFamily="34" charset="0"/>
              </a:rPr>
              <a:t>) </a:t>
            </a:r>
            <a:r>
              <a:rPr kumimoji="1" lang="en-US" altLang="ja-JP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ＭＳ Ｐゴシック" pitchFamily="50" charset="-128"/>
              </a:rPr>
              <a:t>∧ </a:t>
            </a:r>
            <a:r>
              <a:rPr lang="en-US" sz="1800" b="1" dirty="0">
                <a:latin typeface="+mj-lt"/>
                <a:cs typeface="Arial" panose="020B0604020202020204" pitchFamily="34" charset="0"/>
              </a:rPr>
              <a:t>(X</a:t>
            </a:r>
            <a:r>
              <a:rPr lang="en-US" sz="1800" b="1" baseline="-25000" dirty="0">
                <a:latin typeface="+mj-lt"/>
                <a:cs typeface="Arial" panose="020B0604020202020204" pitchFamily="34" charset="0"/>
              </a:rPr>
              <a:t>3</a:t>
            </a:r>
            <a:r>
              <a:rPr lang="en-US" sz="1800" b="1" dirty="0">
                <a:latin typeface="+mj-lt"/>
                <a:cs typeface="Arial" panose="020B0604020202020204" pitchFamily="34" charset="0"/>
              </a:rPr>
              <a:t> </a:t>
            </a:r>
            <a:r>
              <a:rPr lang="en-US" sz="1800" b="1" dirty="0">
                <a:latin typeface="+mj-lt"/>
                <a:cs typeface="Arial" panose="020B0604020202020204" pitchFamily="34" charset="0"/>
                <a:sym typeface="Wingdings" panose="05000000000000000000" pitchFamily="2" charset="2"/>
              </a:rPr>
              <a:t></a:t>
            </a:r>
            <a:r>
              <a:rPr lang="en-US" sz="1800" b="1" baseline="-25000" dirty="0">
                <a:latin typeface="+mj-lt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800" b="1" dirty="0">
                <a:latin typeface="+mj-lt"/>
                <a:cs typeface="Arial" panose="020B0604020202020204" pitchFamily="34" charset="0"/>
              </a:rPr>
              <a:t>Y</a:t>
            </a:r>
            <a:r>
              <a:rPr lang="en-US" sz="1800" b="1" baseline="-25000" dirty="0">
                <a:latin typeface="+mj-lt"/>
                <a:cs typeface="Arial" panose="020B0604020202020204" pitchFamily="34" charset="0"/>
              </a:rPr>
              <a:t>1</a:t>
            </a:r>
            <a:r>
              <a:rPr lang="en-US" sz="1800" b="1" dirty="0">
                <a:latin typeface="+mj-lt"/>
                <a:cs typeface="Arial" panose="020B0604020202020204" pitchFamily="34" charset="0"/>
              </a:rPr>
              <a:t> </a:t>
            </a:r>
            <a:r>
              <a:rPr kumimoji="1" lang="en-US" altLang="ja-JP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ＭＳ Ｐゴシック" pitchFamily="50" charset="-128"/>
              </a:rPr>
              <a:t>∧ </a:t>
            </a:r>
            <a:r>
              <a:rPr lang="en-US" sz="1800" b="1" dirty="0">
                <a:latin typeface="+mj-lt"/>
                <a:cs typeface="Arial" panose="020B0604020202020204" pitchFamily="34" charset="0"/>
              </a:rPr>
              <a:t>Y</a:t>
            </a:r>
            <a:r>
              <a:rPr lang="en-US" sz="1800" b="1" baseline="-25000" dirty="0">
                <a:latin typeface="+mj-lt"/>
                <a:cs typeface="Arial" panose="020B0604020202020204" pitchFamily="34" charset="0"/>
              </a:rPr>
              <a:t>2</a:t>
            </a:r>
            <a:r>
              <a:rPr lang="en-US" sz="1800" b="1" dirty="0">
                <a:latin typeface="+mj-lt"/>
                <a:cs typeface="Arial" panose="020B0604020202020204" pitchFamily="34" charset="0"/>
              </a:rPr>
              <a:t>)</a:t>
            </a:r>
          </a:p>
          <a:p>
            <a:r>
              <a:rPr lang="en-US" sz="2000" dirty="0">
                <a:latin typeface="+mj-lt"/>
                <a:cs typeface="Arial" panose="020B0604020202020204" pitchFamily="34" charset="0"/>
              </a:rPr>
              <a:t>ALO Encoding: </a:t>
            </a:r>
            <a:r>
              <a:rPr lang="en-US" sz="1800" b="1" dirty="0">
                <a:latin typeface="+mj-lt"/>
                <a:cs typeface="Arial" panose="020B0604020202020204" pitchFamily="34" charset="0"/>
              </a:rPr>
              <a:t>(X</a:t>
            </a:r>
            <a:r>
              <a:rPr lang="en-US" sz="1800" b="1" baseline="-25000" dirty="0">
                <a:latin typeface="+mj-lt"/>
                <a:cs typeface="Arial" panose="020B0604020202020204" pitchFamily="34" charset="0"/>
              </a:rPr>
              <a:t>1</a:t>
            </a:r>
            <a:r>
              <a:rPr lang="en-US" sz="1800" b="1" dirty="0">
                <a:latin typeface="+mj-lt"/>
                <a:cs typeface="Arial" panose="020B0604020202020204" pitchFamily="34" charset="0"/>
              </a:rPr>
              <a:t> v X</a:t>
            </a:r>
            <a:r>
              <a:rPr lang="en-US" sz="1800" b="1" baseline="-25000" dirty="0">
                <a:latin typeface="+mj-lt"/>
                <a:cs typeface="Arial" panose="020B0604020202020204" pitchFamily="34" charset="0"/>
              </a:rPr>
              <a:t>2</a:t>
            </a:r>
            <a:r>
              <a:rPr lang="en-US" sz="1800" b="1" dirty="0">
                <a:latin typeface="+mj-lt"/>
                <a:cs typeface="Arial" panose="020B0604020202020204" pitchFamily="34" charset="0"/>
              </a:rPr>
              <a:t> v X</a:t>
            </a:r>
            <a:r>
              <a:rPr lang="en-US" sz="1800" b="1" baseline="-25000" dirty="0">
                <a:latin typeface="+mj-lt"/>
                <a:cs typeface="Arial" panose="020B0604020202020204" pitchFamily="34" charset="0"/>
              </a:rPr>
              <a:t>3</a:t>
            </a:r>
            <a:r>
              <a:rPr lang="en-US" sz="1800" b="1" dirty="0">
                <a:latin typeface="+mj-lt"/>
                <a:cs typeface="Arial" panose="020B0604020202020204" pitchFamily="34" charset="0"/>
              </a:rPr>
              <a:t>) </a:t>
            </a:r>
            <a:r>
              <a:rPr lang="en-US" sz="1800" dirty="0">
                <a:latin typeface="+mj-lt"/>
                <a:cs typeface="Arial" panose="020B0604020202020204" pitchFamily="34" charset="0"/>
              </a:rPr>
              <a:t>or</a:t>
            </a:r>
            <a:r>
              <a:rPr lang="en-US" sz="1800" b="1" dirty="0">
                <a:latin typeface="+mj-lt"/>
                <a:cs typeface="Arial" panose="020B0604020202020204" pitchFamily="34" charset="0"/>
              </a:rPr>
              <a:t> (</a:t>
            </a:r>
            <a:r>
              <a:rPr lang="ja-JP" altLang="en-US" sz="1800" b="1" dirty="0">
                <a:latin typeface="+mj-lt"/>
              </a:rPr>
              <a:t>￢</a:t>
            </a:r>
            <a:r>
              <a:rPr lang="en-US" sz="1800" b="1" dirty="0">
                <a:latin typeface="+mj-lt"/>
                <a:cs typeface="Arial" panose="020B0604020202020204" pitchFamily="34" charset="0"/>
              </a:rPr>
              <a:t>Y</a:t>
            </a:r>
            <a:r>
              <a:rPr lang="en-US" sz="1800" b="1" baseline="-25000" dirty="0">
                <a:latin typeface="+mj-lt"/>
                <a:cs typeface="Arial" panose="020B0604020202020204" pitchFamily="34" charset="0"/>
              </a:rPr>
              <a:t>2 </a:t>
            </a:r>
            <a:r>
              <a:rPr lang="en-US" sz="1800" b="1" dirty="0">
                <a:latin typeface="+mj-lt"/>
                <a:cs typeface="Arial" panose="020B0604020202020204" pitchFamily="34" charset="0"/>
                <a:sym typeface="Wingdings" panose="05000000000000000000" pitchFamily="2" charset="2"/>
              </a:rPr>
              <a:t></a:t>
            </a:r>
            <a:r>
              <a:rPr lang="en-US" sz="1800" b="1" dirty="0">
                <a:latin typeface="+mj-lt"/>
                <a:cs typeface="Arial" panose="020B0604020202020204" pitchFamily="34" charset="0"/>
              </a:rPr>
              <a:t> X</a:t>
            </a:r>
            <a:r>
              <a:rPr lang="en-US" sz="1800" b="1" baseline="-25000" dirty="0">
                <a:latin typeface="+mj-lt"/>
                <a:cs typeface="Arial" panose="020B0604020202020204" pitchFamily="34" charset="0"/>
              </a:rPr>
              <a:t>1</a:t>
            </a:r>
            <a:r>
              <a:rPr lang="en-US" sz="1800" b="1" dirty="0">
                <a:latin typeface="+mj-lt"/>
                <a:cs typeface="Arial" panose="020B0604020202020204" pitchFamily="34" charset="0"/>
              </a:rPr>
              <a:t>) </a:t>
            </a:r>
            <a:r>
              <a:rPr kumimoji="1" lang="en-US" altLang="ja-JP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ＭＳ Ｐゴシック" pitchFamily="50" charset="-128"/>
              </a:rPr>
              <a:t>∧ </a:t>
            </a:r>
            <a:r>
              <a:rPr lang="en-US" sz="1800" b="1" dirty="0">
                <a:latin typeface="+mj-lt"/>
                <a:cs typeface="Arial" panose="020B0604020202020204" pitchFamily="34" charset="0"/>
              </a:rPr>
              <a:t>((</a:t>
            </a:r>
            <a:r>
              <a:rPr lang="ja-JP" altLang="en-US" sz="1800" b="1" dirty="0">
                <a:latin typeface="+mj-lt"/>
              </a:rPr>
              <a:t>￢</a:t>
            </a:r>
            <a:r>
              <a:rPr lang="en-US" sz="1800" b="1" dirty="0">
                <a:latin typeface="+mj-lt"/>
                <a:cs typeface="Arial" panose="020B0604020202020204" pitchFamily="34" charset="0"/>
              </a:rPr>
              <a:t>Y</a:t>
            </a:r>
            <a:r>
              <a:rPr lang="en-US" sz="1800" b="1" baseline="-25000" dirty="0">
                <a:latin typeface="+mj-lt"/>
                <a:cs typeface="Arial" panose="020B0604020202020204" pitchFamily="34" charset="0"/>
              </a:rPr>
              <a:t>1</a:t>
            </a:r>
            <a:r>
              <a:rPr lang="en-US" sz="1800" b="1" dirty="0">
                <a:latin typeface="+mj-lt"/>
                <a:cs typeface="Arial" panose="020B0604020202020204" pitchFamily="34" charset="0"/>
              </a:rPr>
              <a:t> </a:t>
            </a:r>
            <a:r>
              <a:rPr kumimoji="1" lang="en-US" altLang="ja-JP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ＭＳ Ｐゴシック" pitchFamily="50" charset="-128"/>
              </a:rPr>
              <a:t>∧ </a:t>
            </a:r>
            <a:r>
              <a:rPr lang="en-US" sz="1800" b="1" dirty="0">
                <a:latin typeface="+mj-lt"/>
                <a:cs typeface="Arial" panose="020B0604020202020204" pitchFamily="34" charset="0"/>
              </a:rPr>
              <a:t>Y</a:t>
            </a:r>
            <a:r>
              <a:rPr lang="en-US" sz="1800" b="1" baseline="-25000" dirty="0">
                <a:latin typeface="+mj-lt"/>
                <a:cs typeface="Arial" panose="020B0604020202020204" pitchFamily="34" charset="0"/>
              </a:rPr>
              <a:t>2</a:t>
            </a:r>
            <a:r>
              <a:rPr lang="en-US" sz="1800" b="1" dirty="0">
                <a:latin typeface="+mj-lt"/>
                <a:cs typeface="Arial" panose="020B0604020202020204" pitchFamily="34" charset="0"/>
              </a:rPr>
              <a:t>)</a:t>
            </a:r>
            <a:r>
              <a:rPr lang="en-US" sz="1800" b="1" dirty="0">
                <a:latin typeface="+mj-lt"/>
                <a:cs typeface="Arial" panose="020B0604020202020204" pitchFamily="34" charset="0"/>
                <a:sym typeface="Wingdings" panose="05000000000000000000" pitchFamily="2" charset="2"/>
              </a:rPr>
              <a:t></a:t>
            </a:r>
            <a:r>
              <a:rPr lang="en-US" sz="1800" b="1" dirty="0">
                <a:latin typeface="+mj-lt"/>
                <a:cs typeface="Arial" panose="020B0604020202020204" pitchFamily="34" charset="0"/>
              </a:rPr>
              <a:t> X</a:t>
            </a:r>
            <a:r>
              <a:rPr lang="en-US" sz="1800" b="1" baseline="-25000" dirty="0">
                <a:latin typeface="+mj-lt"/>
                <a:cs typeface="Arial" panose="020B0604020202020204" pitchFamily="34" charset="0"/>
              </a:rPr>
              <a:t>2</a:t>
            </a:r>
            <a:r>
              <a:rPr lang="en-US" sz="1800" b="1" dirty="0">
                <a:latin typeface="+mj-lt"/>
                <a:cs typeface="Arial" panose="020B0604020202020204" pitchFamily="34" charset="0"/>
              </a:rPr>
              <a:t>) </a:t>
            </a:r>
            <a:r>
              <a:rPr kumimoji="1" lang="en-US" altLang="ja-JP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ＭＳ Ｐゴシック" pitchFamily="50" charset="-128"/>
              </a:rPr>
              <a:t>∧ </a:t>
            </a:r>
            <a:r>
              <a:rPr lang="en-US" sz="1800" b="1" dirty="0">
                <a:latin typeface="+mj-lt"/>
                <a:cs typeface="Arial" panose="020B0604020202020204" pitchFamily="34" charset="0"/>
              </a:rPr>
              <a:t>((Y</a:t>
            </a:r>
            <a:r>
              <a:rPr lang="en-US" sz="1800" b="1" baseline="-25000" dirty="0">
                <a:latin typeface="+mj-lt"/>
                <a:cs typeface="Arial" panose="020B0604020202020204" pitchFamily="34" charset="0"/>
              </a:rPr>
              <a:t>1</a:t>
            </a:r>
            <a:r>
              <a:rPr lang="en-US" sz="1800" b="1" dirty="0">
                <a:latin typeface="+mj-lt"/>
                <a:cs typeface="Arial" panose="020B0604020202020204" pitchFamily="34" charset="0"/>
              </a:rPr>
              <a:t> </a:t>
            </a:r>
            <a:r>
              <a:rPr kumimoji="1" lang="en-US" altLang="ja-JP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ＭＳ Ｐゴシック" pitchFamily="50" charset="-128"/>
              </a:rPr>
              <a:t>∧ </a:t>
            </a:r>
            <a:r>
              <a:rPr lang="en-US" sz="1800" b="1" dirty="0">
                <a:latin typeface="+mj-lt"/>
                <a:cs typeface="Arial" panose="020B0604020202020204" pitchFamily="34" charset="0"/>
              </a:rPr>
              <a:t>Y</a:t>
            </a:r>
            <a:r>
              <a:rPr lang="en-US" sz="1800" b="1" baseline="-25000" dirty="0">
                <a:latin typeface="+mj-lt"/>
                <a:cs typeface="Arial" panose="020B0604020202020204" pitchFamily="34" charset="0"/>
              </a:rPr>
              <a:t>2</a:t>
            </a:r>
            <a:r>
              <a:rPr lang="en-US" sz="1800" b="1" dirty="0">
                <a:latin typeface="+mj-lt"/>
                <a:cs typeface="Arial" panose="020B0604020202020204" pitchFamily="34" charset="0"/>
              </a:rPr>
              <a:t>) </a:t>
            </a:r>
            <a:r>
              <a:rPr lang="en-US" sz="1800" b="1" dirty="0">
                <a:latin typeface="+mj-lt"/>
                <a:cs typeface="Arial" panose="020B0604020202020204" pitchFamily="34" charset="0"/>
                <a:sym typeface="Wingdings" panose="05000000000000000000" pitchFamily="2" charset="2"/>
              </a:rPr>
              <a:t></a:t>
            </a:r>
            <a:r>
              <a:rPr lang="en-US" sz="1800" b="1" dirty="0">
                <a:latin typeface="+mj-lt"/>
                <a:cs typeface="Arial" panose="020B0604020202020204" pitchFamily="34" charset="0"/>
              </a:rPr>
              <a:t> X</a:t>
            </a:r>
            <a:r>
              <a:rPr lang="en-US" sz="1800" b="1" baseline="-25000" dirty="0">
                <a:latin typeface="+mj-lt"/>
                <a:cs typeface="Arial" panose="020B0604020202020204" pitchFamily="34" charset="0"/>
              </a:rPr>
              <a:t>3</a:t>
            </a:r>
            <a:r>
              <a:rPr lang="en-US" sz="1800" b="1" dirty="0">
                <a:latin typeface="+mj-lt"/>
                <a:cs typeface="Arial" panose="020B0604020202020204" pitchFamily="34" charset="0"/>
              </a:rPr>
              <a:t>)</a:t>
            </a:r>
          </a:p>
          <a:p>
            <a:endParaRPr lang="en-US" sz="1800" b="1" dirty="0">
              <a:latin typeface="+mj-lt"/>
            </a:endParaRPr>
          </a:p>
          <a:p>
            <a:pPr lvl="3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07735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A96100-C153-41DA-AFCC-58EB60CD11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encoding (4)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BA5020-A852-43FC-8FCB-E5309E2006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76400"/>
            <a:ext cx="8610600" cy="4130675"/>
          </a:xfrm>
        </p:spPr>
        <p:txBody>
          <a:bodyPr/>
          <a:lstStyle/>
          <a:p>
            <a:r>
              <a:rPr lang="en-US" dirty="0"/>
              <a:t>For n = 5 (X</a:t>
            </a:r>
            <a:r>
              <a:rPr lang="en-US" baseline="-25000" dirty="0"/>
              <a:t>1</a:t>
            </a:r>
            <a:r>
              <a:rPr lang="en-US" dirty="0"/>
              <a:t>, X</a:t>
            </a:r>
            <a:r>
              <a:rPr lang="en-US" baseline="-25000" dirty="0"/>
              <a:t>2</a:t>
            </a:r>
            <a:r>
              <a:rPr lang="en-US" dirty="0"/>
              <a:t>, X</a:t>
            </a:r>
            <a:r>
              <a:rPr lang="en-US" baseline="-25000" dirty="0"/>
              <a:t>3</a:t>
            </a:r>
            <a:r>
              <a:rPr lang="en-US" dirty="0"/>
              <a:t>, X</a:t>
            </a:r>
            <a:r>
              <a:rPr lang="en-US" baseline="-25000" dirty="0"/>
              <a:t>4</a:t>
            </a:r>
            <a:r>
              <a:rPr lang="en-US" dirty="0"/>
              <a:t>, X</a:t>
            </a:r>
            <a:r>
              <a:rPr lang="en-US" baseline="-25000" dirty="0"/>
              <a:t>5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sz="2000" dirty="0"/>
              <a:t>X</a:t>
            </a:r>
            <a:r>
              <a:rPr lang="en-US" sz="2000" baseline="-25000" dirty="0"/>
              <a:t>1</a:t>
            </a:r>
            <a:r>
              <a:rPr lang="en-US" sz="2000" dirty="0"/>
              <a:t> corresponding “000” 		X</a:t>
            </a:r>
            <a:r>
              <a:rPr lang="en-US" sz="2000" baseline="-25000" dirty="0"/>
              <a:t>1</a:t>
            </a:r>
            <a:r>
              <a:rPr lang="en-US" sz="2000" dirty="0"/>
              <a:t>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↔ </a:t>
            </a:r>
            <a:r>
              <a:rPr lang="ja-JP" altLang="en-US" sz="2000" dirty="0"/>
              <a:t>￢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r>
              <a:rPr lang="en-US" sz="2000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ja-JP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50" charset="-128"/>
              </a:rPr>
              <a:t>∧ </a:t>
            </a:r>
            <a:r>
              <a:rPr lang="ja-JP" altLang="en-US" sz="2000" dirty="0"/>
              <a:t>￢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r>
              <a:rPr lang="en-US" sz="2000" baseline="-25000" dirty="0">
                <a:latin typeface="Arial" panose="020B0604020202020204" pitchFamily="34" charset="0"/>
                <a:cs typeface="Arial" panose="020B0604020202020204" pitchFamily="34" charset="0"/>
              </a:rPr>
              <a:t>2 </a:t>
            </a:r>
            <a:r>
              <a:rPr kumimoji="1" lang="en-US" altLang="ja-JP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50" charset="-128"/>
              </a:rPr>
              <a:t>∧ </a:t>
            </a:r>
            <a:r>
              <a:rPr lang="ja-JP" altLang="en-US" sz="2000" dirty="0"/>
              <a:t>￢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r>
              <a:rPr lang="en-US" sz="2000" baseline="-250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  <a:p>
            <a:pPr marL="0" indent="0">
              <a:buNone/>
            </a:pPr>
            <a:r>
              <a:rPr lang="en-US" sz="2000" dirty="0"/>
              <a:t>X</a:t>
            </a:r>
            <a:r>
              <a:rPr lang="en-US" sz="2000" baseline="-25000" dirty="0"/>
              <a:t>2</a:t>
            </a:r>
            <a:r>
              <a:rPr lang="en-US" sz="2000" dirty="0"/>
              <a:t> corresponding “001” 		X</a:t>
            </a:r>
            <a:r>
              <a:rPr lang="en-US" sz="2000" baseline="-25000" dirty="0"/>
              <a:t>2</a:t>
            </a:r>
            <a:r>
              <a:rPr lang="en-US" sz="2000" dirty="0"/>
              <a:t>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↔ Y</a:t>
            </a:r>
            <a:r>
              <a:rPr lang="en-US" sz="2000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ja-JP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50" charset="-128"/>
              </a:rPr>
              <a:t>∧ </a:t>
            </a:r>
            <a:r>
              <a:rPr lang="ja-JP" altLang="en-US" sz="2000" dirty="0"/>
              <a:t>￢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r>
              <a:rPr lang="en-US" sz="200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kumimoji="1" lang="en-US" altLang="ja-JP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50" charset="-128"/>
              </a:rPr>
              <a:t> ∧ </a:t>
            </a:r>
            <a:r>
              <a:rPr lang="ja-JP" altLang="en-US" sz="2000" dirty="0"/>
              <a:t>￢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r>
              <a:rPr lang="en-US" sz="2000" baseline="-250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  <a:p>
            <a:pPr marL="0" indent="0">
              <a:buNone/>
            </a:pPr>
            <a:r>
              <a:rPr lang="en-US" sz="2000" dirty="0"/>
              <a:t>X</a:t>
            </a:r>
            <a:r>
              <a:rPr lang="en-US" sz="2000" baseline="-25000" dirty="0"/>
              <a:t>3</a:t>
            </a:r>
            <a:r>
              <a:rPr lang="en-US" sz="2000" dirty="0"/>
              <a:t> corresponding “010” 		X</a:t>
            </a:r>
            <a:r>
              <a:rPr lang="en-US" sz="2000" baseline="-25000" dirty="0"/>
              <a:t>3</a:t>
            </a:r>
            <a:r>
              <a:rPr lang="en-US" sz="2000" dirty="0"/>
              <a:t>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↔ </a:t>
            </a:r>
            <a:r>
              <a:rPr lang="ja-JP" altLang="en-US" sz="2000" dirty="0"/>
              <a:t>￢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r>
              <a:rPr lang="en-US" sz="2000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ja-JP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50" charset="-128"/>
              </a:rPr>
              <a:t>∧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r>
              <a:rPr lang="en-US" sz="200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kumimoji="1" lang="en-US" altLang="ja-JP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50" charset="-128"/>
              </a:rPr>
              <a:t> ∧ </a:t>
            </a:r>
            <a:r>
              <a:rPr lang="ja-JP" altLang="en-US" sz="2000" dirty="0"/>
              <a:t>￢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r>
              <a:rPr lang="en-US" sz="2000" baseline="-250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  <a:p>
            <a:pPr marL="0" indent="0">
              <a:buNone/>
            </a:pPr>
            <a:r>
              <a:rPr lang="en-US" sz="2000" dirty="0"/>
              <a:t>X</a:t>
            </a:r>
            <a:r>
              <a:rPr lang="en-US" sz="2000" baseline="-25000" dirty="0"/>
              <a:t>4</a:t>
            </a:r>
            <a:r>
              <a:rPr lang="en-US" sz="2000" dirty="0"/>
              <a:t> corresponding “100” 		X</a:t>
            </a:r>
            <a:r>
              <a:rPr lang="en-US" sz="2000" baseline="-25000" dirty="0"/>
              <a:t>4</a:t>
            </a:r>
            <a:r>
              <a:rPr lang="en-US" sz="2000" dirty="0"/>
              <a:t>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↔ </a:t>
            </a:r>
            <a:r>
              <a:rPr lang="ja-JP" altLang="en-US" sz="2000" dirty="0"/>
              <a:t>￢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r>
              <a:rPr lang="en-US" sz="2000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ja-JP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50" charset="-128"/>
              </a:rPr>
              <a:t>∧ </a:t>
            </a:r>
            <a:r>
              <a:rPr lang="ja-JP" altLang="en-US" sz="2000" dirty="0"/>
              <a:t>￢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r>
              <a:rPr lang="en-US" sz="200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kumimoji="1" lang="en-US" altLang="ja-JP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50" charset="-128"/>
              </a:rPr>
              <a:t> ∧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r>
              <a:rPr lang="en-US" sz="2000" baseline="-250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  <a:p>
            <a:pPr marL="0" indent="0">
              <a:buNone/>
            </a:pPr>
            <a:r>
              <a:rPr lang="en-US" sz="2000" dirty="0"/>
              <a:t>X</a:t>
            </a:r>
            <a:r>
              <a:rPr lang="en-US" sz="2000" baseline="-25000" dirty="0"/>
              <a:t>5</a:t>
            </a:r>
            <a:r>
              <a:rPr lang="en-US" sz="2000" dirty="0"/>
              <a:t> corresponding “011” 		X</a:t>
            </a:r>
            <a:r>
              <a:rPr lang="en-US" sz="2000" baseline="-25000" dirty="0"/>
              <a:t>5</a:t>
            </a:r>
            <a:r>
              <a:rPr lang="en-US" sz="2000" dirty="0"/>
              <a:t>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↔ Y</a:t>
            </a:r>
            <a:r>
              <a:rPr lang="en-US" sz="2000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ja-JP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50" charset="-128"/>
              </a:rPr>
              <a:t>∧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r>
              <a:rPr lang="en-US" sz="200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ja-JP" altLang="en-US" sz="2000" dirty="0"/>
              <a:t> </a:t>
            </a:r>
            <a:r>
              <a:rPr kumimoji="1" lang="en-US" altLang="ja-JP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50" charset="-128"/>
              </a:rPr>
              <a:t>∧ </a:t>
            </a:r>
            <a:r>
              <a:rPr lang="ja-JP" altLang="en-US" sz="2000" dirty="0"/>
              <a:t>￢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r>
              <a:rPr lang="en-US" sz="2000" baseline="-250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  <a:p>
            <a:r>
              <a:rPr lang="en-US" sz="2000" dirty="0">
                <a:latin typeface="+mj-lt"/>
                <a:cs typeface="Arial" panose="020B0604020202020204" pitchFamily="34" charset="0"/>
              </a:rPr>
              <a:t>AMO Encoding: </a:t>
            </a:r>
          </a:p>
          <a:p>
            <a:pPr marL="581025" lvl="1" indent="0">
              <a:buNone/>
            </a:pPr>
            <a:r>
              <a:rPr lang="en-US" sz="1800" b="1" dirty="0">
                <a:latin typeface="+mj-lt"/>
                <a:cs typeface="Arial" panose="020B0604020202020204" pitchFamily="34" charset="0"/>
              </a:rPr>
              <a:t>(X</a:t>
            </a:r>
            <a:r>
              <a:rPr lang="en-US" sz="1800" b="1" baseline="-25000" dirty="0">
                <a:latin typeface="+mj-lt"/>
                <a:cs typeface="Arial" panose="020B0604020202020204" pitchFamily="34" charset="0"/>
              </a:rPr>
              <a:t>1</a:t>
            </a:r>
            <a:r>
              <a:rPr lang="en-US" sz="1800" b="1" dirty="0">
                <a:latin typeface="+mj-lt"/>
                <a:cs typeface="Arial" panose="020B0604020202020204" pitchFamily="34" charset="0"/>
              </a:rPr>
              <a:t> </a:t>
            </a:r>
            <a:r>
              <a:rPr lang="en-US" sz="1800" b="1" dirty="0">
                <a:latin typeface="+mj-lt"/>
                <a:cs typeface="Arial" panose="020B0604020202020204" pitchFamily="34" charset="0"/>
                <a:sym typeface="Wingdings" panose="05000000000000000000" pitchFamily="2" charset="2"/>
              </a:rPr>
              <a:t></a:t>
            </a:r>
            <a:r>
              <a:rPr lang="en-US" sz="1800" b="1" baseline="-25000" dirty="0">
                <a:latin typeface="+mj-lt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ja-JP" altLang="en-US" sz="1800" b="1" dirty="0">
                <a:latin typeface="+mj-lt"/>
              </a:rPr>
              <a:t>￢</a:t>
            </a:r>
            <a:r>
              <a:rPr lang="en-US" sz="1800" b="1" dirty="0">
                <a:latin typeface="+mj-lt"/>
                <a:cs typeface="Arial" panose="020B0604020202020204" pitchFamily="34" charset="0"/>
              </a:rPr>
              <a:t>Y</a:t>
            </a:r>
            <a:r>
              <a:rPr lang="en-US" sz="1800" b="1" baseline="-25000" dirty="0">
                <a:latin typeface="+mj-lt"/>
                <a:cs typeface="Arial" panose="020B0604020202020204" pitchFamily="34" charset="0"/>
              </a:rPr>
              <a:t>1</a:t>
            </a:r>
            <a:r>
              <a:rPr lang="en-US" sz="1800" b="1" dirty="0">
                <a:latin typeface="+mj-lt"/>
                <a:cs typeface="Arial" panose="020B0604020202020204" pitchFamily="34" charset="0"/>
              </a:rPr>
              <a:t> </a:t>
            </a:r>
            <a:r>
              <a:rPr kumimoji="1" lang="en-US" altLang="ja-JP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ＭＳ Ｐゴシック" pitchFamily="50" charset="-128"/>
              </a:rPr>
              <a:t>∧ </a:t>
            </a:r>
            <a:r>
              <a:rPr lang="ja-JP" altLang="en-US" sz="1800" b="1" dirty="0">
                <a:latin typeface="+mj-lt"/>
              </a:rPr>
              <a:t>￢</a:t>
            </a:r>
            <a:r>
              <a:rPr lang="en-US" sz="1800" b="1" dirty="0">
                <a:latin typeface="+mj-lt"/>
                <a:cs typeface="Arial" panose="020B0604020202020204" pitchFamily="34" charset="0"/>
              </a:rPr>
              <a:t>Y</a:t>
            </a:r>
            <a:r>
              <a:rPr lang="en-US" sz="1800" b="1" baseline="-25000" dirty="0">
                <a:latin typeface="+mj-lt"/>
                <a:cs typeface="Arial" panose="020B0604020202020204" pitchFamily="34" charset="0"/>
              </a:rPr>
              <a:t>2</a:t>
            </a:r>
            <a:r>
              <a:rPr kumimoji="1" lang="en-US" altLang="ja-JP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50" charset="-128"/>
              </a:rPr>
              <a:t> </a:t>
            </a:r>
            <a:r>
              <a:rPr kumimoji="1" lang="en-US" altLang="ja-JP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50" charset="-128"/>
              </a:rPr>
              <a:t>∧ </a:t>
            </a:r>
            <a:r>
              <a:rPr lang="ja-JP" altLang="en-US" sz="1800" b="1" dirty="0"/>
              <a:t>￢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r>
              <a:rPr lang="en-US" sz="1800" b="1" baseline="-250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n-US" sz="1800" b="1" dirty="0">
                <a:latin typeface="+mj-lt"/>
                <a:cs typeface="Arial" panose="020B0604020202020204" pitchFamily="34" charset="0"/>
              </a:rPr>
              <a:t>) </a:t>
            </a:r>
            <a:r>
              <a:rPr kumimoji="1" lang="en-US" altLang="ja-JP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ＭＳ Ｐゴシック" pitchFamily="50" charset="-128"/>
              </a:rPr>
              <a:t>∧ </a:t>
            </a:r>
            <a:r>
              <a:rPr lang="en-US" sz="1800" b="1" dirty="0">
                <a:latin typeface="+mj-lt"/>
                <a:cs typeface="Arial" panose="020B0604020202020204" pitchFamily="34" charset="0"/>
              </a:rPr>
              <a:t>(X</a:t>
            </a:r>
            <a:r>
              <a:rPr lang="en-US" sz="1800" b="1" baseline="-25000" dirty="0">
                <a:latin typeface="+mj-lt"/>
                <a:cs typeface="Arial" panose="020B0604020202020204" pitchFamily="34" charset="0"/>
              </a:rPr>
              <a:t>2</a:t>
            </a:r>
            <a:r>
              <a:rPr lang="en-US" sz="1800" b="1" dirty="0">
                <a:latin typeface="+mj-lt"/>
                <a:cs typeface="Arial" panose="020B0604020202020204" pitchFamily="34" charset="0"/>
              </a:rPr>
              <a:t> </a:t>
            </a:r>
            <a:r>
              <a:rPr lang="en-US" sz="1800" b="1" dirty="0">
                <a:latin typeface="+mj-lt"/>
                <a:cs typeface="Arial" panose="020B0604020202020204" pitchFamily="34" charset="0"/>
                <a:sym typeface="Wingdings" panose="05000000000000000000" pitchFamily="2" charset="2"/>
              </a:rPr>
              <a:t></a:t>
            </a:r>
            <a:r>
              <a:rPr lang="en-US" sz="1800" b="1" baseline="-25000" dirty="0">
                <a:latin typeface="+mj-lt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800" b="1" dirty="0">
                <a:latin typeface="+mj-lt"/>
                <a:cs typeface="Arial" panose="020B0604020202020204" pitchFamily="34" charset="0"/>
              </a:rPr>
              <a:t>Y</a:t>
            </a:r>
            <a:r>
              <a:rPr lang="en-US" sz="1800" b="1" baseline="-25000" dirty="0">
                <a:latin typeface="+mj-lt"/>
                <a:cs typeface="Arial" panose="020B0604020202020204" pitchFamily="34" charset="0"/>
              </a:rPr>
              <a:t>1</a:t>
            </a:r>
            <a:r>
              <a:rPr lang="en-US" sz="1800" b="1" dirty="0">
                <a:latin typeface="+mj-lt"/>
                <a:cs typeface="Arial" panose="020B0604020202020204" pitchFamily="34" charset="0"/>
              </a:rPr>
              <a:t> </a:t>
            </a:r>
            <a:r>
              <a:rPr kumimoji="1" lang="en-US" altLang="ja-JP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ＭＳ Ｐゴシック" pitchFamily="50" charset="-128"/>
              </a:rPr>
              <a:t>∧ </a:t>
            </a:r>
            <a:r>
              <a:rPr lang="ja-JP" altLang="en-US" sz="1800" b="1" dirty="0">
                <a:latin typeface="+mj-lt"/>
              </a:rPr>
              <a:t>￢</a:t>
            </a:r>
            <a:r>
              <a:rPr lang="en-US" sz="1800" b="1" dirty="0">
                <a:latin typeface="+mj-lt"/>
                <a:cs typeface="Arial" panose="020B0604020202020204" pitchFamily="34" charset="0"/>
              </a:rPr>
              <a:t>Y</a:t>
            </a:r>
            <a:r>
              <a:rPr lang="en-US" sz="1800" b="1" baseline="-25000" dirty="0">
                <a:latin typeface="+mj-lt"/>
                <a:cs typeface="Arial" panose="020B0604020202020204" pitchFamily="34" charset="0"/>
              </a:rPr>
              <a:t>2</a:t>
            </a:r>
            <a:r>
              <a:rPr kumimoji="1" lang="en-US" altLang="ja-JP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50" charset="-128"/>
              </a:rPr>
              <a:t> </a:t>
            </a:r>
            <a:r>
              <a:rPr kumimoji="1" lang="en-US" altLang="ja-JP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50" charset="-128"/>
              </a:rPr>
              <a:t>∧ </a:t>
            </a:r>
            <a:r>
              <a:rPr lang="ja-JP" altLang="en-US" sz="1800" b="1" dirty="0"/>
              <a:t>￢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r>
              <a:rPr lang="en-US" sz="1800" b="1" baseline="-250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n-US" sz="1800" b="1" dirty="0">
                <a:latin typeface="+mj-lt"/>
                <a:cs typeface="Arial" panose="020B0604020202020204" pitchFamily="34" charset="0"/>
              </a:rPr>
              <a:t>) </a:t>
            </a:r>
            <a:r>
              <a:rPr kumimoji="1" lang="en-US" altLang="ja-JP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ＭＳ Ｐゴシック" pitchFamily="50" charset="-128"/>
              </a:rPr>
              <a:t>∧ </a:t>
            </a:r>
            <a:r>
              <a:rPr lang="en-US" sz="1800" b="1" dirty="0">
                <a:latin typeface="+mj-lt"/>
                <a:cs typeface="Arial" panose="020B0604020202020204" pitchFamily="34" charset="0"/>
              </a:rPr>
              <a:t>(X</a:t>
            </a:r>
            <a:r>
              <a:rPr lang="en-US" sz="1800" b="1" baseline="-25000" dirty="0">
                <a:latin typeface="+mj-lt"/>
                <a:cs typeface="Arial" panose="020B0604020202020204" pitchFamily="34" charset="0"/>
              </a:rPr>
              <a:t>3</a:t>
            </a:r>
            <a:r>
              <a:rPr lang="en-US" sz="1800" b="1" dirty="0">
                <a:latin typeface="+mj-lt"/>
                <a:cs typeface="Arial" panose="020B0604020202020204" pitchFamily="34" charset="0"/>
              </a:rPr>
              <a:t> </a:t>
            </a:r>
            <a:r>
              <a:rPr lang="en-US" sz="1800" b="1" dirty="0">
                <a:latin typeface="+mj-lt"/>
                <a:cs typeface="Arial" panose="020B0604020202020204" pitchFamily="34" charset="0"/>
                <a:sym typeface="Wingdings" panose="05000000000000000000" pitchFamily="2" charset="2"/>
              </a:rPr>
              <a:t></a:t>
            </a:r>
            <a:r>
              <a:rPr lang="en-US" sz="1800" b="1" baseline="-25000" dirty="0">
                <a:latin typeface="+mj-lt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ja-JP" altLang="en-US" sz="1800" b="1" dirty="0">
                <a:latin typeface="+mj-lt"/>
              </a:rPr>
              <a:t>￢</a:t>
            </a:r>
            <a:r>
              <a:rPr lang="en-US" sz="1800" b="1" dirty="0">
                <a:latin typeface="+mj-lt"/>
                <a:cs typeface="Arial" panose="020B0604020202020204" pitchFamily="34" charset="0"/>
              </a:rPr>
              <a:t>Y</a:t>
            </a:r>
            <a:r>
              <a:rPr lang="en-US" sz="1800" b="1" baseline="-25000" dirty="0">
                <a:latin typeface="+mj-lt"/>
                <a:cs typeface="Arial" panose="020B0604020202020204" pitchFamily="34" charset="0"/>
              </a:rPr>
              <a:t>1</a:t>
            </a:r>
            <a:r>
              <a:rPr lang="en-US" sz="1800" b="1" dirty="0">
                <a:latin typeface="+mj-lt"/>
                <a:cs typeface="Arial" panose="020B0604020202020204" pitchFamily="34" charset="0"/>
              </a:rPr>
              <a:t> </a:t>
            </a:r>
            <a:r>
              <a:rPr kumimoji="1" lang="en-US" altLang="ja-JP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ＭＳ Ｐゴシック" pitchFamily="50" charset="-128"/>
              </a:rPr>
              <a:t>∧ </a:t>
            </a:r>
            <a:r>
              <a:rPr lang="en-US" sz="1800" b="1" dirty="0">
                <a:latin typeface="+mj-lt"/>
                <a:cs typeface="Arial" panose="020B0604020202020204" pitchFamily="34" charset="0"/>
              </a:rPr>
              <a:t>Y</a:t>
            </a:r>
            <a:r>
              <a:rPr lang="en-US" sz="1800" b="1" baseline="-25000" dirty="0">
                <a:latin typeface="+mj-lt"/>
                <a:cs typeface="Arial" panose="020B0604020202020204" pitchFamily="34" charset="0"/>
              </a:rPr>
              <a:t>2</a:t>
            </a:r>
            <a:r>
              <a:rPr kumimoji="1" lang="en-US" altLang="ja-JP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50" charset="-128"/>
              </a:rPr>
              <a:t> </a:t>
            </a:r>
            <a:r>
              <a:rPr kumimoji="1" lang="en-US" altLang="ja-JP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50" charset="-128"/>
              </a:rPr>
              <a:t>∧ </a:t>
            </a:r>
            <a:r>
              <a:rPr lang="ja-JP" altLang="en-US" sz="1800" b="1" dirty="0"/>
              <a:t>￢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r>
              <a:rPr lang="en-US" sz="1800" b="1" baseline="-250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n-US" sz="1800" b="1" dirty="0">
                <a:latin typeface="+mj-lt"/>
                <a:cs typeface="Arial" panose="020B0604020202020204" pitchFamily="34" charset="0"/>
              </a:rPr>
              <a:t>) </a:t>
            </a:r>
            <a:r>
              <a:rPr kumimoji="1" lang="en-US" altLang="ja-JP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ＭＳ Ｐゴシック" pitchFamily="50" charset="-128"/>
              </a:rPr>
              <a:t>∧ </a:t>
            </a:r>
            <a:r>
              <a:rPr lang="en-US" sz="1800" b="1" dirty="0">
                <a:latin typeface="+mj-lt"/>
                <a:cs typeface="Arial" panose="020B0604020202020204" pitchFamily="34" charset="0"/>
              </a:rPr>
              <a:t>(X</a:t>
            </a:r>
            <a:r>
              <a:rPr lang="en-US" sz="1800" b="1" baseline="-25000" dirty="0">
                <a:latin typeface="+mj-lt"/>
                <a:cs typeface="Arial" panose="020B0604020202020204" pitchFamily="34" charset="0"/>
              </a:rPr>
              <a:t>4</a:t>
            </a:r>
            <a:r>
              <a:rPr lang="en-US" sz="1800" b="1" dirty="0">
                <a:latin typeface="+mj-lt"/>
                <a:cs typeface="Arial" panose="020B0604020202020204" pitchFamily="34" charset="0"/>
              </a:rPr>
              <a:t> </a:t>
            </a:r>
            <a:r>
              <a:rPr lang="en-US" sz="1800" b="1" dirty="0">
                <a:latin typeface="+mj-lt"/>
                <a:cs typeface="Arial" panose="020B0604020202020204" pitchFamily="34" charset="0"/>
                <a:sym typeface="Wingdings" panose="05000000000000000000" pitchFamily="2" charset="2"/>
              </a:rPr>
              <a:t></a:t>
            </a:r>
            <a:r>
              <a:rPr lang="en-US" sz="1800" b="1" baseline="-25000" dirty="0">
                <a:latin typeface="+mj-lt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ja-JP" altLang="en-US" sz="1800" b="1" dirty="0"/>
              <a:t>￢</a:t>
            </a:r>
            <a:r>
              <a:rPr lang="en-US" sz="1800" b="1" dirty="0">
                <a:latin typeface="+mj-lt"/>
                <a:cs typeface="Arial" panose="020B0604020202020204" pitchFamily="34" charset="0"/>
              </a:rPr>
              <a:t>Y</a:t>
            </a:r>
            <a:r>
              <a:rPr lang="en-US" sz="1800" b="1" baseline="-25000" dirty="0">
                <a:latin typeface="+mj-lt"/>
                <a:cs typeface="Arial" panose="020B0604020202020204" pitchFamily="34" charset="0"/>
              </a:rPr>
              <a:t>1</a:t>
            </a:r>
            <a:r>
              <a:rPr lang="en-US" sz="1800" b="1" dirty="0">
                <a:latin typeface="+mj-lt"/>
                <a:cs typeface="Arial" panose="020B0604020202020204" pitchFamily="34" charset="0"/>
              </a:rPr>
              <a:t> </a:t>
            </a:r>
            <a:r>
              <a:rPr kumimoji="1" lang="en-US" altLang="ja-JP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ＭＳ Ｐゴシック" pitchFamily="50" charset="-128"/>
              </a:rPr>
              <a:t>∧ </a:t>
            </a:r>
            <a:r>
              <a:rPr lang="ja-JP" altLang="en-US" sz="1800" b="1" dirty="0"/>
              <a:t>￢</a:t>
            </a:r>
            <a:r>
              <a:rPr lang="en-US" sz="1800" b="1" dirty="0">
                <a:latin typeface="+mj-lt"/>
                <a:cs typeface="Arial" panose="020B0604020202020204" pitchFamily="34" charset="0"/>
              </a:rPr>
              <a:t>Y</a:t>
            </a:r>
            <a:r>
              <a:rPr lang="en-US" sz="1800" b="1" baseline="-25000" dirty="0">
                <a:latin typeface="+mj-lt"/>
                <a:cs typeface="Arial" panose="020B0604020202020204" pitchFamily="34" charset="0"/>
              </a:rPr>
              <a:t>2</a:t>
            </a:r>
            <a:r>
              <a:rPr kumimoji="1" lang="en-US" altLang="ja-JP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50" charset="-128"/>
              </a:rPr>
              <a:t> ∧ 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r>
              <a:rPr lang="en-US" sz="1800" b="1" baseline="-250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n-US" sz="1800" b="1" dirty="0">
                <a:latin typeface="+mj-lt"/>
                <a:cs typeface="Arial" panose="020B0604020202020204" pitchFamily="34" charset="0"/>
              </a:rPr>
              <a:t>) </a:t>
            </a:r>
            <a:r>
              <a:rPr kumimoji="1" lang="en-US" altLang="ja-JP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ＭＳ Ｐゴシック" pitchFamily="50" charset="-128"/>
              </a:rPr>
              <a:t>∧ </a:t>
            </a:r>
            <a:r>
              <a:rPr lang="en-US" sz="1800" b="1" dirty="0">
                <a:latin typeface="+mj-lt"/>
                <a:cs typeface="Arial" panose="020B0604020202020204" pitchFamily="34" charset="0"/>
              </a:rPr>
              <a:t>(X</a:t>
            </a:r>
            <a:r>
              <a:rPr lang="en-US" sz="1800" b="1" baseline="-25000" dirty="0">
                <a:latin typeface="+mj-lt"/>
                <a:cs typeface="Arial" panose="020B0604020202020204" pitchFamily="34" charset="0"/>
              </a:rPr>
              <a:t>5</a:t>
            </a:r>
            <a:r>
              <a:rPr lang="en-US" sz="1800" b="1" dirty="0">
                <a:latin typeface="+mj-lt"/>
                <a:cs typeface="Arial" panose="020B0604020202020204" pitchFamily="34" charset="0"/>
              </a:rPr>
              <a:t> </a:t>
            </a:r>
            <a:r>
              <a:rPr lang="en-US" sz="1800" b="1" dirty="0">
                <a:latin typeface="+mj-lt"/>
                <a:cs typeface="Arial" panose="020B0604020202020204" pitchFamily="34" charset="0"/>
                <a:sym typeface="Wingdings" panose="05000000000000000000" pitchFamily="2" charset="2"/>
              </a:rPr>
              <a:t></a:t>
            </a:r>
            <a:r>
              <a:rPr lang="en-US" sz="1800" b="1" baseline="-25000" dirty="0">
                <a:latin typeface="+mj-lt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800" b="1" dirty="0">
                <a:latin typeface="+mj-lt"/>
                <a:cs typeface="Arial" panose="020B0604020202020204" pitchFamily="34" charset="0"/>
              </a:rPr>
              <a:t>Y</a:t>
            </a:r>
            <a:r>
              <a:rPr lang="en-US" sz="1800" b="1" baseline="-25000" dirty="0">
                <a:latin typeface="+mj-lt"/>
                <a:cs typeface="Arial" panose="020B0604020202020204" pitchFamily="34" charset="0"/>
              </a:rPr>
              <a:t>1</a:t>
            </a:r>
            <a:r>
              <a:rPr lang="en-US" sz="1800" b="1" dirty="0">
                <a:latin typeface="+mj-lt"/>
                <a:cs typeface="Arial" panose="020B0604020202020204" pitchFamily="34" charset="0"/>
              </a:rPr>
              <a:t> </a:t>
            </a:r>
            <a:r>
              <a:rPr kumimoji="1" lang="en-US" altLang="ja-JP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ＭＳ Ｐゴシック" pitchFamily="50" charset="-128"/>
              </a:rPr>
              <a:t>∧ </a:t>
            </a:r>
            <a:r>
              <a:rPr lang="en-US" sz="1800" b="1" dirty="0">
                <a:latin typeface="+mj-lt"/>
                <a:cs typeface="Arial" panose="020B0604020202020204" pitchFamily="34" charset="0"/>
              </a:rPr>
              <a:t>Y</a:t>
            </a:r>
            <a:r>
              <a:rPr lang="en-US" sz="1800" b="1" baseline="-25000" dirty="0">
                <a:latin typeface="+mj-lt"/>
                <a:cs typeface="Arial" panose="020B0604020202020204" pitchFamily="34" charset="0"/>
              </a:rPr>
              <a:t>2</a:t>
            </a:r>
            <a:r>
              <a:rPr kumimoji="1" lang="en-US" altLang="ja-JP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50" charset="-128"/>
              </a:rPr>
              <a:t> ∧ </a:t>
            </a:r>
            <a:r>
              <a:rPr lang="ja-JP" altLang="en-US" sz="1800" b="1" dirty="0"/>
              <a:t>￢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r>
              <a:rPr lang="en-US" sz="1800" b="1" baseline="-250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n-US" sz="1800" b="1" dirty="0">
                <a:latin typeface="+mj-lt"/>
                <a:cs typeface="Arial" panose="020B0604020202020204" pitchFamily="34" charset="0"/>
              </a:rPr>
              <a:t>)</a:t>
            </a:r>
          </a:p>
          <a:p>
            <a:r>
              <a:rPr lang="en-US" sz="2000" dirty="0">
                <a:latin typeface="+mj-lt"/>
                <a:cs typeface="Arial" panose="020B0604020202020204" pitchFamily="34" charset="0"/>
              </a:rPr>
              <a:t>ALO Encoding: </a:t>
            </a:r>
            <a:r>
              <a:rPr lang="en-US" sz="1800" b="1" dirty="0">
                <a:latin typeface="+mj-lt"/>
                <a:cs typeface="Arial" panose="020B0604020202020204" pitchFamily="34" charset="0"/>
              </a:rPr>
              <a:t>(X</a:t>
            </a:r>
            <a:r>
              <a:rPr lang="en-US" sz="1800" b="1" baseline="-25000" dirty="0">
                <a:latin typeface="+mj-lt"/>
                <a:cs typeface="Arial" panose="020B0604020202020204" pitchFamily="34" charset="0"/>
              </a:rPr>
              <a:t>1</a:t>
            </a:r>
            <a:r>
              <a:rPr lang="en-US" sz="1800" b="1" dirty="0">
                <a:latin typeface="+mj-lt"/>
                <a:cs typeface="Arial" panose="020B0604020202020204" pitchFamily="34" charset="0"/>
              </a:rPr>
              <a:t> v X</a:t>
            </a:r>
            <a:r>
              <a:rPr lang="en-US" sz="1800" b="1" baseline="-25000" dirty="0">
                <a:latin typeface="+mj-lt"/>
                <a:cs typeface="Arial" panose="020B0604020202020204" pitchFamily="34" charset="0"/>
              </a:rPr>
              <a:t>2</a:t>
            </a:r>
            <a:r>
              <a:rPr lang="en-US" sz="1800" b="1" dirty="0">
                <a:latin typeface="+mj-lt"/>
                <a:cs typeface="Arial" panose="020B0604020202020204" pitchFamily="34" charset="0"/>
              </a:rPr>
              <a:t> v X</a:t>
            </a:r>
            <a:r>
              <a:rPr lang="en-US" sz="1800" b="1" baseline="-25000" dirty="0">
                <a:latin typeface="+mj-lt"/>
                <a:cs typeface="Arial" panose="020B0604020202020204" pitchFamily="34" charset="0"/>
              </a:rPr>
              <a:t>3</a:t>
            </a:r>
            <a:r>
              <a:rPr lang="en-US" sz="1800" b="1" dirty="0">
                <a:latin typeface="+mj-lt"/>
                <a:cs typeface="Arial" panose="020B0604020202020204" pitchFamily="34" charset="0"/>
              </a:rPr>
              <a:t> v X</a:t>
            </a:r>
            <a:r>
              <a:rPr lang="en-US" sz="1800" b="1" baseline="-25000" dirty="0">
                <a:latin typeface="+mj-lt"/>
                <a:cs typeface="Arial" panose="020B0604020202020204" pitchFamily="34" charset="0"/>
              </a:rPr>
              <a:t>4</a:t>
            </a:r>
            <a:r>
              <a:rPr lang="en-US" sz="1800" b="1" dirty="0">
                <a:latin typeface="+mj-lt"/>
                <a:cs typeface="Arial" panose="020B0604020202020204" pitchFamily="34" charset="0"/>
              </a:rPr>
              <a:t> v X</a:t>
            </a:r>
            <a:r>
              <a:rPr lang="en-US" sz="1800" b="1" baseline="-25000" dirty="0">
                <a:latin typeface="+mj-lt"/>
                <a:cs typeface="Arial" panose="020B0604020202020204" pitchFamily="34" charset="0"/>
              </a:rPr>
              <a:t>5</a:t>
            </a:r>
            <a:r>
              <a:rPr lang="en-US" sz="1800" b="1" dirty="0">
                <a:latin typeface="+mj-lt"/>
                <a:cs typeface="Arial" panose="020B0604020202020204" pitchFamily="34" charset="0"/>
              </a:rPr>
              <a:t>)</a:t>
            </a:r>
          </a:p>
          <a:p>
            <a:pPr marL="0" indent="0">
              <a:buNone/>
            </a:pPr>
            <a:r>
              <a:rPr lang="en-US" sz="2000" dirty="0">
                <a:sym typeface="Wingdings" panose="05000000000000000000" pitchFamily="2" charset="2"/>
              </a:rPr>
              <a:t> </a:t>
            </a:r>
            <a:r>
              <a:rPr lang="en-US" sz="2000" dirty="0">
                <a:solidFill>
                  <a:srgbClr val="FF0000"/>
                </a:solidFill>
              </a:rPr>
              <a:t>X</a:t>
            </a:r>
            <a:r>
              <a:rPr lang="en-US" sz="2000" baseline="-25000" dirty="0">
                <a:solidFill>
                  <a:srgbClr val="FF0000"/>
                </a:solidFill>
              </a:rPr>
              <a:t>1</a:t>
            </a:r>
            <a:r>
              <a:rPr lang="en-US" sz="2000" dirty="0">
                <a:solidFill>
                  <a:srgbClr val="FF0000"/>
                </a:solidFill>
              </a:rPr>
              <a:t> corresponding “000” or “001” or “010” or “100”? </a:t>
            </a:r>
            <a:r>
              <a:rPr lang="en-US" sz="2000" dirty="0"/>
              <a:t>	</a:t>
            </a:r>
            <a:endParaRPr lang="en-US" sz="2000" b="1" dirty="0">
              <a:latin typeface="+mj-lt"/>
            </a:endParaRPr>
          </a:p>
          <a:p>
            <a:pPr lvl="2"/>
            <a:endParaRPr lang="en-US" dirty="0"/>
          </a:p>
          <a:p>
            <a:pPr lvl="3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39122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86C89A-DDDC-4143-B472-74624D07B1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304800"/>
            <a:ext cx="8153400" cy="1108075"/>
          </a:xfrm>
        </p:spPr>
        <p:txBody>
          <a:bodyPr/>
          <a:lstStyle/>
          <a:p>
            <a:r>
              <a:rPr lang="en-US" dirty="0"/>
              <a:t>Sequential encounter encoding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6DE21D-C55B-4CAC-9A08-84E8126BAB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Idea:</a:t>
            </a:r>
          </a:p>
          <a:p>
            <a:pPr lvl="1"/>
            <a:r>
              <a:rPr lang="en-US" dirty="0"/>
              <a:t>Variables: X</a:t>
            </a:r>
            <a:r>
              <a:rPr lang="en-US" baseline="-25000" dirty="0"/>
              <a:t>1</a:t>
            </a:r>
            <a:r>
              <a:rPr lang="en-US" dirty="0"/>
              <a:t> X</a:t>
            </a:r>
            <a:r>
              <a:rPr lang="en-US" baseline="-25000" dirty="0"/>
              <a:t>2</a:t>
            </a:r>
            <a:r>
              <a:rPr lang="en-US" dirty="0"/>
              <a:t>, …, </a:t>
            </a:r>
            <a:r>
              <a:rPr lang="en-US" dirty="0" err="1"/>
              <a:t>X</a:t>
            </a:r>
            <a:r>
              <a:rPr lang="en-US" baseline="-25000" dirty="0" err="1"/>
              <a:t>n</a:t>
            </a:r>
            <a:r>
              <a:rPr lang="en-US" dirty="0"/>
              <a:t> and new (n-1) variables S</a:t>
            </a:r>
            <a:r>
              <a:rPr lang="en-US" baseline="-25000" dirty="0"/>
              <a:t>1</a:t>
            </a:r>
            <a:r>
              <a:rPr lang="en-US" dirty="0"/>
              <a:t>, S</a:t>
            </a:r>
            <a:r>
              <a:rPr lang="en-US" baseline="-25000" dirty="0"/>
              <a:t>2</a:t>
            </a:r>
            <a:r>
              <a:rPr lang="en-US" dirty="0"/>
              <a:t>, …, S</a:t>
            </a:r>
            <a:r>
              <a:rPr lang="en-US" baseline="-25000" dirty="0"/>
              <a:t>n-1</a:t>
            </a:r>
            <a:endParaRPr lang="en-US" dirty="0"/>
          </a:p>
          <a:p>
            <a:pPr lvl="1"/>
            <a:r>
              <a:rPr lang="en-US" i="1" dirty="0">
                <a:solidFill>
                  <a:schemeClr val="accent2"/>
                </a:solidFill>
              </a:rPr>
              <a:t>S</a:t>
            </a:r>
            <a:r>
              <a:rPr lang="en-US" i="1" baseline="-25000" dirty="0">
                <a:solidFill>
                  <a:schemeClr val="accent2"/>
                </a:solidFill>
              </a:rPr>
              <a:t>i</a:t>
            </a:r>
            <a:r>
              <a:rPr lang="en-US" i="1" dirty="0">
                <a:solidFill>
                  <a:schemeClr val="accent2"/>
                </a:solidFill>
              </a:rPr>
              <a:t> = True </a:t>
            </a:r>
            <a:r>
              <a:rPr lang="en-US" i="1" dirty="0" err="1">
                <a:solidFill>
                  <a:schemeClr val="accent2"/>
                </a:solidFill>
              </a:rPr>
              <a:t>iff</a:t>
            </a:r>
            <a:r>
              <a:rPr lang="en-US" i="1" dirty="0">
                <a:solidFill>
                  <a:schemeClr val="accent2"/>
                </a:solidFill>
              </a:rPr>
              <a:t> existing a Truth variable in (X</a:t>
            </a:r>
            <a:r>
              <a:rPr lang="en-US" i="1" baseline="-25000" dirty="0">
                <a:solidFill>
                  <a:schemeClr val="accent2"/>
                </a:solidFill>
              </a:rPr>
              <a:t>1</a:t>
            </a:r>
            <a:r>
              <a:rPr lang="en-US" i="1" dirty="0">
                <a:solidFill>
                  <a:schemeClr val="accent2"/>
                </a:solidFill>
              </a:rPr>
              <a:t>, X</a:t>
            </a:r>
            <a:r>
              <a:rPr lang="en-US" i="1" baseline="-25000" dirty="0">
                <a:solidFill>
                  <a:schemeClr val="accent2"/>
                </a:solidFill>
              </a:rPr>
              <a:t>2</a:t>
            </a:r>
            <a:r>
              <a:rPr lang="en-US" i="1" dirty="0">
                <a:solidFill>
                  <a:schemeClr val="accent2"/>
                </a:solidFill>
              </a:rPr>
              <a:t>,…, X</a:t>
            </a:r>
            <a:r>
              <a:rPr lang="en-US" i="1" baseline="-25000" dirty="0">
                <a:solidFill>
                  <a:schemeClr val="accent2"/>
                </a:solidFill>
              </a:rPr>
              <a:t>i</a:t>
            </a:r>
            <a:r>
              <a:rPr lang="en-US" i="1" dirty="0">
                <a:solidFill>
                  <a:schemeClr val="accent2"/>
                </a:solidFill>
              </a:rPr>
              <a:t>)</a:t>
            </a:r>
          </a:p>
          <a:p>
            <a:pPr lvl="1"/>
            <a:r>
              <a:rPr lang="en-US" i="1" dirty="0">
                <a:solidFill>
                  <a:schemeClr val="accent2"/>
                </a:solidFill>
              </a:rPr>
              <a:t>If S</a:t>
            </a:r>
            <a:r>
              <a:rPr lang="en-US" i="1" baseline="-25000" dirty="0">
                <a:solidFill>
                  <a:schemeClr val="accent2"/>
                </a:solidFill>
              </a:rPr>
              <a:t>i</a:t>
            </a:r>
            <a:r>
              <a:rPr lang="en-US" i="1" dirty="0">
                <a:solidFill>
                  <a:schemeClr val="accent2"/>
                </a:solidFill>
              </a:rPr>
              <a:t> = True then X</a:t>
            </a:r>
            <a:r>
              <a:rPr lang="en-US" i="1" baseline="-25000" dirty="0">
                <a:solidFill>
                  <a:schemeClr val="accent2"/>
                </a:solidFill>
              </a:rPr>
              <a:t>i+1</a:t>
            </a:r>
            <a:r>
              <a:rPr lang="en-US" i="1" dirty="0">
                <a:solidFill>
                  <a:schemeClr val="accent2"/>
                </a:solidFill>
              </a:rPr>
              <a:t> false</a:t>
            </a:r>
          </a:p>
          <a:p>
            <a:pPr lvl="1"/>
            <a:r>
              <a:rPr lang="en-US" dirty="0"/>
              <a:t>AMO Clauses: X</a:t>
            </a:r>
            <a:r>
              <a:rPr lang="en-US" baseline="-25000" dirty="0"/>
              <a:t>1</a:t>
            </a:r>
            <a:r>
              <a:rPr lang="en-US" dirty="0"/>
              <a:t> + X</a:t>
            </a:r>
            <a:r>
              <a:rPr lang="en-US" baseline="-25000" dirty="0"/>
              <a:t>2 </a:t>
            </a:r>
            <a:r>
              <a:rPr lang="en-US" dirty="0"/>
              <a:t>+ …+ </a:t>
            </a:r>
            <a:r>
              <a:rPr lang="en-US" dirty="0" err="1"/>
              <a:t>X</a:t>
            </a:r>
            <a:r>
              <a:rPr lang="en-US" baseline="-25000" dirty="0" err="1"/>
              <a:t>n</a:t>
            </a:r>
            <a:r>
              <a:rPr lang="en-US" baseline="-25000" dirty="0"/>
              <a:t> </a:t>
            </a:r>
            <a:r>
              <a:rPr lang="en-US" dirty="0"/>
              <a:t>&lt;= 1</a:t>
            </a:r>
          </a:p>
          <a:p>
            <a:pPr lvl="2"/>
            <a:r>
              <a:rPr lang="en-US" sz="2000" dirty="0"/>
              <a:t>X</a:t>
            </a:r>
            <a:r>
              <a:rPr lang="en-US" sz="2000" baseline="-25000" dirty="0"/>
              <a:t>1</a:t>
            </a:r>
            <a:r>
              <a:rPr lang="en-US" sz="2000" dirty="0"/>
              <a:t> </a:t>
            </a:r>
            <a:r>
              <a:rPr lang="en-US" sz="2000" dirty="0">
                <a:sym typeface="Wingdings" panose="05000000000000000000" pitchFamily="2" charset="2"/>
              </a:rPr>
              <a:t> S</a:t>
            </a:r>
            <a:r>
              <a:rPr lang="en-US" sz="2000" baseline="-25000" dirty="0">
                <a:sym typeface="Wingdings" panose="05000000000000000000" pitchFamily="2" charset="2"/>
              </a:rPr>
              <a:t>1 </a:t>
            </a:r>
            <a:r>
              <a:rPr kumimoji="1" lang="en-US" altLang="ja-JP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50" charset="-128"/>
              </a:rPr>
              <a:t>∧</a:t>
            </a:r>
            <a:endParaRPr lang="en-US" sz="2000" baseline="-25000" dirty="0">
              <a:sym typeface="Wingdings" panose="05000000000000000000" pitchFamily="2" charset="2"/>
            </a:endParaRPr>
          </a:p>
          <a:p>
            <a:pPr lvl="2"/>
            <a:r>
              <a:rPr lang="en-US" sz="2000" dirty="0">
                <a:sym typeface="Wingdings" panose="05000000000000000000" pitchFamily="2" charset="2"/>
              </a:rPr>
              <a:t>(X</a:t>
            </a:r>
            <a:r>
              <a:rPr lang="en-US" sz="2000" baseline="-25000" dirty="0">
                <a:sym typeface="Wingdings" panose="05000000000000000000" pitchFamily="2" charset="2"/>
              </a:rPr>
              <a:t>i</a:t>
            </a:r>
            <a:r>
              <a:rPr lang="en-US" sz="2000" dirty="0">
                <a:sym typeface="Wingdings" panose="05000000000000000000" pitchFamily="2" charset="2"/>
              </a:rPr>
              <a:t> v S</a:t>
            </a:r>
            <a:r>
              <a:rPr lang="en-US" sz="2000" baseline="-25000" dirty="0">
                <a:sym typeface="Wingdings" panose="05000000000000000000" pitchFamily="2" charset="2"/>
              </a:rPr>
              <a:t>i-1</a:t>
            </a:r>
            <a:r>
              <a:rPr lang="en-US" sz="2000" dirty="0">
                <a:sym typeface="Wingdings" panose="05000000000000000000" pitchFamily="2" charset="2"/>
              </a:rPr>
              <a:t>)  S</a:t>
            </a:r>
            <a:r>
              <a:rPr lang="en-US" sz="2000" baseline="-25000" dirty="0">
                <a:sym typeface="Wingdings" panose="05000000000000000000" pitchFamily="2" charset="2"/>
              </a:rPr>
              <a:t>i</a:t>
            </a:r>
            <a:r>
              <a:rPr kumimoji="1" lang="en-US" altLang="ja-JP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50" charset="-128"/>
              </a:rPr>
              <a:t> </a:t>
            </a:r>
            <a:r>
              <a:rPr kumimoji="1" lang="en-US" altLang="ja-JP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50" charset="-128"/>
              </a:rPr>
              <a:t>∧ </a:t>
            </a:r>
            <a:r>
              <a:rPr kumimoji="1" lang="en-US" sz="2000" dirty="0">
                <a:latin typeface="Arial" charset="0"/>
                <a:ea typeface="ＭＳ Ｐゴシック" pitchFamily="50" charset="-128"/>
              </a:rPr>
              <a:t>(S</a:t>
            </a:r>
            <a:r>
              <a:rPr kumimoji="1" lang="en-US" sz="2000" baseline="-25000" dirty="0">
                <a:latin typeface="Arial" charset="0"/>
                <a:ea typeface="ＭＳ Ｐゴシック" pitchFamily="50" charset="-128"/>
              </a:rPr>
              <a:t>i-1</a:t>
            </a:r>
            <a:r>
              <a:rPr kumimoji="1" lang="en-US" sz="2000" dirty="0">
                <a:latin typeface="Arial" charset="0"/>
                <a:ea typeface="ＭＳ Ｐゴシック" pitchFamily="50" charset="-128"/>
              </a:rPr>
              <a:t> </a:t>
            </a:r>
            <a:r>
              <a:rPr kumimoji="1" lang="en-US" sz="2000" dirty="0">
                <a:latin typeface="Arial" charset="0"/>
                <a:ea typeface="ＭＳ Ｐゴシック" pitchFamily="50" charset="-128"/>
                <a:sym typeface="Wingdings" panose="05000000000000000000" pitchFamily="2" charset="2"/>
              </a:rPr>
              <a:t> </a:t>
            </a:r>
            <a:r>
              <a:rPr lang="ja-JP" altLang="en-US" sz="2000" dirty="0"/>
              <a:t>￢</a:t>
            </a:r>
            <a:r>
              <a:rPr kumimoji="1" lang="en-US" sz="2000" dirty="0">
                <a:latin typeface="Arial" charset="0"/>
                <a:ea typeface="ＭＳ Ｐゴシック" pitchFamily="50" charset="-128"/>
                <a:sym typeface="Wingdings" panose="05000000000000000000" pitchFamily="2" charset="2"/>
              </a:rPr>
              <a:t>X</a:t>
            </a:r>
            <a:r>
              <a:rPr kumimoji="1" lang="en-US" sz="2000" baseline="-25000" dirty="0">
                <a:latin typeface="Arial" charset="0"/>
                <a:ea typeface="ＭＳ Ｐゴシック" pitchFamily="50" charset="-128"/>
                <a:sym typeface="Wingdings" panose="05000000000000000000" pitchFamily="2" charset="2"/>
              </a:rPr>
              <a:t>i</a:t>
            </a:r>
            <a:r>
              <a:rPr kumimoji="1" lang="en-US" sz="2000" dirty="0">
                <a:latin typeface="Arial" charset="0"/>
                <a:ea typeface="ＭＳ Ｐゴシック" pitchFamily="50" charset="-128"/>
                <a:sym typeface="Wingdings" panose="05000000000000000000" pitchFamily="2" charset="2"/>
              </a:rPr>
              <a:t>) </a:t>
            </a:r>
            <a:r>
              <a:rPr kumimoji="1" lang="en-US" altLang="ja-JP" sz="2000" dirty="0">
                <a:latin typeface="Arial" charset="0"/>
                <a:ea typeface="ＭＳ Ｐゴシック" pitchFamily="50" charset="-128"/>
              </a:rPr>
              <a:t>( 1 &lt; </a:t>
            </a:r>
            <a:r>
              <a:rPr kumimoji="1" lang="en-US" altLang="ja-JP" sz="2000" dirty="0" err="1">
                <a:latin typeface="Arial" charset="0"/>
                <a:ea typeface="ＭＳ Ｐゴシック" pitchFamily="50" charset="-128"/>
              </a:rPr>
              <a:t>i</a:t>
            </a:r>
            <a:r>
              <a:rPr kumimoji="1" lang="en-US" altLang="ja-JP" sz="2000" dirty="0">
                <a:latin typeface="Arial" charset="0"/>
                <a:ea typeface="ＭＳ Ｐゴシック" pitchFamily="50" charset="-128"/>
              </a:rPr>
              <a:t> &lt; n)</a:t>
            </a:r>
          </a:p>
          <a:p>
            <a:pPr lvl="2"/>
            <a:r>
              <a:rPr kumimoji="1" lang="en-US" altLang="ja-JP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50" charset="-128"/>
              </a:rPr>
              <a:t>∧ </a:t>
            </a:r>
            <a:r>
              <a:rPr kumimoji="1" lang="en-US" altLang="ja-JP" sz="2000" dirty="0">
                <a:latin typeface="Arial" charset="0"/>
                <a:ea typeface="ＭＳ Ｐゴシック" pitchFamily="50" charset="-128"/>
              </a:rPr>
              <a:t>(S</a:t>
            </a:r>
            <a:r>
              <a:rPr kumimoji="1" lang="en-US" altLang="ja-JP" sz="2000" baseline="-25000" dirty="0">
                <a:latin typeface="Arial" charset="0"/>
                <a:ea typeface="ＭＳ Ｐゴシック" pitchFamily="50" charset="-128"/>
              </a:rPr>
              <a:t>n-1</a:t>
            </a:r>
            <a:r>
              <a:rPr kumimoji="1" lang="en-US" altLang="ja-JP" sz="2000" dirty="0">
                <a:latin typeface="Arial" charset="0"/>
                <a:ea typeface="ＭＳ Ｐゴシック" pitchFamily="50" charset="-128"/>
              </a:rPr>
              <a:t> </a:t>
            </a:r>
            <a:r>
              <a:rPr kumimoji="1" lang="en-US" altLang="ja-JP" sz="2000" dirty="0">
                <a:latin typeface="Arial" charset="0"/>
                <a:ea typeface="ＭＳ Ｐゴシック" pitchFamily="50" charset="-128"/>
                <a:sym typeface="Wingdings" panose="05000000000000000000" pitchFamily="2" charset="2"/>
              </a:rPr>
              <a:t> </a:t>
            </a:r>
            <a:r>
              <a:rPr lang="ja-JP" altLang="en-US" sz="2000" dirty="0"/>
              <a:t>￢</a:t>
            </a:r>
            <a:r>
              <a:rPr kumimoji="1" lang="en-US" altLang="ja-JP" sz="2000" dirty="0" err="1">
                <a:latin typeface="Arial" charset="0"/>
                <a:ea typeface="ＭＳ Ｐゴシック" pitchFamily="50" charset="-128"/>
                <a:sym typeface="Wingdings" panose="05000000000000000000" pitchFamily="2" charset="2"/>
              </a:rPr>
              <a:t>X</a:t>
            </a:r>
            <a:r>
              <a:rPr kumimoji="1" lang="en-US" altLang="ja-JP" sz="2000" baseline="-25000" dirty="0" err="1">
                <a:latin typeface="Arial" charset="0"/>
                <a:ea typeface="ＭＳ Ｐゴシック" pitchFamily="50" charset="-128"/>
                <a:sym typeface="Wingdings" panose="05000000000000000000" pitchFamily="2" charset="2"/>
              </a:rPr>
              <a:t>n</a:t>
            </a:r>
            <a:r>
              <a:rPr kumimoji="1" lang="en-US" altLang="ja-JP" sz="2000" dirty="0">
                <a:latin typeface="Arial" charset="0"/>
                <a:ea typeface="ＭＳ Ｐゴシック" pitchFamily="50" charset="-128"/>
                <a:sym typeface="Wingdings" panose="05000000000000000000" pitchFamily="2" charset="2"/>
              </a:rPr>
              <a:t>)</a:t>
            </a:r>
            <a:endParaRPr lang="en-US" dirty="0"/>
          </a:p>
          <a:p>
            <a:pPr lvl="1"/>
            <a:r>
              <a:rPr lang="en-US" dirty="0"/>
              <a:t>Requires: </a:t>
            </a:r>
            <a:r>
              <a:rPr lang="pt-BR" dirty="0">
                <a:solidFill>
                  <a:schemeClr val="accent2"/>
                </a:solidFill>
              </a:rPr>
              <a:t>(n-1) </a:t>
            </a:r>
            <a:r>
              <a:rPr lang="pt-BR" dirty="0"/>
              <a:t>new variables, </a:t>
            </a:r>
            <a:r>
              <a:rPr lang="pt-BR" dirty="0">
                <a:solidFill>
                  <a:schemeClr val="accent2"/>
                </a:solidFill>
              </a:rPr>
              <a:t>(3n-4)</a:t>
            </a:r>
            <a:r>
              <a:rPr lang="pt-BR" dirty="0"/>
              <a:t> clauses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31665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A96100-C153-41DA-AFCC-58EB60CD11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228600"/>
            <a:ext cx="8032750" cy="1108075"/>
          </a:xfrm>
        </p:spPr>
        <p:txBody>
          <a:bodyPr/>
          <a:lstStyle/>
          <a:p>
            <a:r>
              <a:rPr lang="en-US" sz="3600" dirty="0"/>
              <a:t>Sequential encounter encoding (</a:t>
            </a:r>
            <a:r>
              <a:rPr lang="en-US" sz="3600" dirty="0" err="1"/>
              <a:t>cont</a:t>
            </a:r>
            <a:r>
              <a:rPr lang="en-US" sz="3600" dirty="0"/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BA5020-A852-43FC-8FCB-E5309E2006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76400"/>
            <a:ext cx="8610600" cy="4130675"/>
          </a:xfrm>
        </p:spPr>
        <p:txBody>
          <a:bodyPr/>
          <a:lstStyle/>
          <a:p>
            <a:r>
              <a:rPr lang="en-US" dirty="0"/>
              <a:t>For n = 4 (X</a:t>
            </a:r>
            <a:r>
              <a:rPr lang="en-US" baseline="-25000" dirty="0"/>
              <a:t>1</a:t>
            </a:r>
            <a:r>
              <a:rPr lang="en-US" dirty="0"/>
              <a:t>, X</a:t>
            </a:r>
            <a:r>
              <a:rPr lang="en-US" baseline="-25000" dirty="0"/>
              <a:t>2</a:t>
            </a:r>
            <a:r>
              <a:rPr lang="en-US" dirty="0"/>
              <a:t>, X</a:t>
            </a:r>
            <a:r>
              <a:rPr lang="en-US" baseline="-25000" dirty="0"/>
              <a:t>3</a:t>
            </a:r>
            <a:r>
              <a:rPr lang="en-US" dirty="0"/>
              <a:t>, X</a:t>
            </a:r>
            <a:r>
              <a:rPr lang="en-US" baseline="-25000" dirty="0"/>
              <a:t>4</a:t>
            </a:r>
            <a:r>
              <a:rPr lang="en-US" dirty="0"/>
              <a:t>)</a:t>
            </a:r>
          </a:p>
          <a:p>
            <a:r>
              <a:rPr lang="en-US" dirty="0"/>
              <a:t>New variables S</a:t>
            </a:r>
            <a:r>
              <a:rPr lang="en-US" baseline="-25000" dirty="0"/>
              <a:t>1</a:t>
            </a:r>
            <a:r>
              <a:rPr lang="en-US" dirty="0"/>
              <a:t>, S</a:t>
            </a:r>
            <a:r>
              <a:rPr lang="en-US" baseline="-25000" dirty="0"/>
              <a:t>2</a:t>
            </a:r>
            <a:r>
              <a:rPr lang="en-US" dirty="0"/>
              <a:t>, S</a:t>
            </a:r>
            <a:r>
              <a:rPr lang="en-US" baseline="-25000" dirty="0"/>
              <a:t>3 	</a:t>
            </a:r>
            <a:endParaRPr lang="en-US" dirty="0"/>
          </a:p>
          <a:p>
            <a:r>
              <a:rPr lang="en-US" dirty="0">
                <a:latin typeface="+mj-lt"/>
                <a:cs typeface="Arial" panose="020B0604020202020204" pitchFamily="34" charset="0"/>
              </a:rPr>
              <a:t>AMO Encoding:  </a:t>
            </a:r>
          </a:p>
          <a:p>
            <a:pPr lvl="2"/>
            <a:r>
              <a:rPr lang="en-US" sz="2000" b="1" dirty="0">
                <a:latin typeface="+mj-lt"/>
              </a:rPr>
              <a:t>X</a:t>
            </a:r>
            <a:r>
              <a:rPr lang="en-US" sz="2000" b="1" baseline="-25000" dirty="0">
                <a:latin typeface="+mj-lt"/>
              </a:rPr>
              <a:t>1</a:t>
            </a:r>
            <a:r>
              <a:rPr lang="en-US" sz="2000" b="1" dirty="0">
                <a:latin typeface="+mj-lt"/>
              </a:rPr>
              <a:t> </a:t>
            </a:r>
            <a:r>
              <a:rPr lang="en-US" sz="2000" b="1" dirty="0">
                <a:latin typeface="+mj-lt"/>
                <a:sym typeface="Wingdings" panose="05000000000000000000" pitchFamily="2" charset="2"/>
              </a:rPr>
              <a:t> S</a:t>
            </a:r>
            <a:r>
              <a:rPr lang="en-US" sz="2000" b="1" baseline="-25000" dirty="0">
                <a:latin typeface="+mj-lt"/>
                <a:sym typeface="Wingdings" panose="05000000000000000000" pitchFamily="2" charset="2"/>
              </a:rPr>
              <a:t>1 </a:t>
            </a:r>
            <a:r>
              <a:rPr kumimoji="1" lang="en-US" altLang="ja-JP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ＭＳ Ｐゴシック" pitchFamily="50" charset="-128"/>
              </a:rPr>
              <a:t>∧ </a:t>
            </a:r>
          </a:p>
          <a:p>
            <a:pPr lvl="2"/>
            <a:r>
              <a:rPr lang="en-US" sz="2000" b="1" dirty="0">
                <a:latin typeface="+mj-lt"/>
                <a:sym typeface="Wingdings" panose="05000000000000000000" pitchFamily="2" charset="2"/>
              </a:rPr>
              <a:t>(X</a:t>
            </a:r>
            <a:r>
              <a:rPr lang="en-US" sz="2000" b="1" baseline="-25000" dirty="0">
                <a:latin typeface="+mj-lt"/>
                <a:sym typeface="Wingdings" panose="05000000000000000000" pitchFamily="2" charset="2"/>
              </a:rPr>
              <a:t>2</a:t>
            </a:r>
            <a:r>
              <a:rPr lang="en-US" sz="2000" b="1" dirty="0">
                <a:latin typeface="+mj-lt"/>
                <a:sym typeface="Wingdings" panose="05000000000000000000" pitchFamily="2" charset="2"/>
              </a:rPr>
              <a:t> v S</a:t>
            </a:r>
            <a:r>
              <a:rPr lang="en-US" sz="2000" b="1" baseline="-25000" dirty="0">
                <a:latin typeface="+mj-lt"/>
                <a:sym typeface="Wingdings" panose="05000000000000000000" pitchFamily="2" charset="2"/>
              </a:rPr>
              <a:t>1</a:t>
            </a:r>
            <a:r>
              <a:rPr lang="en-US" sz="2000" b="1" dirty="0">
                <a:latin typeface="+mj-lt"/>
                <a:sym typeface="Wingdings" panose="05000000000000000000" pitchFamily="2" charset="2"/>
              </a:rPr>
              <a:t>)  S</a:t>
            </a:r>
            <a:r>
              <a:rPr lang="en-US" sz="2000" b="1" baseline="-25000" dirty="0">
                <a:latin typeface="+mj-lt"/>
                <a:sym typeface="Wingdings" panose="05000000000000000000" pitchFamily="2" charset="2"/>
              </a:rPr>
              <a:t>2</a:t>
            </a:r>
            <a:r>
              <a:rPr kumimoji="1" lang="en-US" altLang="ja-JP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ＭＳ Ｐゴシック" pitchFamily="50" charset="-128"/>
              </a:rPr>
              <a:t> ∧ </a:t>
            </a:r>
            <a:r>
              <a:rPr kumimoji="1" lang="en-US" sz="2000" b="1" dirty="0">
                <a:latin typeface="+mj-lt"/>
                <a:ea typeface="ＭＳ Ｐゴシック" pitchFamily="50" charset="-128"/>
              </a:rPr>
              <a:t>(S</a:t>
            </a:r>
            <a:r>
              <a:rPr kumimoji="1" lang="en-US" sz="2000" b="1" baseline="-25000" dirty="0">
                <a:latin typeface="+mj-lt"/>
                <a:ea typeface="ＭＳ Ｐゴシック" pitchFamily="50" charset="-128"/>
              </a:rPr>
              <a:t>1</a:t>
            </a:r>
            <a:r>
              <a:rPr kumimoji="1" lang="en-US" sz="2000" b="1" dirty="0">
                <a:latin typeface="+mj-lt"/>
                <a:ea typeface="ＭＳ Ｐゴシック" pitchFamily="50" charset="-128"/>
              </a:rPr>
              <a:t> </a:t>
            </a:r>
            <a:r>
              <a:rPr kumimoji="1" lang="en-US" sz="2000" b="1" dirty="0">
                <a:latin typeface="+mj-lt"/>
                <a:ea typeface="ＭＳ Ｐゴシック" pitchFamily="50" charset="-128"/>
                <a:sym typeface="Wingdings" panose="05000000000000000000" pitchFamily="2" charset="2"/>
              </a:rPr>
              <a:t> </a:t>
            </a:r>
            <a:r>
              <a:rPr lang="ja-JP" altLang="en-US" sz="2000" b="1" dirty="0"/>
              <a:t>￢</a:t>
            </a:r>
            <a:r>
              <a:rPr kumimoji="1" lang="en-US" sz="2000" b="1" dirty="0">
                <a:latin typeface="+mj-lt"/>
                <a:ea typeface="ＭＳ Ｐゴシック" pitchFamily="50" charset="-128"/>
                <a:sym typeface="Wingdings" panose="05000000000000000000" pitchFamily="2" charset="2"/>
              </a:rPr>
              <a:t>X</a:t>
            </a:r>
            <a:r>
              <a:rPr kumimoji="1" lang="en-US" sz="2000" b="1" baseline="-25000" dirty="0">
                <a:latin typeface="+mj-lt"/>
                <a:ea typeface="ＭＳ Ｐゴシック" pitchFamily="50" charset="-128"/>
                <a:sym typeface="Wingdings" panose="05000000000000000000" pitchFamily="2" charset="2"/>
              </a:rPr>
              <a:t>2</a:t>
            </a:r>
            <a:r>
              <a:rPr kumimoji="1" lang="en-US" sz="2000" b="1" dirty="0">
                <a:latin typeface="+mj-lt"/>
                <a:ea typeface="ＭＳ Ｐゴシック" pitchFamily="50" charset="-128"/>
                <a:sym typeface="Wingdings" panose="05000000000000000000" pitchFamily="2" charset="2"/>
              </a:rPr>
              <a:t>) </a:t>
            </a:r>
            <a:r>
              <a:rPr kumimoji="1" lang="en-US" altLang="ja-JP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ＭＳ Ｐゴシック" pitchFamily="50" charset="-128"/>
              </a:rPr>
              <a:t>∧</a:t>
            </a:r>
            <a:endParaRPr kumimoji="1" lang="en-US" altLang="ja-JP" sz="2000" b="1" dirty="0">
              <a:latin typeface="+mj-lt"/>
              <a:ea typeface="ＭＳ Ｐゴシック" pitchFamily="50" charset="-128"/>
            </a:endParaRPr>
          </a:p>
          <a:p>
            <a:pPr lvl="2"/>
            <a:r>
              <a:rPr lang="en-US" sz="2000" b="1" dirty="0">
                <a:latin typeface="+mj-lt"/>
                <a:sym typeface="Wingdings" panose="05000000000000000000" pitchFamily="2" charset="2"/>
              </a:rPr>
              <a:t>(X</a:t>
            </a:r>
            <a:r>
              <a:rPr lang="en-US" sz="2000" b="1" baseline="-25000" dirty="0">
                <a:latin typeface="+mj-lt"/>
                <a:sym typeface="Wingdings" panose="05000000000000000000" pitchFamily="2" charset="2"/>
              </a:rPr>
              <a:t>3</a:t>
            </a:r>
            <a:r>
              <a:rPr lang="en-US" sz="2000" b="1" dirty="0">
                <a:latin typeface="+mj-lt"/>
                <a:sym typeface="Wingdings" panose="05000000000000000000" pitchFamily="2" charset="2"/>
              </a:rPr>
              <a:t> v S</a:t>
            </a:r>
            <a:r>
              <a:rPr lang="en-US" sz="2000" b="1" baseline="-25000" dirty="0">
                <a:latin typeface="+mj-lt"/>
                <a:sym typeface="Wingdings" panose="05000000000000000000" pitchFamily="2" charset="2"/>
              </a:rPr>
              <a:t>2</a:t>
            </a:r>
            <a:r>
              <a:rPr lang="en-US" sz="2000" b="1" dirty="0">
                <a:latin typeface="+mj-lt"/>
                <a:sym typeface="Wingdings" panose="05000000000000000000" pitchFamily="2" charset="2"/>
              </a:rPr>
              <a:t>)  S</a:t>
            </a:r>
            <a:r>
              <a:rPr lang="en-US" sz="2000" b="1" baseline="-25000" dirty="0">
                <a:latin typeface="+mj-lt"/>
                <a:sym typeface="Wingdings" panose="05000000000000000000" pitchFamily="2" charset="2"/>
              </a:rPr>
              <a:t>3</a:t>
            </a:r>
            <a:r>
              <a:rPr kumimoji="1" lang="en-US" altLang="ja-JP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ＭＳ Ｐゴシック" pitchFamily="50" charset="-128"/>
              </a:rPr>
              <a:t> ∧ </a:t>
            </a:r>
            <a:r>
              <a:rPr kumimoji="1" lang="en-US" sz="2000" b="1" dirty="0">
                <a:latin typeface="+mj-lt"/>
                <a:ea typeface="ＭＳ Ｐゴシック" pitchFamily="50" charset="-128"/>
              </a:rPr>
              <a:t>(S</a:t>
            </a:r>
            <a:r>
              <a:rPr kumimoji="1" lang="en-US" sz="2000" b="1" baseline="-25000" dirty="0">
                <a:latin typeface="+mj-lt"/>
                <a:ea typeface="ＭＳ Ｐゴシック" pitchFamily="50" charset="-128"/>
              </a:rPr>
              <a:t>2</a:t>
            </a:r>
            <a:r>
              <a:rPr kumimoji="1" lang="en-US" sz="2000" b="1" dirty="0">
                <a:latin typeface="+mj-lt"/>
                <a:ea typeface="ＭＳ Ｐゴシック" pitchFamily="50" charset="-128"/>
              </a:rPr>
              <a:t> </a:t>
            </a:r>
            <a:r>
              <a:rPr kumimoji="1" lang="en-US" sz="2000" b="1" dirty="0">
                <a:latin typeface="+mj-lt"/>
                <a:ea typeface="ＭＳ Ｐゴシック" pitchFamily="50" charset="-128"/>
                <a:sym typeface="Wingdings" panose="05000000000000000000" pitchFamily="2" charset="2"/>
              </a:rPr>
              <a:t> </a:t>
            </a:r>
            <a:r>
              <a:rPr lang="ja-JP" altLang="en-US" sz="2000" b="1" dirty="0"/>
              <a:t>￢</a:t>
            </a:r>
            <a:r>
              <a:rPr kumimoji="1" lang="en-US" sz="2000" b="1" dirty="0">
                <a:latin typeface="+mj-lt"/>
                <a:ea typeface="ＭＳ Ｐゴシック" pitchFamily="50" charset="-128"/>
                <a:sym typeface="Wingdings" panose="05000000000000000000" pitchFamily="2" charset="2"/>
              </a:rPr>
              <a:t>X</a:t>
            </a:r>
            <a:r>
              <a:rPr kumimoji="1" lang="en-US" sz="2000" b="1" baseline="-25000" dirty="0">
                <a:latin typeface="+mj-lt"/>
                <a:ea typeface="ＭＳ Ｐゴシック" pitchFamily="50" charset="-128"/>
                <a:sym typeface="Wingdings" panose="05000000000000000000" pitchFamily="2" charset="2"/>
              </a:rPr>
              <a:t>3</a:t>
            </a:r>
            <a:r>
              <a:rPr kumimoji="1" lang="en-US" sz="2000" b="1" dirty="0">
                <a:latin typeface="+mj-lt"/>
                <a:ea typeface="ＭＳ Ｐゴシック" pitchFamily="50" charset="-128"/>
                <a:sym typeface="Wingdings" panose="05000000000000000000" pitchFamily="2" charset="2"/>
              </a:rPr>
              <a:t>) </a:t>
            </a:r>
            <a:r>
              <a:rPr kumimoji="1" lang="en-US" altLang="ja-JP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ＭＳ Ｐゴシック" pitchFamily="50" charset="-128"/>
              </a:rPr>
              <a:t>∧</a:t>
            </a:r>
            <a:endParaRPr kumimoji="1" lang="en-US" altLang="ja-JP" sz="2000" b="1" dirty="0">
              <a:latin typeface="+mj-lt"/>
              <a:ea typeface="ＭＳ Ｐゴシック" pitchFamily="50" charset="-128"/>
            </a:endParaRPr>
          </a:p>
          <a:p>
            <a:pPr lvl="2"/>
            <a:r>
              <a:rPr kumimoji="1" lang="en-US" altLang="ja-JP" sz="2000" b="1" dirty="0">
                <a:latin typeface="+mj-lt"/>
                <a:ea typeface="ＭＳ Ｐゴシック" pitchFamily="50" charset="-128"/>
              </a:rPr>
              <a:t>(S</a:t>
            </a:r>
            <a:r>
              <a:rPr kumimoji="1" lang="en-US" altLang="ja-JP" sz="2000" b="1" baseline="-25000" dirty="0">
                <a:latin typeface="+mj-lt"/>
                <a:ea typeface="ＭＳ Ｐゴシック" pitchFamily="50" charset="-128"/>
              </a:rPr>
              <a:t>3</a:t>
            </a:r>
            <a:r>
              <a:rPr kumimoji="1" lang="en-US" altLang="ja-JP" sz="2000" b="1" dirty="0">
                <a:latin typeface="+mj-lt"/>
                <a:ea typeface="ＭＳ Ｐゴシック" pitchFamily="50" charset="-128"/>
              </a:rPr>
              <a:t> </a:t>
            </a:r>
            <a:r>
              <a:rPr kumimoji="1" lang="en-US" altLang="ja-JP" sz="2000" b="1" dirty="0">
                <a:latin typeface="+mj-lt"/>
                <a:ea typeface="ＭＳ Ｐゴシック" pitchFamily="50" charset="-128"/>
                <a:sym typeface="Wingdings" panose="05000000000000000000" pitchFamily="2" charset="2"/>
              </a:rPr>
              <a:t> </a:t>
            </a:r>
            <a:r>
              <a:rPr lang="ja-JP" altLang="en-US" sz="2000" b="1" dirty="0"/>
              <a:t>￢</a:t>
            </a:r>
            <a:r>
              <a:rPr kumimoji="1" lang="en-US" altLang="ja-JP" sz="2000" b="1" dirty="0">
                <a:latin typeface="+mj-lt"/>
                <a:ea typeface="ＭＳ Ｐゴシック" pitchFamily="50" charset="-128"/>
                <a:sym typeface="Wingdings" panose="05000000000000000000" pitchFamily="2" charset="2"/>
              </a:rPr>
              <a:t>X</a:t>
            </a:r>
            <a:r>
              <a:rPr kumimoji="1" lang="en-US" altLang="ja-JP" sz="2000" b="1" baseline="-25000" dirty="0">
                <a:latin typeface="+mj-lt"/>
                <a:ea typeface="ＭＳ Ｐゴシック" pitchFamily="50" charset="-128"/>
                <a:sym typeface="Wingdings" panose="05000000000000000000" pitchFamily="2" charset="2"/>
              </a:rPr>
              <a:t>4</a:t>
            </a:r>
            <a:r>
              <a:rPr kumimoji="1" lang="en-US" altLang="ja-JP" sz="2000" b="1" dirty="0">
                <a:latin typeface="+mj-lt"/>
                <a:ea typeface="ＭＳ Ｐゴシック" pitchFamily="50" charset="-128"/>
                <a:sym typeface="Wingdings" panose="05000000000000000000" pitchFamily="2" charset="2"/>
              </a:rPr>
              <a:t>)</a:t>
            </a:r>
            <a:endParaRPr lang="en-US" sz="2000" b="1" dirty="0">
              <a:latin typeface="+mj-lt"/>
              <a:cs typeface="Arial" panose="020B0604020202020204" pitchFamily="34" charset="0"/>
            </a:endParaRPr>
          </a:p>
          <a:p>
            <a:r>
              <a:rPr lang="en-US" dirty="0">
                <a:latin typeface="+mj-lt"/>
                <a:cs typeface="Arial" panose="020B0604020202020204" pitchFamily="34" charset="0"/>
              </a:rPr>
              <a:t>ALO Encoding: </a:t>
            </a:r>
            <a:r>
              <a:rPr lang="en-US" b="1" dirty="0">
                <a:latin typeface="+mj-lt"/>
                <a:cs typeface="Arial" panose="020B0604020202020204" pitchFamily="34" charset="0"/>
              </a:rPr>
              <a:t>(X</a:t>
            </a:r>
            <a:r>
              <a:rPr lang="en-US" b="1" baseline="-25000" dirty="0">
                <a:latin typeface="+mj-lt"/>
                <a:cs typeface="Arial" panose="020B0604020202020204" pitchFamily="34" charset="0"/>
              </a:rPr>
              <a:t>1</a:t>
            </a:r>
            <a:r>
              <a:rPr lang="en-US" b="1" dirty="0">
                <a:latin typeface="+mj-lt"/>
                <a:cs typeface="Arial" panose="020B0604020202020204" pitchFamily="34" charset="0"/>
              </a:rPr>
              <a:t> v X</a:t>
            </a:r>
            <a:r>
              <a:rPr lang="en-US" b="1" baseline="-25000" dirty="0">
                <a:latin typeface="+mj-lt"/>
                <a:cs typeface="Arial" panose="020B0604020202020204" pitchFamily="34" charset="0"/>
              </a:rPr>
              <a:t>2</a:t>
            </a:r>
            <a:r>
              <a:rPr lang="en-US" b="1" dirty="0">
                <a:latin typeface="+mj-lt"/>
                <a:cs typeface="Arial" panose="020B0604020202020204" pitchFamily="34" charset="0"/>
              </a:rPr>
              <a:t> v X</a:t>
            </a:r>
            <a:r>
              <a:rPr lang="en-US" b="1" baseline="-25000" dirty="0">
                <a:latin typeface="+mj-lt"/>
                <a:cs typeface="Arial" panose="020B0604020202020204" pitchFamily="34" charset="0"/>
              </a:rPr>
              <a:t>3</a:t>
            </a:r>
            <a:r>
              <a:rPr lang="en-US" b="1" dirty="0">
                <a:latin typeface="+mj-lt"/>
                <a:cs typeface="Arial" panose="020B0604020202020204" pitchFamily="34" charset="0"/>
              </a:rPr>
              <a:t> v X</a:t>
            </a:r>
            <a:r>
              <a:rPr lang="en-US" b="1" baseline="-25000" dirty="0">
                <a:latin typeface="+mj-lt"/>
                <a:cs typeface="Arial" panose="020B0604020202020204" pitchFamily="34" charset="0"/>
              </a:rPr>
              <a:t>4</a:t>
            </a:r>
            <a:r>
              <a:rPr lang="en-US" b="1" dirty="0">
                <a:latin typeface="+mj-lt"/>
                <a:cs typeface="Arial" panose="020B0604020202020204" pitchFamily="34" charset="0"/>
              </a:rPr>
              <a:t>)</a:t>
            </a:r>
            <a:endParaRPr lang="en-US" b="1" dirty="0">
              <a:latin typeface="+mj-lt"/>
            </a:endParaRPr>
          </a:p>
          <a:p>
            <a:pPr lvl="2"/>
            <a:endParaRPr lang="en-US" dirty="0"/>
          </a:p>
          <a:p>
            <a:pPr lvl="3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57060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86C89A-DDDC-4143-B472-74624D07B1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304800"/>
            <a:ext cx="8153400" cy="1108075"/>
          </a:xfrm>
        </p:spPr>
        <p:txBody>
          <a:bodyPr/>
          <a:lstStyle/>
          <a:p>
            <a:r>
              <a:rPr lang="en-US" dirty="0"/>
              <a:t>Commander encoding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6DE21D-C55B-4CAC-9A08-84E8126BAB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Idea:</a:t>
            </a:r>
          </a:p>
          <a:p>
            <a:pPr lvl="1"/>
            <a:r>
              <a:rPr lang="en-US" sz="2000" dirty="0"/>
              <a:t>Partitioning set of variables X</a:t>
            </a:r>
            <a:r>
              <a:rPr lang="en-US" sz="2000" baseline="-25000" dirty="0"/>
              <a:t>1</a:t>
            </a:r>
            <a:r>
              <a:rPr lang="en-US" sz="2000" dirty="0"/>
              <a:t> X</a:t>
            </a:r>
            <a:r>
              <a:rPr lang="en-US" sz="2000" baseline="-25000" dirty="0"/>
              <a:t>2</a:t>
            </a:r>
            <a:r>
              <a:rPr lang="en-US" sz="2000" dirty="0"/>
              <a:t>, …, </a:t>
            </a:r>
            <a:r>
              <a:rPr lang="en-US" sz="2000" dirty="0" err="1"/>
              <a:t>X</a:t>
            </a:r>
            <a:r>
              <a:rPr lang="en-US" sz="2000" baseline="-25000" dirty="0" err="1"/>
              <a:t>n</a:t>
            </a:r>
            <a:r>
              <a:rPr lang="en-US" sz="2000" dirty="0"/>
              <a:t> into some groups of some fixed size and encoding AMO over each group</a:t>
            </a:r>
          </a:p>
          <a:p>
            <a:pPr lvl="2"/>
            <a:r>
              <a:rPr lang="en-US" sz="2000" dirty="0"/>
              <a:t>X</a:t>
            </a:r>
            <a:r>
              <a:rPr lang="en-US" sz="2000" baseline="-25000" dirty="0"/>
              <a:t>1</a:t>
            </a:r>
            <a:r>
              <a:rPr lang="en-US" sz="2000" dirty="0"/>
              <a:t>, X</a:t>
            </a:r>
            <a:r>
              <a:rPr lang="en-US" sz="2000" baseline="-25000" dirty="0"/>
              <a:t>2</a:t>
            </a:r>
            <a:r>
              <a:rPr lang="en-US" sz="2000" dirty="0"/>
              <a:t>,…, </a:t>
            </a:r>
            <a:r>
              <a:rPr lang="en-US" sz="2000" dirty="0" err="1"/>
              <a:t>X</a:t>
            </a:r>
            <a:r>
              <a:rPr lang="en-US" sz="2000" baseline="-25000" dirty="0" err="1"/>
              <a:t>k</a:t>
            </a:r>
            <a:r>
              <a:rPr lang="en-US" sz="2000" baseline="-25000" dirty="0"/>
              <a:t> </a:t>
            </a:r>
            <a:r>
              <a:rPr lang="el-GR" sz="2000" dirty="0"/>
              <a:t>ϵ</a:t>
            </a:r>
            <a:r>
              <a:rPr lang="en-US" sz="2000" dirty="0"/>
              <a:t> G</a:t>
            </a:r>
            <a:r>
              <a:rPr lang="en-US" sz="2000" baseline="-25000" dirty="0"/>
              <a:t>1</a:t>
            </a:r>
          </a:p>
          <a:p>
            <a:pPr lvl="2"/>
            <a:r>
              <a:rPr lang="en-US" sz="2000" dirty="0"/>
              <a:t>X</a:t>
            </a:r>
            <a:r>
              <a:rPr lang="en-US" sz="2000" baseline="-25000" dirty="0"/>
              <a:t>k+1</a:t>
            </a:r>
            <a:r>
              <a:rPr lang="en-US" sz="2000" dirty="0"/>
              <a:t>, X</a:t>
            </a:r>
            <a:r>
              <a:rPr lang="en-US" sz="2000" baseline="-25000" dirty="0"/>
              <a:t>k+2</a:t>
            </a:r>
            <a:r>
              <a:rPr lang="en-US" sz="2000" dirty="0"/>
              <a:t>,…, X</a:t>
            </a:r>
            <a:r>
              <a:rPr lang="en-US" sz="2000" baseline="-25000" dirty="0"/>
              <a:t>2k </a:t>
            </a:r>
            <a:r>
              <a:rPr lang="el-GR" sz="2000" dirty="0"/>
              <a:t>ϵ</a:t>
            </a:r>
            <a:r>
              <a:rPr lang="en-US" sz="2000" dirty="0"/>
              <a:t> G</a:t>
            </a:r>
            <a:r>
              <a:rPr lang="en-US" sz="2000" baseline="-25000" dirty="0"/>
              <a:t>2</a:t>
            </a:r>
            <a:r>
              <a:rPr lang="en-US" sz="2000" dirty="0"/>
              <a:t>; </a:t>
            </a:r>
            <a:r>
              <a:rPr lang="el-GR" sz="2000" dirty="0"/>
              <a:t> </a:t>
            </a:r>
            <a:r>
              <a:rPr lang="en-US" sz="2000" dirty="0"/>
              <a:t>….</a:t>
            </a:r>
          </a:p>
          <a:p>
            <a:pPr lvl="2"/>
            <a:r>
              <a:rPr lang="en-US" sz="2000" dirty="0" err="1"/>
              <a:t>X</a:t>
            </a:r>
            <a:r>
              <a:rPr lang="en-US" sz="2000" baseline="-25000" dirty="0" err="1"/>
              <a:t>j</a:t>
            </a:r>
            <a:r>
              <a:rPr lang="en-US" sz="2000" dirty="0"/>
              <a:t>,…, </a:t>
            </a:r>
            <a:r>
              <a:rPr lang="en-US" sz="2000" dirty="0" err="1"/>
              <a:t>X</a:t>
            </a:r>
            <a:r>
              <a:rPr lang="en-US" sz="2000" baseline="-25000" dirty="0" err="1"/>
              <a:t>n</a:t>
            </a:r>
            <a:r>
              <a:rPr lang="en-US" sz="2000" dirty="0"/>
              <a:t> </a:t>
            </a:r>
            <a:r>
              <a:rPr lang="el-GR" sz="2000" dirty="0"/>
              <a:t>ϵ</a:t>
            </a:r>
            <a:r>
              <a:rPr lang="en-US" sz="2000" dirty="0"/>
              <a:t> G</a:t>
            </a:r>
            <a:r>
              <a:rPr lang="en-US" sz="2000" baseline="-25000" dirty="0"/>
              <a:t>m</a:t>
            </a:r>
            <a:endParaRPr lang="en-US" sz="2000" dirty="0"/>
          </a:p>
          <a:p>
            <a:pPr lvl="1"/>
            <a:r>
              <a:rPr lang="en-US" sz="2000" dirty="0">
                <a:solidFill>
                  <a:schemeClr val="accent2"/>
                </a:solidFill>
              </a:rPr>
              <a:t>Introducing a commander variable for each group: c</a:t>
            </a:r>
            <a:r>
              <a:rPr lang="en-US" sz="2000" baseline="-25000" dirty="0">
                <a:solidFill>
                  <a:schemeClr val="accent2"/>
                </a:solidFill>
              </a:rPr>
              <a:t>1</a:t>
            </a:r>
            <a:r>
              <a:rPr lang="en-US" sz="2000" dirty="0">
                <a:solidFill>
                  <a:schemeClr val="accent2"/>
                </a:solidFill>
              </a:rPr>
              <a:t>, c</a:t>
            </a:r>
            <a:r>
              <a:rPr lang="en-US" sz="2000" baseline="-25000" dirty="0">
                <a:solidFill>
                  <a:schemeClr val="accent2"/>
                </a:solidFill>
              </a:rPr>
              <a:t>2</a:t>
            </a:r>
            <a:r>
              <a:rPr lang="en-US" sz="2000" dirty="0">
                <a:solidFill>
                  <a:schemeClr val="accent2"/>
                </a:solidFill>
              </a:rPr>
              <a:t>,…, c</a:t>
            </a:r>
            <a:r>
              <a:rPr lang="en-US" sz="2000" baseline="-25000" dirty="0">
                <a:solidFill>
                  <a:schemeClr val="accent2"/>
                </a:solidFill>
              </a:rPr>
              <a:t>m</a:t>
            </a:r>
          </a:p>
          <a:p>
            <a:pPr lvl="1"/>
            <a:r>
              <a:rPr lang="en-US" sz="2000" dirty="0"/>
              <a:t>AMO, ALO Clauses for </a:t>
            </a:r>
            <a:r>
              <a:rPr lang="en-US" sz="2000" dirty="0">
                <a:solidFill>
                  <a:schemeClr val="accent2"/>
                </a:solidFill>
              </a:rPr>
              <a:t>c</a:t>
            </a:r>
            <a:r>
              <a:rPr lang="en-US" sz="2000" baseline="-25000" dirty="0">
                <a:solidFill>
                  <a:schemeClr val="accent2"/>
                </a:solidFill>
              </a:rPr>
              <a:t>1</a:t>
            </a:r>
            <a:r>
              <a:rPr lang="en-US" sz="2000" dirty="0">
                <a:solidFill>
                  <a:schemeClr val="accent2"/>
                </a:solidFill>
              </a:rPr>
              <a:t>, c</a:t>
            </a:r>
            <a:r>
              <a:rPr lang="en-US" sz="2000" baseline="-25000" dirty="0">
                <a:solidFill>
                  <a:schemeClr val="accent2"/>
                </a:solidFill>
              </a:rPr>
              <a:t>2</a:t>
            </a:r>
            <a:r>
              <a:rPr lang="en-US" sz="2000" dirty="0">
                <a:solidFill>
                  <a:schemeClr val="accent2"/>
                </a:solidFill>
              </a:rPr>
              <a:t>,…, c</a:t>
            </a:r>
            <a:r>
              <a:rPr lang="en-US" sz="2000" baseline="-25000" dirty="0">
                <a:solidFill>
                  <a:schemeClr val="accent2"/>
                </a:solidFill>
              </a:rPr>
              <a:t>m              </a:t>
            </a:r>
            <a:r>
              <a:rPr lang="en-US" sz="1800" dirty="0">
                <a:solidFill>
                  <a:schemeClr val="accent2"/>
                </a:solidFill>
                <a:sym typeface="Wingdings" panose="05000000000000000000" pitchFamily="2" charset="2"/>
              </a:rPr>
              <a:t> </a:t>
            </a:r>
            <a:r>
              <a:rPr lang="en-US" sz="1600" dirty="0">
                <a:solidFill>
                  <a:schemeClr val="accent2"/>
                </a:solidFill>
                <a:sym typeface="Wingdings" panose="05000000000000000000" pitchFamily="2" charset="2"/>
              </a:rPr>
              <a:t>(</a:t>
            </a:r>
            <a:r>
              <a:rPr lang="en-US" sz="1600" dirty="0">
                <a:solidFill>
                  <a:schemeClr val="accent2"/>
                </a:solidFill>
              </a:rPr>
              <a:t>Binomial encoding)</a:t>
            </a:r>
            <a:endParaRPr lang="en-US" sz="1800" dirty="0">
              <a:solidFill>
                <a:schemeClr val="accent2"/>
              </a:solidFill>
            </a:endParaRPr>
          </a:p>
          <a:p>
            <a:pPr lvl="1"/>
            <a:r>
              <a:rPr lang="en-US" sz="2000" dirty="0"/>
              <a:t>If a commander variable </a:t>
            </a:r>
            <a:r>
              <a:rPr lang="en-US" sz="2000" dirty="0">
                <a:solidFill>
                  <a:srgbClr val="0000FF"/>
                </a:solidFill>
              </a:rPr>
              <a:t>c</a:t>
            </a:r>
            <a:r>
              <a:rPr lang="en-US" sz="2000" baseline="-25000" dirty="0">
                <a:solidFill>
                  <a:srgbClr val="0000FF"/>
                </a:solidFill>
              </a:rPr>
              <a:t>i</a:t>
            </a:r>
            <a:r>
              <a:rPr lang="en-US" sz="2000" dirty="0"/>
              <a:t> is true then exactly one variable true in </a:t>
            </a:r>
            <a:r>
              <a:rPr lang="en-US" sz="2000" dirty="0">
                <a:solidFill>
                  <a:srgbClr val="0000FF"/>
                </a:solidFill>
              </a:rPr>
              <a:t>G</a:t>
            </a:r>
            <a:r>
              <a:rPr lang="en-US" sz="2000" baseline="-25000" dirty="0">
                <a:solidFill>
                  <a:srgbClr val="0000FF"/>
                </a:solidFill>
              </a:rPr>
              <a:t>i </a:t>
            </a:r>
            <a:r>
              <a:rPr lang="en-US" sz="2000" dirty="0">
                <a:solidFill>
                  <a:srgbClr val="0000FF"/>
                </a:solidFill>
              </a:rPr>
              <a:t>		</a:t>
            </a:r>
            <a:r>
              <a:rPr lang="en-US" sz="2000" dirty="0"/>
              <a:t>(AMO and ALO of G</a:t>
            </a:r>
            <a:r>
              <a:rPr lang="en-US" sz="2000" baseline="-25000" dirty="0"/>
              <a:t>i</a:t>
            </a:r>
            <a:r>
              <a:rPr lang="en-US" sz="2000" dirty="0"/>
              <a:t>)</a:t>
            </a:r>
          </a:p>
          <a:p>
            <a:pPr lvl="1"/>
            <a:r>
              <a:rPr lang="en-US" sz="2000" dirty="0"/>
              <a:t>If a commander variable </a:t>
            </a:r>
            <a:r>
              <a:rPr lang="en-US" sz="2000" dirty="0">
                <a:solidFill>
                  <a:srgbClr val="0000FF"/>
                </a:solidFill>
              </a:rPr>
              <a:t>c</a:t>
            </a:r>
            <a:r>
              <a:rPr lang="en-US" sz="2000" baseline="-25000" dirty="0">
                <a:solidFill>
                  <a:srgbClr val="0000FF"/>
                </a:solidFill>
              </a:rPr>
              <a:t>i</a:t>
            </a:r>
            <a:r>
              <a:rPr lang="en-US" sz="2000" dirty="0"/>
              <a:t> is false then all variables false in </a:t>
            </a:r>
            <a:r>
              <a:rPr lang="en-US" sz="2000" dirty="0">
                <a:solidFill>
                  <a:srgbClr val="0000FF"/>
                </a:solidFill>
              </a:rPr>
              <a:t>G</a:t>
            </a:r>
            <a:r>
              <a:rPr lang="en-US" sz="2000" baseline="-25000" dirty="0">
                <a:solidFill>
                  <a:srgbClr val="0000FF"/>
                </a:solidFill>
              </a:rPr>
              <a:t>i</a:t>
            </a:r>
            <a:endParaRPr lang="en-US" sz="2000" dirty="0"/>
          </a:p>
          <a:p>
            <a:pPr lvl="1"/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9299477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86C89A-DDDC-4143-B472-74624D07B1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304800"/>
            <a:ext cx="8153400" cy="1108075"/>
          </a:xfrm>
        </p:spPr>
        <p:txBody>
          <a:bodyPr/>
          <a:lstStyle/>
          <a:p>
            <a:r>
              <a:rPr lang="en-US" dirty="0"/>
              <a:t>Commander encoding (</a:t>
            </a:r>
            <a:r>
              <a:rPr lang="en-US" dirty="0" err="1"/>
              <a:t>cont</a:t>
            </a:r>
            <a:r>
              <a:rPr lang="en-US" dirty="0"/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6DE21D-C55B-4CAC-9A08-84E8126BAB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676400"/>
            <a:ext cx="8489950" cy="4130675"/>
          </a:xfrm>
        </p:spPr>
        <p:txBody>
          <a:bodyPr/>
          <a:lstStyle/>
          <a:p>
            <a:r>
              <a:rPr lang="en-US" sz="2400" dirty="0"/>
              <a:t>For n = 6 (X</a:t>
            </a:r>
            <a:r>
              <a:rPr lang="en-US" sz="2400" baseline="-25000" dirty="0"/>
              <a:t>1</a:t>
            </a:r>
            <a:r>
              <a:rPr lang="en-US" sz="2400" dirty="0"/>
              <a:t> X</a:t>
            </a:r>
            <a:r>
              <a:rPr lang="en-US" sz="2400" baseline="-25000" dirty="0"/>
              <a:t>2</a:t>
            </a:r>
            <a:r>
              <a:rPr lang="en-US" sz="2400" dirty="0"/>
              <a:t>, …, X</a:t>
            </a:r>
            <a:r>
              <a:rPr lang="en-US" sz="2400" baseline="-25000" dirty="0"/>
              <a:t>6</a:t>
            </a:r>
            <a:r>
              <a:rPr lang="en-US" sz="2400" dirty="0"/>
              <a:t>)</a:t>
            </a:r>
          </a:p>
          <a:p>
            <a:pPr lvl="1"/>
            <a:r>
              <a:rPr lang="en-US" sz="2000" dirty="0"/>
              <a:t>X</a:t>
            </a:r>
            <a:r>
              <a:rPr lang="en-US" sz="2000" baseline="-25000" dirty="0"/>
              <a:t>1</a:t>
            </a:r>
            <a:r>
              <a:rPr lang="en-US" sz="2000" dirty="0"/>
              <a:t>, X</a:t>
            </a:r>
            <a:r>
              <a:rPr lang="en-US" sz="2000" baseline="-25000" dirty="0"/>
              <a:t>2</a:t>
            </a:r>
            <a:r>
              <a:rPr lang="en-US" sz="2000" dirty="0"/>
              <a:t>, X</a:t>
            </a:r>
            <a:r>
              <a:rPr lang="en-US" sz="2000" baseline="-25000" dirty="0"/>
              <a:t>3</a:t>
            </a:r>
            <a:r>
              <a:rPr lang="en-US" sz="2000" dirty="0"/>
              <a:t> </a:t>
            </a:r>
            <a:r>
              <a:rPr lang="el-GR" sz="2000" dirty="0"/>
              <a:t>ϵ</a:t>
            </a:r>
            <a:r>
              <a:rPr lang="en-US" sz="2000" dirty="0"/>
              <a:t> G</a:t>
            </a:r>
            <a:r>
              <a:rPr lang="en-US" sz="2000" baseline="-25000" dirty="0"/>
              <a:t>1</a:t>
            </a:r>
            <a:r>
              <a:rPr lang="en-US" sz="2000" dirty="0"/>
              <a:t> </a:t>
            </a:r>
            <a:r>
              <a:rPr lang="en-US" sz="2000" baseline="-25000" dirty="0"/>
              <a:t>			</a:t>
            </a:r>
            <a:r>
              <a:rPr lang="en-US" sz="2000" b="1" dirty="0">
                <a:solidFill>
                  <a:srgbClr val="0000FF"/>
                </a:solidFill>
              </a:rPr>
              <a:t>G</a:t>
            </a:r>
            <a:r>
              <a:rPr lang="en-US" sz="2000" b="1" baseline="-25000" dirty="0">
                <a:solidFill>
                  <a:srgbClr val="0000FF"/>
                </a:solidFill>
              </a:rPr>
              <a:t>1</a:t>
            </a:r>
            <a:r>
              <a:rPr lang="en-US" sz="2000" b="1" dirty="0">
                <a:solidFill>
                  <a:srgbClr val="0000FF"/>
                </a:solidFill>
              </a:rPr>
              <a:t> </a:t>
            </a:r>
            <a:r>
              <a:rPr lang="en-US" sz="2000" b="1" dirty="0">
                <a:solidFill>
                  <a:srgbClr val="0000FF"/>
                </a:solidFill>
                <a:sym typeface="Wingdings" panose="05000000000000000000" pitchFamily="2" charset="2"/>
              </a:rPr>
              <a:t> c</a:t>
            </a:r>
            <a:r>
              <a:rPr lang="en-US" sz="2000" b="1" baseline="-25000" dirty="0">
                <a:solidFill>
                  <a:srgbClr val="0000FF"/>
                </a:solidFill>
                <a:sym typeface="Wingdings" panose="05000000000000000000" pitchFamily="2" charset="2"/>
              </a:rPr>
              <a:t>1</a:t>
            </a:r>
            <a:r>
              <a:rPr lang="en-US" sz="2000" baseline="-25000" dirty="0"/>
              <a:t>		</a:t>
            </a:r>
          </a:p>
          <a:p>
            <a:pPr lvl="1"/>
            <a:r>
              <a:rPr lang="en-US" sz="2000" dirty="0"/>
              <a:t>X</a:t>
            </a:r>
            <a:r>
              <a:rPr lang="en-US" sz="2000" baseline="-25000" dirty="0"/>
              <a:t>4</a:t>
            </a:r>
            <a:r>
              <a:rPr lang="en-US" sz="2000" dirty="0"/>
              <a:t>, X</a:t>
            </a:r>
            <a:r>
              <a:rPr lang="en-US" sz="2000" baseline="-25000" dirty="0"/>
              <a:t>5</a:t>
            </a:r>
            <a:r>
              <a:rPr lang="en-US" sz="2000" dirty="0"/>
              <a:t>, X</a:t>
            </a:r>
            <a:r>
              <a:rPr lang="en-US" sz="2000" baseline="-25000" dirty="0"/>
              <a:t>6</a:t>
            </a:r>
            <a:r>
              <a:rPr lang="en-US" sz="2000" dirty="0"/>
              <a:t> </a:t>
            </a:r>
            <a:r>
              <a:rPr lang="el-GR" sz="2000" dirty="0"/>
              <a:t>ϵ</a:t>
            </a:r>
            <a:r>
              <a:rPr lang="en-US" sz="2000" dirty="0">
                <a:sym typeface="Wingdings" panose="05000000000000000000" pitchFamily="2" charset="2"/>
              </a:rPr>
              <a:t> </a:t>
            </a:r>
            <a:r>
              <a:rPr lang="en-US" sz="2000" dirty="0"/>
              <a:t>G</a:t>
            </a:r>
            <a:r>
              <a:rPr lang="en-US" sz="2000" baseline="-25000" dirty="0"/>
              <a:t>2</a:t>
            </a:r>
            <a:r>
              <a:rPr lang="en-US" sz="2000" dirty="0"/>
              <a:t> </a:t>
            </a:r>
            <a:r>
              <a:rPr lang="en-US" sz="2000" dirty="0">
                <a:sym typeface="Wingdings" panose="05000000000000000000" pitchFamily="2" charset="2"/>
              </a:rPr>
              <a:t>			</a:t>
            </a:r>
            <a:r>
              <a:rPr lang="en-US" sz="2000" b="1" dirty="0">
                <a:solidFill>
                  <a:srgbClr val="0000FF"/>
                </a:solidFill>
              </a:rPr>
              <a:t>G</a:t>
            </a:r>
            <a:r>
              <a:rPr lang="en-US" sz="2000" b="1" baseline="-25000" dirty="0">
                <a:solidFill>
                  <a:srgbClr val="0000FF"/>
                </a:solidFill>
              </a:rPr>
              <a:t>2</a:t>
            </a:r>
            <a:r>
              <a:rPr lang="en-US" sz="2000" b="1" dirty="0">
                <a:solidFill>
                  <a:srgbClr val="0000FF"/>
                </a:solidFill>
              </a:rPr>
              <a:t> </a:t>
            </a:r>
            <a:r>
              <a:rPr lang="en-US" sz="2000" b="1" dirty="0">
                <a:solidFill>
                  <a:srgbClr val="0000FF"/>
                </a:solidFill>
                <a:sym typeface="Wingdings" panose="05000000000000000000" pitchFamily="2" charset="2"/>
              </a:rPr>
              <a:t> c</a:t>
            </a:r>
            <a:r>
              <a:rPr lang="en-US" sz="2000" b="1" baseline="-25000" dirty="0">
                <a:solidFill>
                  <a:srgbClr val="0000FF"/>
                </a:solidFill>
                <a:sym typeface="Wingdings" panose="05000000000000000000" pitchFamily="2" charset="2"/>
              </a:rPr>
              <a:t>2</a:t>
            </a:r>
            <a:endParaRPr lang="en-US" sz="2000" b="1" dirty="0">
              <a:solidFill>
                <a:srgbClr val="0000FF"/>
              </a:solidFill>
            </a:endParaRPr>
          </a:p>
          <a:p>
            <a:pPr lvl="1"/>
            <a:r>
              <a:rPr lang="en-US" sz="2000" b="1" dirty="0"/>
              <a:t>(c</a:t>
            </a:r>
            <a:r>
              <a:rPr lang="en-US" sz="2000" b="1" baseline="-25000" dirty="0"/>
              <a:t>1 </a:t>
            </a:r>
            <a:r>
              <a:rPr lang="en-US" sz="2000" b="1" dirty="0"/>
              <a:t>v c</a:t>
            </a:r>
            <a:r>
              <a:rPr lang="en-US" sz="2000" b="1" baseline="-25000" dirty="0"/>
              <a:t>2</a:t>
            </a:r>
            <a:r>
              <a:rPr lang="en-US" sz="2000" b="1" dirty="0"/>
              <a:t>) </a:t>
            </a:r>
            <a:r>
              <a:rPr kumimoji="1" lang="en-US" altLang="ja-JP" sz="2000" b="1" i="0" u="none" strike="noStrike" cap="none" normalizeH="0" baseline="0" dirty="0">
                <a:ln>
                  <a:noFill/>
                </a:ln>
                <a:effectLst/>
                <a:latin typeface="+mj-lt"/>
                <a:ea typeface="ＭＳ Ｐゴシック" pitchFamily="50" charset="-128"/>
              </a:rPr>
              <a:t>∧ (</a:t>
            </a:r>
            <a:r>
              <a:rPr lang="en-US" sz="2000" b="1" dirty="0"/>
              <a:t>c</a:t>
            </a:r>
            <a:r>
              <a:rPr lang="en-US" sz="2000" b="1" baseline="-25000" dirty="0"/>
              <a:t>1 </a:t>
            </a:r>
            <a:r>
              <a:rPr lang="en-US" sz="2000" b="1" dirty="0">
                <a:sym typeface="Wingdings" panose="05000000000000000000" pitchFamily="2" charset="2"/>
              </a:rPr>
              <a:t></a:t>
            </a:r>
            <a:r>
              <a:rPr lang="en-US" sz="2000" b="1" dirty="0"/>
              <a:t> </a:t>
            </a:r>
            <a:r>
              <a:rPr lang="ja-JP" altLang="en-US" sz="2000" b="1" dirty="0"/>
              <a:t>￢</a:t>
            </a:r>
            <a:r>
              <a:rPr lang="en-US" sz="2000" b="1" dirty="0"/>
              <a:t>c</a:t>
            </a:r>
            <a:r>
              <a:rPr lang="en-US" sz="2000" b="1" baseline="-25000" dirty="0"/>
              <a:t>2</a:t>
            </a:r>
            <a:r>
              <a:rPr lang="en-US" sz="2000" b="1" dirty="0"/>
              <a:t>) </a:t>
            </a:r>
            <a:r>
              <a:rPr kumimoji="1" lang="en-US" altLang="ja-JP" sz="2000" b="1" i="0" u="none" strike="noStrike" cap="none" normalizeH="0" baseline="0" dirty="0">
                <a:ln>
                  <a:noFill/>
                </a:ln>
                <a:effectLst/>
                <a:latin typeface="+mj-lt"/>
                <a:ea typeface="ＭＳ Ｐゴシック" pitchFamily="50" charset="-128"/>
              </a:rPr>
              <a:t>∧</a:t>
            </a:r>
            <a:endParaRPr lang="en-US" sz="2000" b="1" dirty="0"/>
          </a:p>
          <a:p>
            <a:pPr lvl="1"/>
            <a:r>
              <a:rPr lang="en-US" sz="2000" b="1" dirty="0"/>
              <a:t>c</a:t>
            </a:r>
            <a:r>
              <a:rPr lang="en-US" sz="2000" b="1" baseline="-25000" dirty="0"/>
              <a:t>1 </a:t>
            </a:r>
            <a:r>
              <a:rPr lang="en-US" sz="2000" b="1" dirty="0">
                <a:sym typeface="Wingdings" panose="05000000000000000000" pitchFamily="2" charset="2"/>
              </a:rPr>
              <a:t> (X</a:t>
            </a:r>
            <a:r>
              <a:rPr lang="en-US" sz="2000" b="1" baseline="-25000" dirty="0">
                <a:sym typeface="Wingdings" panose="05000000000000000000" pitchFamily="2" charset="2"/>
              </a:rPr>
              <a:t>1</a:t>
            </a:r>
            <a:r>
              <a:rPr lang="en-US" sz="2000" b="1" dirty="0">
                <a:sym typeface="Wingdings" panose="05000000000000000000" pitchFamily="2" charset="2"/>
              </a:rPr>
              <a:t> v X</a:t>
            </a:r>
            <a:r>
              <a:rPr lang="en-US" sz="2000" b="1" baseline="-25000" dirty="0">
                <a:sym typeface="Wingdings" panose="05000000000000000000" pitchFamily="2" charset="2"/>
              </a:rPr>
              <a:t>2</a:t>
            </a:r>
            <a:r>
              <a:rPr lang="en-US" sz="2000" b="1" dirty="0">
                <a:sym typeface="Wingdings" panose="05000000000000000000" pitchFamily="2" charset="2"/>
              </a:rPr>
              <a:t> v X</a:t>
            </a:r>
            <a:r>
              <a:rPr lang="en-US" sz="2000" b="1" baseline="-25000" dirty="0">
                <a:sym typeface="Wingdings" panose="05000000000000000000" pitchFamily="2" charset="2"/>
              </a:rPr>
              <a:t>3</a:t>
            </a:r>
            <a:r>
              <a:rPr lang="en-US" sz="2000" b="1" dirty="0">
                <a:sym typeface="Wingdings" panose="05000000000000000000" pitchFamily="2" charset="2"/>
              </a:rPr>
              <a:t>) </a:t>
            </a:r>
            <a:r>
              <a:rPr kumimoji="1" lang="en-US" altLang="ja-JP" sz="2000" b="1" i="0" u="none" strike="noStrike" cap="none" normalizeH="0" baseline="0" dirty="0">
                <a:ln>
                  <a:noFill/>
                </a:ln>
                <a:effectLst/>
                <a:ea typeface="ＭＳ Ｐゴシック" pitchFamily="50" charset="-128"/>
              </a:rPr>
              <a:t>∧ (</a:t>
            </a:r>
            <a:r>
              <a:rPr lang="en-US" sz="2000" b="1" dirty="0"/>
              <a:t>X</a:t>
            </a:r>
            <a:r>
              <a:rPr lang="en-US" sz="2000" b="1" baseline="-25000" dirty="0"/>
              <a:t>1 </a:t>
            </a:r>
            <a:r>
              <a:rPr lang="en-US" sz="2000" b="1" dirty="0">
                <a:sym typeface="Wingdings" panose="05000000000000000000" pitchFamily="2" charset="2"/>
              </a:rPr>
              <a:t></a:t>
            </a:r>
            <a:r>
              <a:rPr lang="en-US" sz="2000" b="1" dirty="0"/>
              <a:t> </a:t>
            </a:r>
            <a:r>
              <a:rPr lang="ja-JP" altLang="en-US" sz="2000" b="1" dirty="0"/>
              <a:t>￢</a:t>
            </a:r>
            <a:r>
              <a:rPr lang="en-US" sz="2000" b="1" dirty="0"/>
              <a:t>X</a:t>
            </a:r>
            <a:r>
              <a:rPr lang="en-US" sz="2000" b="1" baseline="-25000" dirty="0"/>
              <a:t>2</a:t>
            </a:r>
            <a:r>
              <a:rPr lang="en-US" sz="2000" b="1" dirty="0"/>
              <a:t>) </a:t>
            </a:r>
            <a:r>
              <a:rPr kumimoji="1" lang="en-US" altLang="ja-JP" sz="2000" b="1" i="0" u="none" strike="noStrike" cap="none" normalizeH="0" baseline="0" dirty="0">
                <a:ln>
                  <a:noFill/>
                </a:ln>
                <a:effectLst/>
                <a:ea typeface="ＭＳ Ｐゴシック" pitchFamily="50" charset="-128"/>
              </a:rPr>
              <a:t>∧ (</a:t>
            </a:r>
            <a:r>
              <a:rPr lang="en-US" sz="2000" b="1" dirty="0"/>
              <a:t>X</a:t>
            </a:r>
            <a:r>
              <a:rPr lang="en-US" sz="2000" b="1" baseline="-25000" dirty="0"/>
              <a:t>1 </a:t>
            </a:r>
            <a:r>
              <a:rPr lang="en-US" sz="2000" b="1" dirty="0">
                <a:sym typeface="Wingdings" panose="05000000000000000000" pitchFamily="2" charset="2"/>
              </a:rPr>
              <a:t></a:t>
            </a:r>
            <a:r>
              <a:rPr lang="en-US" sz="2000" b="1" dirty="0"/>
              <a:t> </a:t>
            </a:r>
            <a:r>
              <a:rPr lang="ja-JP" altLang="en-US" sz="2000" b="1" dirty="0"/>
              <a:t>￢</a:t>
            </a:r>
            <a:r>
              <a:rPr lang="en-US" sz="2000" b="1" dirty="0"/>
              <a:t>X</a:t>
            </a:r>
            <a:r>
              <a:rPr lang="en-US" sz="2000" b="1" baseline="-25000" dirty="0"/>
              <a:t>3</a:t>
            </a:r>
            <a:r>
              <a:rPr lang="en-US" sz="2000" b="1" dirty="0"/>
              <a:t>) </a:t>
            </a:r>
            <a:r>
              <a:rPr kumimoji="1" lang="en-US" altLang="ja-JP" sz="2000" b="1" i="0" u="none" strike="noStrike" cap="none" normalizeH="0" baseline="0" dirty="0">
                <a:ln>
                  <a:noFill/>
                </a:ln>
                <a:effectLst/>
                <a:ea typeface="ＭＳ Ｐゴシック" pitchFamily="50" charset="-128"/>
              </a:rPr>
              <a:t>∧ (</a:t>
            </a:r>
            <a:r>
              <a:rPr lang="en-US" sz="2000" b="1" dirty="0"/>
              <a:t>X</a:t>
            </a:r>
            <a:r>
              <a:rPr lang="en-US" sz="2000" b="1" baseline="-25000" dirty="0"/>
              <a:t>2 </a:t>
            </a:r>
            <a:r>
              <a:rPr lang="en-US" sz="2000" b="1" dirty="0">
                <a:sym typeface="Wingdings" panose="05000000000000000000" pitchFamily="2" charset="2"/>
              </a:rPr>
              <a:t></a:t>
            </a:r>
            <a:r>
              <a:rPr lang="en-US" sz="2000" b="1" dirty="0"/>
              <a:t> </a:t>
            </a:r>
            <a:r>
              <a:rPr lang="ja-JP" altLang="en-US" sz="2000" b="1" dirty="0"/>
              <a:t>￢</a:t>
            </a:r>
            <a:r>
              <a:rPr lang="en-US" sz="2000" b="1" dirty="0"/>
              <a:t>X</a:t>
            </a:r>
            <a:r>
              <a:rPr lang="en-US" sz="2000" b="1" baseline="-25000" dirty="0"/>
              <a:t>3</a:t>
            </a:r>
            <a:r>
              <a:rPr lang="en-US" sz="2000" b="1" dirty="0"/>
              <a:t>) </a:t>
            </a:r>
            <a:r>
              <a:rPr kumimoji="1" lang="en-US" altLang="ja-JP" sz="2000" b="1" i="0" u="none" strike="noStrike" cap="none" normalizeH="0" baseline="0" dirty="0">
                <a:ln>
                  <a:noFill/>
                </a:ln>
                <a:effectLst/>
                <a:latin typeface="+mj-lt"/>
                <a:ea typeface="ＭＳ Ｐゴシック" pitchFamily="50" charset="-128"/>
              </a:rPr>
              <a:t>∧</a:t>
            </a:r>
            <a:endParaRPr lang="en-US" sz="2000" dirty="0"/>
          </a:p>
          <a:p>
            <a:pPr lvl="1"/>
            <a:r>
              <a:rPr lang="en-US" sz="2000" b="1" dirty="0"/>
              <a:t>c</a:t>
            </a:r>
            <a:r>
              <a:rPr lang="en-US" sz="2000" b="1" baseline="-25000" dirty="0"/>
              <a:t>2 </a:t>
            </a:r>
            <a:r>
              <a:rPr lang="en-US" sz="2000" b="1" dirty="0">
                <a:sym typeface="Wingdings" panose="05000000000000000000" pitchFamily="2" charset="2"/>
              </a:rPr>
              <a:t> (X</a:t>
            </a:r>
            <a:r>
              <a:rPr lang="en-US" sz="2000" b="1" baseline="-25000" dirty="0">
                <a:sym typeface="Wingdings" panose="05000000000000000000" pitchFamily="2" charset="2"/>
              </a:rPr>
              <a:t>4</a:t>
            </a:r>
            <a:r>
              <a:rPr lang="en-US" sz="2000" b="1" dirty="0">
                <a:sym typeface="Wingdings" panose="05000000000000000000" pitchFamily="2" charset="2"/>
              </a:rPr>
              <a:t> v X</a:t>
            </a:r>
            <a:r>
              <a:rPr lang="en-US" sz="2000" b="1" baseline="-25000" dirty="0">
                <a:sym typeface="Wingdings" panose="05000000000000000000" pitchFamily="2" charset="2"/>
              </a:rPr>
              <a:t>5</a:t>
            </a:r>
            <a:r>
              <a:rPr lang="en-US" sz="2000" b="1" dirty="0">
                <a:sym typeface="Wingdings" panose="05000000000000000000" pitchFamily="2" charset="2"/>
              </a:rPr>
              <a:t> v X</a:t>
            </a:r>
            <a:r>
              <a:rPr lang="en-US" sz="2000" b="1" baseline="-25000" dirty="0">
                <a:sym typeface="Wingdings" panose="05000000000000000000" pitchFamily="2" charset="2"/>
              </a:rPr>
              <a:t>6</a:t>
            </a:r>
            <a:r>
              <a:rPr lang="en-US" sz="2000" b="1" dirty="0">
                <a:sym typeface="Wingdings" panose="05000000000000000000" pitchFamily="2" charset="2"/>
              </a:rPr>
              <a:t>) </a:t>
            </a:r>
            <a:r>
              <a:rPr kumimoji="1" lang="en-US" altLang="ja-JP" sz="2000" b="1" i="0" u="none" strike="noStrike" cap="none" normalizeH="0" baseline="0" dirty="0">
                <a:ln>
                  <a:noFill/>
                </a:ln>
                <a:effectLst/>
                <a:ea typeface="ＭＳ Ｐゴシック" pitchFamily="50" charset="-128"/>
              </a:rPr>
              <a:t>∧ (</a:t>
            </a:r>
            <a:r>
              <a:rPr lang="en-US" sz="2000" b="1" dirty="0"/>
              <a:t>X</a:t>
            </a:r>
            <a:r>
              <a:rPr lang="en-US" sz="2000" b="1" baseline="-25000" dirty="0"/>
              <a:t>4 </a:t>
            </a:r>
            <a:r>
              <a:rPr lang="en-US" sz="2000" b="1" dirty="0">
                <a:sym typeface="Wingdings" panose="05000000000000000000" pitchFamily="2" charset="2"/>
              </a:rPr>
              <a:t></a:t>
            </a:r>
            <a:r>
              <a:rPr lang="en-US" sz="2000" b="1" dirty="0"/>
              <a:t> </a:t>
            </a:r>
            <a:r>
              <a:rPr lang="ja-JP" altLang="en-US" sz="2000" b="1" dirty="0"/>
              <a:t>￢</a:t>
            </a:r>
            <a:r>
              <a:rPr lang="en-US" sz="2000" b="1" dirty="0"/>
              <a:t>X</a:t>
            </a:r>
            <a:r>
              <a:rPr lang="en-US" sz="2000" b="1" baseline="-25000" dirty="0"/>
              <a:t>5</a:t>
            </a:r>
            <a:r>
              <a:rPr lang="en-US" sz="2000" b="1" dirty="0"/>
              <a:t>) </a:t>
            </a:r>
            <a:r>
              <a:rPr kumimoji="1" lang="en-US" altLang="ja-JP" sz="2000" b="1" i="0" u="none" strike="noStrike" cap="none" normalizeH="0" baseline="0" dirty="0">
                <a:ln>
                  <a:noFill/>
                </a:ln>
                <a:effectLst/>
                <a:ea typeface="ＭＳ Ｐゴシック" pitchFamily="50" charset="-128"/>
              </a:rPr>
              <a:t>∧ (</a:t>
            </a:r>
            <a:r>
              <a:rPr lang="en-US" sz="2000" b="1" dirty="0"/>
              <a:t>X</a:t>
            </a:r>
            <a:r>
              <a:rPr lang="en-US" sz="2000" b="1" baseline="-25000" dirty="0"/>
              <a:t>4 </a:t>
            </a:r>
            <a:r>
              <a:rPr lang="en-US" sz="2000" b="1" dirty="0">
                <a:sym typeface="Wingdings" panose="05000000000000000000" pitchFamily="2" charset="2"/>
              </a:rPr>
              <a:t></a:t>
            </a:r>
            <a:r>
              <a:rPr lang="en-US" sz="2000" b="1" dirty="0"/>
              <a:t> </a:t>
            </a:r>
            <a:r>
              <a:rPr lang="ja-JP" altLang="en-US" sz="2000" b="1" dirty="0"/>
              <a:t>￢</a:t>
            </a:r>
            <a:r>
              <a:rPr lang="en-US" sz="2000" b="1" dirty="0"/>
              <a:t>X</a:t>
            </a:r>
            <a:r>
              <a:rPr lang="en-US" sz="2000" b="1" baseline="-25000" dirty="0"/>
              <a:t>5</a:t>
            </a:r>
            <a:r>
              <a:rPr lang="en-US" sz="2000" b="1" dirty="0"/>
              <a:t>) </a:t>
            </a:r>
            <a:r>
              <a:rPr kumimoji="1" lang="en-US" altLang="ja-JP" sz="2000" b="1" i="0" u="none" strike="noStrike" cap="none" normalizeH="0" baseline="0" dirty="0">
                <a:ln>
                  <a:noFill/>
                </a:ln>
                <a:effectLst/>
                <a:ea typeface="ＭＳ Ｐゴシック" pitchFamily="50" charset="-128"/>
              </a:rPr>
              <a:t>∧ (</a:t>
            </a:r>
            <a:r>
              <a:rPr lang="en-US" sz="2000" b="1" dirty="0"/>
              <a:t>X</a:t>
            </a:r>
            <a:r>
              <a:rPr lang="en-US" sz="2000" b="1" baseline="-25000" dirty="0"/>
              <a:t>5 </a:t>
            </a:r>
            <a:r>
              <a:rPr lang="en-US" sz="2000" b="1" dirty="0">
                <a:sym typeface="Wingdings" panose="05000000000000000000" pitchFamily="2" charset="2"/>
              </a:rPr>
              <a:t></a:t>
            </a:r>
            <a:r>
              <a:rPr lang="en-US" sz="2000" b="1" dirty="0"/>
              <a:t> </a:t>
            </a:r>
            <a:r>
              <a:rPr lang="ja-JP" altLang="en-US" sz="2000" b="1" dirty="0"/>
              <a:t>￢</a:t>
            </a:r>
            <a:r>
              <a:rPr lang="en-US" sz="2000" b="1" dirty="0"/>
              <a:t>X</a:t>
            </a:r>
            <a:r>
              <a:rPr lang="en-US" sz="2000" b="1" baseline="-25000" dirty="0"/>
              <a:t>6</a:t>
            </a:r>
            <a:r>
              <a:rPr lang="en-US" sz="2000" b="1" dirty="0"/>
              <a:t>) </a:t>
            </a:r>
            <a:r>
              <a:rPr kumimoji="1" lang="en-US" altLang="ja-JP" sz="2000" b="1" i="0" u="none" strike="noStrike" cap="none" normalizeH="0" baseline="0" dirty="0">
                <a:ln>
                  <a:noFill/>
                </a:ln>
                <a:effectLst/>
                <a:latin typeface="+mj-lt"/>
                <a:ea typeface="ＭＳ Ｐゴシック" pitchFamily="50" charset="-128"/>
              </a:rPr>
              <a:t>∧</a:t>
            </a:r>
            <a:endParaRPr lang="en-US" altLang="ja-JP" sz="2000" b="1" dirty="0"/>
          </a:p>
          <a:p>
            <a:pPr lvl="1"/>
            <a:r>
              <a:rPr lang="en-US" altLang="ja-JP" sz="2000" b="1" dirty="0"/>
              <a:t>(</a:t>
            </a:r>
            <a:r>
              <a:rPr lang="ja-JP" altLang="en-US" sz="2000" b="1" dirty="0"/>
              <a:t>￢</a:t>
            </a:r>
            <a:r>
              <a:rPr lang="en-US" sz="2000" b="1" dirty="0"/>
              <a:t>c</a:t>
            </a:r>
            <a:r>
              <a:rPr lang="en-US" sz="2000" b="1" baseline="-25000" dirty="0"/>
              <a:t>1 </a:t>
            </a:r>
            <a:r>
              <a:rPr lang="en-US" sz="2000" b="1" dirty="0">
                <a:sym typeface="Wingdings" panose="05000000000000000000" pitchFamily="2" charset="2"/>
              </a:rPr>
              <a:t> </a:t>
            </a:r>
            <a:r>
              <a:rPr lang="ja-JP" altLang="en-US" sz="2000" b="1" dirty="0"/>
              <a:t>￢</a:t>
            </a:r>
            <a:r>
              <a:rPr lang="en-US" sz="2000" b="1" dirty="0">
                <a:sym typeface="Wingdings" panose="05000000000000000000" pitchFamily="2" charset="2"/>
              </a:rPr>
              <a:t>X</a:t>
            </a:r>
            <a:r>
              <a:rPr lang="en-US" sz="2000" b="1" baseline="-25000" dirty="0">
                <a:sym typeface="Wingdings" panose="05000000000000000000" pitchFamily="2" charset="2"/>
              </a:rPr>
              <a:t>1</a:t>
            </a:r>
            <a:r>
              <a:rPr lang="en-US" sz="2000" b="1" dirty="0">
                <a:sym typeface="Wingdings" panose="05000000000000000000" pitchFamily="2" charset="2"/>
              </a:rPr>
              <a:t>) </a:t>
            </a:r>
            <a:r>
              <a:rPr kumimoji="1" lang="en-US" altLang="ja-JP" sz="2000" b="1" i="0" u="none" strike="noStrike" cap="none" normalizeH="0" baseline="0" dirty="0">
                <a:ln>
                  <a:noFill/>
                </a:ln>
                <a:effectLst/>
                <a:latin typeface="+mj-lt"/>
                <a:ea typeface="ＭＳ Ｐゴシック" pitchFamily="50" charset="-128"/>
              </a:rPr>
              <a:t>∧ </a:t>
            </a:r>
            <a:r>
              <a:rPr lang="en-US" altLang="ja-JP" sz="2000" b="1" dirty="0"/>
              <a:t>(</a:t>
            </a:r>
            <a:r>
              <a:rPr lang="ja-JP" altLang="en-US" sz="2000" b="1" dirty="0"/>
              <a:t>￢</a:t>
            </a:r>
            <a:r>
              <a:rPr lang="en-US" sz="2000" b="1" dirty="0"/>
              <a:t>c</a:t>
            </a:r>
            <a:r>
              <a:rPr lang="en-US" sz="2000" b="1" baseline="-25000" dirty="0"/>
              <a:t>1 </a:t>
            </a:r>
            <a:r>
              <a:rPr lang="en-US" sz="2000" b="1" dirty="0">
                <a:sym typeface="Wingdings" panose="05000000000000000000" pitchFamily="2" charset="2"/>
              </a:rPr>
              <a:t> </a:t>
            </a:r>
            <a:r>
              <a:rPr lang="ja-JP" altLang="en-US" sz="2000" b="1" dirty="0"/>
              <a:t>￢</a:t>
            </a:r>
            <a:r>
              <a:rPr lang="en-US" sz="2000" b="1" dirty="0">
                <a:sym typeface="Wingdings" panose="05000000000000000000" pitchFamily="2" charset="2"/>
              </a:rPr>
              <a:t>X</a:t>
            </a:r>
            <a:r>
              <a:rPr lang="en-US" sz="2000" b="1" baseline="-25000" dirty="0">
                <a:sym typeface="Wingdings" panose="05000000000000000000" pitchFamily="2" charset="2"/>
              </a:rPr>
              <a:t>2</a:t>
            </a:r>
            <a:r>
              <a:rPr lang="en-US" sz="2000" b="1" dirty="0">
                <a:sym typeface="Wingdings" panose="05000000000000000000" pitchFamily="2" charset="2"/>
              </a:rPr>
              <a:t>) </a:t>
            </a:r>
            <a:r>
              <a:rPr kumimoji="1" lang="en-US" altLang="ja-JP" sz="2000" b="1" i="0" u="none" strike="noStrike" cap="none" normalizeH="0" baseline="0" dirty="0">
                <a:ln>
                  <a:noFill/>
                </a:ln>
                <a:effectLst/>
                <a:latin typeface="+mj-lt"/>
                <a:ea typeface="ＭＳ Ｐゴシック" pitchFamily="50" charset="-128"/>
              </a:rPr>
              <a:t>∧ </a:t>
            </a:r>
            <a:r>
              <a:rPr lang="en-US" altLang="ja-JP" sz="2000" b="1" dirty="0"/>
              <a:t>(</a:t>
            </a:r>
            <a:r>
              <a:rPr lang="ja-JP" altLang="en-US" sz="2000" b="1" dirty="0"/>
              <a:t>￢</a:t>
            </a:r>
            <a:r>
              <a:rPr lang="en-US" sz="2000" b="1" dirty="0"/>
              <a:t>c</a:t>
            </a:r>
            <a:r>
              <a:rPr lang="en-US" sz="2000" b="1" baseline="-25000" dirty="0"/>
              <a:t>1 </a:t>
            </a:r>
            <a:r>
              <a:rPr lang="en-US" sz="2000" b="1" dirty="0">
                <a:sym typeface="Wingdings" panose="05000000000000000000" pitchFamily="2" charset="2"/>
              </a:rPr>
              <a:t> </a:t>
            </a:r>
            <a:r>
              <a:rPr lang="ja-JP" altLang="en-US" sz="2000" b="1" dirty="0"/>
              <a:t>￢</a:t>
            </a:r>
            <a:r>
              <a:rPr lang="en-US" sz="2000" b="1" dirty="0">
                <a:sym typeface="Wingdings" panose="05000000000000000000" pitchFamily="2" charset="2"/>
              </a:rPr>
              <a:t>X</a:t>
            </a:r>
            <a:r>
              <a:rPr lang="en-US" sz="2000" b="1" baseline="-25000" dirty="0">
                <a:sym typeface="Wingdings" panose="05000000000000000000" pitchFamily="2" charset="2"/>
              </a:rPr>
              <a:t>3</a:t>
            </a:r>
            <a:r>
              <a:rPr lang="en-US" sz="2000" b="1" dirty="0">
                <a:sym typeface="Wingdings" panose="05000000000000000000" pitchFamily="2" charset="2"/>
              </a:rPr>
              <a:t>) </a:t>
            </a:r>
            <a:r>
              <a:rPr kumimoji="1" lang="en-US" altLang="ja-JP" sz="2000" b="1" i="0" u="none" strike="noStrike" cap="none" normalizeH="0" baseline="0" dirty="0">
                <a:ln>
                  <a:noFill/>
                </a:ln>
                <a:effectLst/>
                <a:latin typeface="+mj-lt"/>
                <a:ea typeface="ＭＳ Ｐゴシック" pitchFamily="50" charset="-128"/>
              </a:rPr>
              <a:t>∧</a:t>
            </a:r>
            <a:endParaRPr lang="en-US" sz="2000" dirty="0"/>
          </a:p>
          <a:p>
            <a:pPr lvl="1"/>
            <a:r>
              <a:rPr lang="en-US" altLang="ja-JP" sz="2000" b="1" dirty="0"/>
              <a:t>(</a:t>
            </a:r>
            <a:r>
              <a:rPr lang="ja-JP" altLang="en-US" sz="2000" b="1" dirty="0"/>
              <a:t>￢</a:t>
            </a:r>
            <a:r>
              <a:rPr lang="en-US" sz="2000" b="1" dirty="0"/>
              <a:t>c</a:t>
            </a:r>
            <a:r>
              <a:rPr lang="en-US" sz="2000" b="1" baseline="-25000" dirty="0"/>
              <a:t>2 </a:t>
            </a:r>
            <a:r>
              <a:rPr lang="en-US" sz="2000" b="1" dirty="0">
                <a:sym typeface="Wingdings" panose="05000000000000000000" pitchFamily="2" charset="2"/>
              </a:rPr>
              <a:t> </a:t>
            </a:r>
            <a:r>
              <a:rPr lang="ja-JP" altLang="en-US" sz="2000" b="1" dirty="0"/>
              <a:t>￢</a:t>
            </a:r>
            <a:r>
              <a:rPr lang="en-US" sz="2000" b="1" dirty="0">
                <a:sym typeface="Wingdings" panose="05000000000000000000" pitchFamily="2" charset="2"/>
              </a:rPr>
              <a:t>X</a:t>
            </a:r>
            <a:r>
              <a:rPr lang="en-US" sz="2000" b="1" baseline="-25000" dirty="0">
                <a:sym typeface="Wingdings" panose="05000000000000000000" pitchFamily="2" charset="2"/>
              </a:rPr>
              <a:t>4</a:t>
            </a:r>
            <a:r>
              <a:rPr lang="en-US" sz="2000" b="1" dirty="0">
                <a:sym typeface="Wingdings" panose="05000000000000000000" pitchFamily="2" charset="2"/>
              </a:rPr>
              <a:t>) </a:t>
            </a:r>
            <a:r>
              <a:rPr kumimoji="1" lang="en-US" altLang="ja-JP" sz="2000" b="1" i="0" u="none" strike="noStrike" cap="none" normalizeH="0" baseline="0" dirty="0">
                <a:ln>
                  <a:noFill/>
                </a:ln>
                <a:effectLst/>
                <a:latin typeface="+mj-lt"/>
                <a:ea typeface="ＭＳ Ｐゴシック" pitchFamily="50" charset="-128"/>
              </a:rPr>
              <a:t>∧ </a:t>
            </a:r>
            <a:r>
              <a:rPr lang="en-US" altLang="ja-JP" sz="2000" b="1" dirty="0"/>
              <a:t>(</a:t>
            </a:r>
            <a:r>
              <a:rPr lang="ja-JP" altLang="en-US" sz="2000" b="1" dirty="0"/>
              <a:t>￢</a:t>
            </a:r>
            <a:r>
              <a:rPr lang="en-US" sz="2000" b="1" dirty="0"/>
              <a:t>c</a:t>
            </a:r>
            <a:r>
              <a:rPr lang="en-US" sz="2000" b="1" baseline="-25000" dirty="0"/>
              <a:t>2 </a:t>
            </a:r>
            <a:r>
              <a:rPr lang="en-US" sz="2000" b="1" dirty="0">
                <a:sym typeface="Wingdings" panose="05000000000000000000" pitchFamily="2" charset="2"/>
              </a:rPr>
              <a:t> </a:t>
            </a:r>
            <a:r>
              <a:rPr lang="ja-JP" altLang="en-US" sz="2000" b="1" dirty="0"/>
              <a:t>￢</a:t>
            </a:r>
            <a:r>
              <a:rPr lang="en-US" sz="2000" b="1" dirty="0">
                <a:sym typeface="Wingdings" panose="05000000000000000000" pitchFamily="2" charset="2"/>
              </a:rPr>
              <a:t>X</a:t>
            </a:r>
            <a:r>
              <a:rPr lang="en-US" sz="2000" b="1" baseline="-25000" dirty="0">
                <a:sym typeface="Wingdings" panose="05000000000000000000" pitchFamily="2" charset="2"/>
              </a:rPr>
              <a:t>5</a:t>
            </a:r>
            <a:r>
              <a:rPr lang="en-US" sz="2000" b="1" dirty="0">
                <a:sym typeface="Wingdings" panose="05000000000000000000" pitchFamily="2" charset="2"/>
              </a:rPr>
              <a:t>) </a:t>
            </a:r>
            <a:r>
              <a:rPr kumimoji="1" lang="en-US" altLang="ja-JP" sz="2000" b="1" i="0" u="none" strike="noStrike" cap="none" normalizeH="0" baseline="0" dirty="0">
                <a:ln>
                  <a:noFill/>
                </a:ln>
                <a:effectLst/>
                <a:latin typeface="+mj-lt"/>
                <a:ea typeface="ＭＳ Ｐゴシック" pitchFamily="50" charset="-128"/>
              </a:rPr>
              <a:t>∧ </a:t>
            </a:r>
            <a:r>
              <a:rPr lang="en-US" altLang="ja-JP" sz="2000" b="1" dirty="0"/>
              <a:t>(</a:t>
            </a:r>
            <a:r>
              <a:rPr lang="ja-JP" altLang="en-US" sz="2000" b="1" dirty="0"/>
              <a:t>￢</a:t>
            </a:r>
            <a:r>
              <a:rPr lang="en-US" sz="2000" b="1" dirty="0"/>
              <a:t>c</a:t>
            </a:r>
            <a:r>
              <a:rPr lang="en-US" sz="2000" b="1" baseline="-25000" dirty="0"/>
              <a:t>2 </a:t>
            </a:r>
            <a:r>
              <a:rPr lang="en-US" sz="2000" b="1" dirty="0">
                <a:sym typeface="Wingdings" panose="05000000000000000000" pitchFamily="2" charset="2"/>
              </a:rPr>
              <a:t> </a:t>
            </a:r>
            <a:r>
              <a:rPr lang="ja-JP" altLang="en-US" sz="2000" b="1" dirty="0"/>
              <a:t>￢</a:t>
            </a:r>
            <a:r>
              <a:rPr lang="en-US" sz="2000" b="1" dirty="0">
                <a:sym typeface="Wingdings" panose="05000000000000000000" pitchFamily="2" charset="2"/>
              </a:rPr>
              <a:t>X</a:t>
            </a:r>
            <a:r>
              <a:rPr lang="en-US" sz="2000" b="1" baseline="-25000" dirty="0">
                <a:sym typeface="Wingdings" panose="05000000000000000000" pitchFamily="2" charset="2"/>
              </a:rPr>
              <a:t>6</a:t>
            </a:r>
            <a:r>
              <a:rPr lang="en-US" sz="2000" b="1" dirty="0">
                <a:sym typeface="Wingdings" panose="05000000000000000000" pitchFamily="2" charset="2"/>
              </a:rPr>
              <a:t>)	</a:t>
            </a:r>
            <a:endParaRPr kumimoji="1" lang="en-US" altLang="ja-JP" sz="2000" b="1" i="0" u="none" strike="noStrike" cap="none" normalizeH="0" baseline="0" dirty="0">
              <a:ln>
                <a:noFill/>
              </a:ln>
              <a:effectLst/>
              <a:latin typeface="+mj-lt"/>
              <a:ea typeface="ＭＳ Ｐゴシック" pitchFamily="50" charset="-128"/>
            </a:endParaRPr>
          </a:p>
          <a:p>
            <a:r>
              <a:rPr lang="en-US" sz="2400" dirty="0">
                <a:solidFill>
                  <a:schemeClr val="accent1"/>
                </a:solidFill>
              </a:rPr>
              <a:t>For n = 7 (X</a:t>
            </a:r>
            <a:r>
              <a:rPr lang="en-US" sz="2400" baseline="-25000" dirty="0">
                <a:solidFill>
                  <a:schemeClr val="accent1"/>
                </a:solidFill>
              </a:rPr>
              <a:t>1</a:t>
            </a:r>
            <a:r>
              <a:rPr lang="en-US" sz="2400" dirty="0">
                <a:solidFill>
                  <a:schemeClr val="accent1"/>
                </a:solidFill>
              </a:rPr>
              <a:t> X</a:t>
            </a:r>
            <a:r>
              <a:rPr lang="en-US" sz="2400" baseline="-25000" dirty="0">
                <a:solidFill>
                  <a:schemeClr val="accent1"/>
                </a:solidFill>
              </a:rPr>
              <a:t>2</a:t>
            </a:r>
            <a:r>
              <a:rPr lang="en-US" sz="2400" dirty="0">
                <a:solidFill>
                  <a:schemeClr val="accent1"/>
                </a:solidFill>
              </a:rPr>
              <a:t>, …, X</a:t>
            </a:r>
            <a:r>
              <a:rPr lang="en-US" sz="2400" baseline="-25000" dirty="0">
                <a:solidFill>
                  <a:schemeClr val="accent1"/>
                </a:solidFill>
              </a:rPr>
              <a:t>7</a:t>
            </a:r>
            <a:r>
              <a:rPr lang="en-US" sz="2400" dirty="0">
                <a:solidFill>
                  <a:schemeClr val="accent1"/>
                </a:solidFill>
              </a:rPr>
              <a:t>)?</a:t>
            </a:r>
          </a:p>
          <a:p>
            <a:pPr lvl="1"/>
            <a:r>
              <a:rPr lang="en-US" sz="2000" dirty="0"/>
              <a:t>X</a:t>
            </a:r>
            <a:r>
              <a:rPr lang="en-US" sz="2000" baseline="-25000" dirty="0"/>
              <a:t>1</a:t>
            </a:r>
            <a:r>
              <a:rPr lang="en-US" sz="2000" dirty="0"/>
              <a:t>, X</a:t>
            </a:r>
            <a:r>
              <a:rPr lang="en-US" sz="2000" baseline="-25000" dirty="0"/>
              <a:t>2</a:t>
            </a:r>
            <a:r>
              <a:rPr lang="en-US" sz="2000" dirty="0"/>
              <a:t>, X</a:t>
            </a:r>
            <a:r>
              <a:rPr lang="en-US" sz="2000" baseline="-25000" dirty="0"/>
              <a:t>3</a:t>
            </a:r>
            <a:r>
              <a:rPr lang="en-US" sz="2000" dirty="0"/>
              <a:t>, X</a:t>
            </a:r>
            <a:r>
              <a:rPr lang="en-US" sz="2000" baseline="-25000" dirty="0"/>
              <a:t>4 </a:t>
            </a:r>
            <a:r>
              <a:rPr lang="el-GR" sz="2000" dirty="0"/>
              <a:t>ϵ</a:t>
            </a:r>
            <a:r>
              <a:rPr lang="en-US" sz="2000" dirty="0"/>
              <a:t> G</a:t>
            </a:r>
            <a:r>
              <a:rPr lang="en-US" sz="2000" baseline="-25000" dirty="0"/>
              <a:t>1</a:t>
            </a:r>
            <a:r>
              <a:rPr lang="en-US" sz="2000" dirty="0"/>
              <a:t> </a:t>
            </a:r>
            <a:r>
              <a:rPr lang="en-US" sz="2000" baseline="-25000" dirty="0"/>
              <a:t>			</a:t>
            </a:r>
          </a:p>
          <a:p>
            <a:pPr lvl="1"/>
            <a:r>
              <a:rPr lang="en-US" sz="2000" dirty="0"/>
              <a:t>X</a:t>
            </a:r>
            <a:r>
              <a:rPr lang="en-US" sz="2000" baseline="-25000" dirty="0"/>
              <a:t>5</a:t>
            </a:r>
            <a:r>
              <a:rPr lang="en-US" sz="2000" dirty="0"/>
              <a:t>, X</a:t>
            </a:r>
            <a:r>
              <a:rPr lang="en-US" sz="2000" baseline="-25000" dirty="0"/>
              <a:t>6</a:t>
            </a:r>
            <a:r>
              <a:rPr lang="en-US" sz="2000" dirty="0"/>
              <a:t>, X</a:t>
            </a:r>
            <a:r>
              <a:rPr lang="en-US" sz="2000" baseline="-25000" dirty="0"/>
              <a:t>7</a:t>
            </a:r>
            <a:r>
              <a:rPr lang="en-US" sz="2000" dirty="0">
                <a:sym typeface="Wingdings" panose="05000000000000000000" pitchFamily="2" charset="2"/>
              </a:rPr>
              <a:t> </a:t>
            </a:r>
            <a:r>
              <a:rPr lang="el-GR" sz="2000" dirty="0"/>
              <a:t>ϵ</a:t>
            </a:r>
            <a:r>
              <a:rPr lang="en-US" sz="2000" dirty="0"/>
              <a:t> G</a:t>
            </a:r>
            <a:r>
              <a:rPr lang="en-US" sz="2000" baseline="-25000" dirty="0"/>
              <a:t>2</a:t>
            </a:r>
            <a:r>
              <a:rPr lang="en-US" sz="2000" dirty="0"/>
              <a:t> </a:t>
            </a:r>
            <a:r>
              <a:rPr lang="en-US" sz="2000" dirty="0">
                <a:sym typeface="Wingdings" panose="05000000000000000000" pitchFamily="2" charset="2"/>
              </a:rPr>
              <a:t>	</a:t>
            </a:r>
          </a:p>
          <a:p>
            <a:pPr marL="581025" lvl="1" indent="0">
              <a:buNone/>
            </a:pPr>
            <a:r>
              <a:rPr lang="en-US" sz="2000" dirty="0">
                <a:sym typeface="Wingdings" panose="05000000000000000000" pitchFamily="2" charset="2"/>
              </a:rPr>
              <a:t>	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2905780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777B78-9DFA-4B26-A85A-933DBC9F2F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Product encoding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B62DA9-3504-4EC7-9603-53AC073438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676400"/>
            <a:ext cx="8413750" cy="4130675"/>
          </a:xfrm>
        </p:spPr>
        <p:txBody>
          <a:bodyPr/>
          <a:lstStyle/>
          <a:p>
            <a:r>
              <a:rPr lang="en-US" sz="2400" dirty="0"/>
              <a:t>Idea: Decompose AMO (X</a:t>
            </a:r>
            <a:r>
              <a:rPr lang="en-US" sz="2400" baseline="-25000" dirty="0"/>
              <a:t>1</a:t>
            </a:r>
            <a:r>
              <a:rPr lang="en-US" sz="2400" dirty="0"/>
              <a:t>, X</a:t>
            </a:r>
            <a:r>
              <a:rPr lang="en-US" sz="2400" baseline="-25000" dirty="0"/>
              <a:t>2</a:t>
            </a:r>
            <a:r>
              <a:rPr lang="en-US" sz="2400" dirty="0"/>
              <a:t>, …, </a:t>
            </a:r>
            <a:r>
              <a:rPr lang="en-US" sz="2400" dirty="0" err="1"/>
              <a:t>X</a:t>
            </a:r>
            <a:r>
              <a:rPr lang="en-US" sz="2400" baseline="-25000" dirty="0" err="1"/>
              <a:t>n</a:t>
            </a:r>
            <a:r>
              <a:rPr lang="en-US" sz="2400" dirty="0"/>
              <a:t>) into: AMO (r</a:t>
            </a:r>
            <a:r>
              <a:rPr lang="en-US" sz="2400" baseline="-25000" dirty="0"/>
              <a:t>1</a:t>
            </a:r>
            <a:r>
              <a:rPr lang="en-US" sz="2400" dirty="0"/>
              <a:t>, r</a:t>
            </a:r>
            <a:r>
              <a:rPr lang="en-US" sz="2400" baseline="-25000" dirty="0"/>
              <a:t>2</a:t>
            </a:r>
            <a:r>
              <a:rPr lang="en-US" sz="2400" dirty="0"/>
              <a:t>, …, </a:t>
            </a:r>
            <a:r>
              <a:rPr lang="en-US" sz="2400" dirty="0" err="1"/>
              <a:t>r</a:t>
            </a:r>
            <a:r>
              <a:rPr lang="en-US" sz="2400" baseline="-25000" dirty="0" err="1"/>
              <a:t>p</a:t>
            </a:r>
            <a:r>
              <a:rPr lang="en-US" sz="2400" dirty="0"/>
              <a:t>) and AMO (c</a:t>
            </a:r>
            <a:r>
              <a:rPr lang="en-US" sz="2400" baseline="-25000" dirty="0"/>
              <a:t>1</a:t>
            </a:r>
            <a:r>
              <a:rPr lang="en-US" sz="2400" dirty="0"/>
              <a:t>, c</a:t>
            </a:r>
            <a:r>
              <a:rPr lang="en-US" sz="2400" baseline="-25000" dirty="0"/>
              <a:t>2</a:t>
            </a:r>
            <a:r>
              <a:rPr lang="en-US" sz="2400" dirty="0"/>
              <a:t>, …, </a:t>
            </a:r>
            <a:r>
              <a:rPr lang="en-US" sz="2400" dirty="0" err="1"/>
              <a:t>c</a:t>
            </a:r>
            <a:r>
              <a:rPr lang="en-US" sz="2400" baseline="-25000" dirty="0" err="1"/>
              <a:t>q</a:t>
            </a:r>
            <a:r>
              <a:rPr lang="en-US" sz="2400" dirty="0"/>
              <a:t>)</a:t>
            </a:r>
          </a:p>
          <a:p>
            <a:pPr lvl="1"/>
            <a:r>
              <a:rPr lang="en-US" sz="2000" dirty="0"/>
              <a:t>A grid with n points (p x q): </a:t>
            </a:r>
            <a:r>
              <a:rPr lang="en-US" sz="2000" dirty="0">
                <a:solidFill>
                  <a:srgbClr val="0000FF"/>
                </a:solidFill>
              </a:rPr>
              <a:t>p = [sqrt(n)], q = [n/p]</a:t>
            </a:r>
          </a:p>
          <a:p>
            <a:pPr lvl="1"/>
            <a:r>
              <a:rPr lang="en-US" sz="2000" dirty="0"/>
              <a:t>One point for each variable (X</a:t>
            </a:r>
            <a:r>
              <a:rPr lang="en-US" sz="2000" baseline="-25000" dirty="0"/>
              <a:t>1</a:t>
            </a:r>
            <a:r>
              <a:rPr lang="en-US" sz="2000" dirty="0"/>
              <a:t>, X</a:t>
            </a:r>
            <a:r>
              <a:rPr lang="en-US" sz="2000" baseline="-25000" dirty="0"/>
              <a:t>2</a:t>
            </a:r>
            <a:r>
              <a:rPr lang="en-US" sz="2000" dirty="0"/>
              <a:t>, …, </a:t>
            </a:r>
            <a:r>
              <a:rPr lang="en-US" sz="2000" dirty="0" err="1"/>
              <a:t>X</a:t>
            </a:r>
            <a:r>
              <a:rPr lang="en-US" sz="2000" baseline="-25000" dirty="0" err="1"/>
              <a:t>n</a:t>
            </a:r>
            <a:r>
              <a:rPr lang="en-US" sz="2000" dirty="0"/>
              <a:t>)</a:t>
            </a:r>
          </a:p>
          <a:p>
            <a:pPr lvl="2"/>
            <a:r>
              <a:rPr lang="en-US" sz="2000" dirty="0"/>
              <a:t>X</a:t>
            </a:r>
            <a:r>
              <a:rPr lang="en-US" sz="2000" baseline="-25000" dirty="0"/>
              <a:t>1</a:t>
            </a:r>
            <a:r>
              <a:rPr lang="en-US" sz="2000" dirty="0"/>
              <a:t> </a:t>
            </a:r>
            <a:r>
              <a:rPr lang="en-US" sz="2000" dirty="0">
                <a:sym typeface="Wingdings" panose="05000000000000000000" pitchFamily="2" charset="2"/>
              </a:rPr>
              <a:t></a:t>
            </a:r>
            <a:r>
              <a:rPr lang="en-US" sz="2000" dirty="0"/>
              <a:t> (r</a:t>
            </a:r>
            <a:r>
              <a:rPr lang="en-US" sz="2000" baseline="-25000" dirty="0"/>
              <a:t>1</a:t>
            </a:r>
            <a:r>
              <a:rPr lang="en-US" sz="2000" dirty="0"/>
              <a:t>, c</a:t>
            </a:r>
            <a:r>
              <a:rPr lang="en-US" sz="2000" baseline="-25000" dirty="0"/>
              <a:t>1</a:t>
            </a:r>
            <a:r>
              <a:rPr lang="en-US" sz="2000" dirty="0"/>
              <a:t>), X</a:t>
            </a:r>
            <a:r>
              <a:rPr lang="en-US" sz="2000" baseline="-25000" dirty="0"/>
              <a:t>2</a:t>
            </a:r>
            <a:r>
              <a:rPr lang="en-US" sz="2000" dirty="0"/>
              <a:t> </a:t>
            </a:r>
            <a:r>
              <a:rPr lang="en-US" sz="2000" dirty="0">
                <a:sym typeface="Wingdings" panose="05000000000000000000" pitchFamily="2" charset="2"/>
              </a:rPr>
              <a:t></a:t>
            </a:r>
            <a:r>
              <a:rPr lang="en-US" sz="2000" dirty="0"/>
              <a:t> (r</a:t>
            </a:r>
            <a:r>
              <a:rPr lang="en-US" sz="2000" baseline="-25000" dirty="0"/>
              <a:t>1</a:t>
            </a:r>
            <a:r>
              <a:rPr lang="en-US" sz="2000" dirty="0"/>
              <a:t>, c</a:t>
            </a:r>
            <a:r>
              <a:rPr lang="en-US" sz="2000" baseline="-25000" dirty="0"/>
              <a:t>2</a:t>
            </a:r>
            <a:r>
              <a:rPr lang="en-US" sz="2000" dirty="0"/>
              <a:t>), …, </a:t>
            </a:r>
            <a:r>
              <a:rPr lang="en-US" sz="2000" dirty="0" err="1"/>
              <a:t>X</a:t>
            </a:r>
            <a:r>
              <a:rPr lang="en-US" sz="2000" baseline="-25000" dirty="0" err="1"/>
              <a:t>n</a:t>
            </a:r>
            <a:r>
              <a:rPr lang="en-US" sz="2000" dirty="0"/>
              <a:t> </a:t>
            </a:r>
            <a:r>
              <a:rPr lang="en-US" sz="2000" dirty="0">
                <a:sym typeface="Wingdings" panose="05000000000000000000" pitchFamily="2" charset="2"/>
              </a:rPr>
              <a:t></a:t>
            </a:r>
            <a:r>
              <a:rPr lang="en-US" sz="2000" dirty="0"/>
              <a:t> (</a:t>
            </a:r>
            <a:r>
              <a:rPr lang="en-US" sz="2000" dirty="0" err="1"/>
              <a:t>r</a:t>
            </a:r>
            <a:r>
              <a:rPr lang="en-US" sz="2000" baseline="-25000" dirty="0" err="1"/>
              <a:t>p</a:t>
            </a:r>
            <a:r>
              <a:rPr lang="en-US" sz="2000" dirty="0"/>
              <a:t>, c</a:t>
            </a:r>
            <a:r>
              <a:rPr lang="en-US" sz="2000" baseline="-25000" dirty="0"/>
              <a:t>k</a:t>
            </a:r>
            <a:r>
              <a:rPr lang="en-US" sz="2000" dirty="0"/>
              <a:t>) </a:t>
            </a:r>
            <a:r>
              <a:rPr lang="en-US" sz="1800" dirty="0">
                <a:solidFill>
                  <a:srgbClr val="0000FF"/>
                </a:solidFill>
              </a:rPr>
              <a:t>	     k = n-(p-1)*q</a:t>
            </a:r>
          </a:p>
          <a:p>
            <a:pPr lvl="1"/>
            <a:r>
              <a:rPr lang="en-US" sz="2000" dirty="0"/>
              <a:t>Constraints at most one row and at most one column</a:t>
            </a:r>
          </a:p>
          <a:p>
            <a:r>
              <a:rPr lang="en-US" sz="2400" dirty="0"/>
              <a:t>AMO (X</a:t>
            </a:r>
            <a:r>
              <a:rPr lang="en-US" sz="2400" baseline="-25000" dirty="0"/>
              <a:t>1</a:t>
            </a:r>
            <a:r>
              <a:rPr lang="en-US" sz="2400" dirty="0"/>
              <a:t>, X</a:t>
            </a:r>
            <a:r>
              <a:rPr lang="en-US" sz="2400" baseline="-25000" dirty="0"/>
              <a:t>2</a:t>
            </a:r>
            <a:r>
              <a:rPr lang="en-US" sz="2400" dirty="0"/>
              <a:t>, …, </a:t>
            </a:r>
            <a:r>
              <a:rPr lang="en-US" sz="2400" dirty="0" err="1"/>
              <a:t>X</a:t>
            </a:r>
            <a:r>
              <a:rPr lang="en-US" sz="2400" baseline="-25000" dirty="0" err="1"/>
              <a:t>n</a:t>
            </a:r>
            <a:r>
              <a:rPr lang="en-US" sz="2400" dirty="0"/>
              <a:t>):</a:t>
            </a:r>
          </a:p>
          <a:p>
            <a:pPr lvl="1"/>
            <a:r>
              <a:rPr lang="en-US" sz="2000" dirty="0"/>
              <a:t>AMO (r</a:t>
            </a:r>
            <a:r>
              <a:rPr lang="en-US" sz="2000" baseline="-25000" dirty="0"/>
              <a:t>1</a:t>
            </a:r>
            <a:r>
              <a:rPr lang="en-US" sz="2000" dirty="0"/>
              <a:t>, r</a:t>
            </a:r>
            <a:r>
              <a:rPr lang="en-US" sz="2000" baseline="-25000" dirty="0"/>
              <a:t>2</a:t>
            </a:r>
            <a:r>
              <a:rPr lang="en-US" sz="2000" dirty="0"/>
              <a:t>, …, </a:t>
            </a:r>
            <a:r>
              <a:rPr lang="en-US" sz="2000" dirty="0" err="1"/>
              <a:t>r</a:t>
            </a:r>
            <a:r>
              <a:rPr lang="en-US" sz="2000" baseline="-25000" dirty="0" err="1"/>
              <a:t>p</a:t>
            </a:r>
            <a:r>
              <a:rPr lang="en-US" sz="2000" dirty="0"/>
              <a:t>) and AMO (c</a:t>
            </a:r>
            <a:r>
              <a:rPr lang="en-US" sz="2000" baseline="-25000" dirty="0"/>
              <a:t>1</a:t>
            </a:r>
            <a:r>
              <a:rPr lang="en-US" sz="2000" dirty="0"/>
              <a:t>, c</a:t>
            </a:r>
            <a:r>
              <a:rPr lang="en-US" sz="2000" baseline="-25000" dirty="0"/>
              <a:t>2</a:t>
            </a:r>
            <a:r>
              <a:rPr lang="en-US" sz="2000" dirty="0"/>
              <a:t>, …, </a:t>
            </a:r>
            <a:r>
              <a:rPr lang="en-US" sz="2000" dirty="0" err="1"/>
              <a:t>c</a:t>
            </a:r>
            <a:r>
              <a:rPr lang="en-US" sz="2000" baseline="-25000" dirty="0" err="1"/>
              <a:t>q</a:t>
            </a:r>
            <a:r>
              <a:rPr lang="en-US" sz="2000" dirty="0"/>
              <a:t>)</a:t>
            </a:r>
          </a:p>
          <a:p>
            <a:pPr lvl="1"/>
            <a:r>
              <a:rPr lang="en-US" sz="2000" dirty="0"/>
              <a:t>X</a:t>
            </a:r>
            <a:r>
              <a:rPr lang="en-US" sz="2000" baseline="-25000" dirty="0"/>
              <a:t>i</a:t>
            </a:r>
            <a:r>
              <a:rPr lang="en-US" sz="2000" dirty="0"/>
              <a:t> </a:t>
            </a:r>
            <a:r>
              <a:rPr lang="en-US" sz="2000" dirty="0">
                <a:sym typeface="Wingdings" panose="05000000000000000000" pitchFamily="2" charset="2"/>
              </a:rPr>
              <a:t> </a:t>
            </a:r>
            <a:r>
              <a:rPr lang="en-US" sz="2000" dirty="0" err="1">
                <a:sym typeface="Wingdings" panose="05000000000000000000" pitchFamily="2" charset="2"/>
              </a:rPr>
              <a:t>r</a:t>
            </a:r>
            <a:r>
              <a:rPr lang="en-US" sz="2000" baseline="-25000" dirty="0" err="1">
                <a:sym typeface="Wingdings" panose="05000000000000000000" pitchFamily="2" charset="2"/>
              </a:rPr>
              <a:t>u</a:t>
            </a:r>
            <a:r>
              <a:rPr lang="en-US" sz="2000" dirty="0">
                <a:sym typeface="Wingdings" panose="05000000000000000000" pitchFamily="2" charset="2"/>
              </a:rPr>
              <a:t> </a:t>
            </a:r>
            <a:r>
              <a:rPr kumimoji="1" lang="en-US" altLang="ja-JP" sz="2000" i="0" u="none" strike="noStrike" cap="none" normalizeH="0" baseline="0" dirty="0">
                <a:ln>
                  <a:noFill/>
                </a:ln>
                <a:effectLst/>
                <a:ea typeface="ＭＳ Ｐゴシック" pitchFamily="50" charset="-128"/>
              </a:rPr>
              <a:t>∧ c</a:t>
            </a:r>
            <a:r>
              <a:rPr kumimoji="1" lang="en-US" altLang="ja-JP" sz="2000" i="0" u="none" strike="noStrike" cap="none" normalizeH="0" baseline="-25000" dirty="0">
                <a:ln>
                  <a:noFill/>
                </a:ln>
                <a:effectLst/>
                <a:ea typeface="ＭＳ Ｐゴシック" pitchFamily="50" charset="-128"/>
              </a:rPr>
              <a:t>v 	</a:t>
            </a:r>
            <a:r>
              <a:rPr kumimoji="1" lang="en-US" altLang="ja-JP" sz="2000" i="0" u="none" strike="noStrike" cap="none" normalizeH="0" dirty="0">
                <a:ln>
                  <a:noFill/>
                </a:ln>
                <a:effectLst/>
                <a:ea typeface="ＭＳ Ｐゴシック" pitchFamily="50" charset="-128"/>
              </a:rPr>
              <a:t>where X</a:t>
            </a:r>
            <a:r>
              <a:rPr kumimoji="1" lang="en-US" altLang="ja-JP" sz="2000" i="0" u="none" strike="noStrike" cap="none" normalizeH="0" baseline="-25000" dirty="0">
                <a:ln>
                  <a:noFill/>
                </a:ln>
                <a:effectLst/>
                <a:ea typeface="ＭＳ Ｐゴシック" pitchFamily="50" charset="-128"/>
              </a:rPr>
              <a:t>i</a:t>
            </a:r>
            <a:r>
              <a:rPr kumimoji="1" lang="en-US" altLang="ja-JP" sz="2000" i="0" u="none" strike="noStrike" cap="none" normalizeH="0" dirty="0">
                <a:ln>
                  <a:noFill/>
                </a:ln>
                <a:effectLst/>
                <a:ea typeface="ＭＳ Ｐゴシック" pitchFamily="50" charset="-128"/>
              </a:rPr>
              <a:t> </a:t>
            </a:r>
            <a:r>
              <a:rPr lang="en-US" sz="2000" dirty="0">
                <a:sym typeface="Wingdings" panose="05000000000000000000" pitchFamily="2" charset="2"/>
              </a:rPr>
              <a:t></a:t>
            </a:r>
            <a:r>
              <a:rPr kumimoji="1" lang="en-US" altLang="ja-JP" sz="2000" i="0" u="none" strike="noStrike" cap="none" normalizeH="0" dirty="0">
                <a:ln>
                  <a:noFill/>
                </a:ln>
                <a:effectLst/>
                <a:ea typeface="ＭＳ Ｐゴシック" pitchFamily="50" charset="-128"/>
              </a:rPr>
              <a:t> (</a:t>
            </a:r>
            <a:r>
              <a:rPr kumimoji="1" lang="en-US" altLang="ja-JP" sz="2000" i="0" u="none" strike="noStrike" cap="none" normalizeH="0" dirty="0" err="1">
                <a:ln>
                  <a:noFill/>
                </a:ln>
                <a:effectLst/>
                <a:ea typeface="ＭＳ Ｐゴシック" pitchFamily="50" charset="-128"/>
              </a:rPr>
              <a:t>r</a:t>
            </a:r>
            <a:r>
              <a:rPr kumimoji="1" lang="en-US" altLang="ja-JP" sz="2000" i="0" u="none" strike="noStrike" cap="none" normalizeH="0" baseline="-25000" dirty="0" err="1">
                <a:ln>
                  <a:noFill/>
                </a:ln>
                <a:effectLst/>
                <a:ea typeface="ＭＳ Ｐゴシック" pitchFamily="50" charset="-128"/>
              </a:rPr>
              <a:t>u</a:t>
            </a:r>
            <a:r>
              <a:rPr kumimoji="1" lang="en-US" altLang="ja-JP" sz="2000" i="0" u="none" strike="noStrike" cap="none" normalizeH="0" dirty="0">
                <a:ln>
                  <a:noFill/>
                </a:ln>
                <a:effectLst/>
                <a:ea typeface="ＭＳ Ｐゴシック" pitchFamily="50" charset="-128"/>
              </a:rPr>
              <a:t>, c</a:t>
            </a:r>
            <a:r>
              <a:rPr kumimoji="1" lang="en-US" altLang="ja-JP" sz="2000" i="0" u="none" strike="noStrike" cap="none" normalizeH="0" baseline="-25000" dirty="0">
                <a:ln>
                  <a:noFill/>
                </a:ln>
                <a:effectLst/>
                <a:ea typeface="ＭＳ Ｐゴシック" pitchFamily="50" charset="-128"/>
              </a:rPr>
              <a:t>v</a:t>
            </a:r>
            <a:r>
              <a:rPr kumimoji="1" lang="en-US" altLang="ja-JP" sz="2000" i="0" u="none" strike="noStrike" cap="none" normalizeH="0" dirty="0">
                <a:ln>
                  <a:noFill/>
                </a:ln>
                <a:effectLst/>
                <a:ea typeface="ＭＳ Ｐゴシック" pitchFamily="50" charset="-128"/>
              </a:rPr>
              <a:t>)</a:t>
            </a:r>
          </a:p>
          <a:p>
            <a:r>
              <a:rPr lang="en-US" sz="2800" dirty="0"/>
              <a:t>ALO (X</a:t>
            </a:r>
            <a:r>
              <a:rPr lang="en-US" sz="2800" baseline="-25000" dirty="0"/>
              <a:t>1</a:t>
            </a:r>
            <a:r>
              <a:rPr lang="en-US" sz="2800" dirty="0"/>
              <a:t>, X</a:t>
            </a:r>
            <a:r>
              <a:rPr lang="en-US" sz="2800" baseline="-25000" dirty="0"/>
              <a:t>2</a:t>
            </a:r>
            <a:r>
              <a:rPr lang="en-US" sz="2800" dirty="0"/>
              <a:t>, …, </a:t>
            </a:r>
            <a:r>
              <a:rPr lang="en-US" sz="2800" dirty="0" err="1"/>
              <a:t>X</a:t>
            </a:r>
            <a:r>
              <a:rPr lang="en-US" sz="2800" baseline="-25000" dirty="0" err="1"/>
              <a:t>n</a:t>
            </a:r>
            <a:r>
              <a:rPr lang="en-US" sz="2800" dirty="0"/>
              <a:t>):</a:t>
            </a:r>
          </a:p>
          <a:p>
            <a:pPr lvl="1"/>
            <a:r>
              <a:rPr lang="en-US" sz="2000" dirty="0"/>
              <a:t>(</a:t>
            </a:r>
            <a:r>
              <a:rPr lang="en-US" sz="2000" dirty="0" err="1"/>
              <a:t>i</a:t>
            </a:r>
            <a:r>
              <a:rPr lang="en-US" sz="2000" dirty="0"/>
              <a:t>): </a:t>
            </a:r>
            <a:r>
              <a:rPr lang="en-US" sz="2000" dirty="0">
                <a:latin typeface="+mj-lt"/>
                <a:cs typeface="Arial" panose="020B0604020202020204" pitchFamily="34" charset="0"/>
              </a:rPr>
              <a:t>(X</a:t>
            </a:r>
            <a:r>
              <a:rPr lang="en-US" sz="2000" baseline="-25000" dirty="0">
                <a:latin typeface="+mj-lt"/>
                <a:cs typeface="Arial" panose="020B0604020202020204" pitchFamily="34" charset="0"/>
              </a:rPr>
              <a:t>1</a:t>
            </a:r>
            <a:r>
              <a:rPr lang="en-US" sz="2000" dirty="0">
                <a:latin typeface="+mj-lt"/>
                <a:cs typeface="Arial" panose="020B0604020202020204" pitchFamily="34" charset="0"/>
              </a:rPr>
              <a:t> v X</a:t>
            </a:r>
            <a:r>
              <a:rPr lang="en-US" sz="2000" baseline="-25000" dirty="0">
                <a:latin typeface="+mj-lt"/>
                <a:cs typeface="Arial" panose="020B0604020202020204" pitchFamily="34" charset="0"/>
              </a:rPr>
              <a:t>2</a:t>
            </a:r>
            <a:r>
              <a:rPr lang="en-US" sz="2000" dirty="0">
                <a:latin typeface="+mj-lt"/>
                <a:cs typeface="Arial" panose="020B0604020202020204" pitchFamily="34" charset="0"/>
              </a:rPr>
              <a:t> v </a:t>
            </a:r>
            <a:r>
              <a:rPr lang="en-US" sz="2000">
                <a:latin typeface="+mj-lt"/>
                <a:cs typeface="Arial" panose="020B0604020202020204" pitchFamily="34" charset="0"/>
              </a:rPr>
              <a:t>X</a:t>
            </a:r>
            <a:r>
              <a:rPr lang="en-US" sz="2000" baseline="-25000">
                <a:latin typeface="+mj-lt"/>
                <a:cs typeface="Arial" panose="020B0604020202020204" pitchFamily="34" charset="0"/>
              </a:rPr>
              <a:t>3</a:t>
            </a:r>
            <a:r>
              <a:rPr lang="en-US" sz="2000">
                <a:latin typeface="+mj-lt"/>
                <a:cs typeface="Arial" panose="020B0604020202020204" pitchFamily="34" charset="0"/>
              </a:rPr>
              <a:t> v …v </a:t>
            </a:r>
            <a:r>
              <a:rPr lang="en-US" sz="2000" dirty="0" err="1">
                <a:latin typeface="+mj-lt"/>
                <a:cs typeface="Arial" panose="020B0604020202020204" pitchFamily="34" charset="0"/>
              </a:rPr>
              <a:t>X</a:t>
            </a:r>
            <a:r>
              <a:rPr lang="en-US" sz="2000" baseline="-25000" dirty="0" err="1">
                <a:latin typeface="+mj-lt"/>
                <a:cs typeface="Arial" panose="020B0604020202020204" pitchFamily="34" charset="0"/>
              </a:rPr>
              <a:t>n</a:t>
            </a:r>
            <a:r>
              <a:rPr lang="en-US" sz="2000" dirty="0">
                <a:latin typeface="+mj-lt"/>
                <a:cs typeface="Arial" panose="020B0604020202020204" pitchFamily="34" charset="0"/>
              </a:rPr>
              <a:t>)</a:t>
            </a:r>
          </a:p>
          <a:p>
            <a:pPr lvl="1"/>
            <a:r>
              <a:rPr lang="en-US" sz="2000" dirty="0">
                <a:latin typeface="+mj-lt"/>
                <a:cs typeface="Arial" panose="020B0604020202020204" pitchFamily="34" charset="0"/>
              </a:rPr>
              <a:t>(ii): ALO </a:t>
            </a:r>
            <a:r>
              <a:rPr lang="en-US" sz="2000" dirty="0"/>
              <a:t>(r</a:t>
            </a:r>
            <a:r>
              <a:rPr lang="en-US" sz="2000" baseline="-25000" dirty="0"/>
              <a:t>1</a:t>
            </a:r>
            <a:r>
              <a:rPr lang="en-US" sz="2000" dirty="0"/>
              <a:t>, r</a:t>
            </a:r>
            <a:r>
              <a:rPr lang="en-US" sz="2000" baseline="-25000" dirty="0"/>
              <a:t>2</a:t>
            </a:r>
            <a:r>
              <a:rPr lang="en-US" sz="2000" dirty="0"/>
              <a:t>, …, </a:t>
            </a:r>
            <a:r>
              <a:rPr lang="en-US" sz="2000" dirty="0" err="1"/>
              <a:t>r</a:t>
            </a:r>
            <a:r>
              <a:rPr lang="en-US" sz="2000" baseline="-25000" dirty="0" err="1"/>
              <a:t>p</a:t>
            </a:r>
            <a:r>
              <a:rPr lang="en-US" sz="2000" dirty="0"/>
              <a:t>) and ALO (c</a:t>
            </a:r>
            <a:r>
              <a:rPr lang="en-US" sz="2000" baseline="-25000" dirty="0"/>
              <a:t>1</a:t>
            </a:r>
            <a:r>
              <a:rPr lang="en-US" sz="2000" dirty="0"/>
              <a:t>, c</a:t>
            </a:r>
            <a:r>
              <a:rPr lang="en-US" sz="2000" baseline="-25000" dirty="0"/>
              <a:t>2</a:t>
            </a:r>
            <a:r>
              <a:rPr lang="en-US" sz="2000" dirty="0"/>
              <a:t>, …, </a:t>
            </a:r>
            <a:r>
              <a:rPr lang="en-US" sz="2000" dirty="0" err="1"/>
              <a:t>c</a:t>
            </a:r>
            <a:r>
              <a:rPr lang="en-US" sz="2000" baseline="-25000" dirty="0" err="1"/>
              <a:t>q</a:t>
            </a:r>
            <a:r>
              <a:rPr lang="en-US" sz="2000" dirty="0"/>
              <a:t>) and </a:t>
            </a:r>
            <a:r>
              <a:rPr lang="en-US" sz="2000" dirty="0" err="1">
                <a:sym typeface="Wingdings" panose="05000000000000000000" pitchFamily="2" charset="2"/>
              </a:rPr>
              <a:t>r</a:t>
            </a:r>
            <a:r>
              <a:rPr lang="en-US" sz="2000" baseline="-25000" dirty="0" err="1">
                <a:sym typeface="Wingdings" panose="05000000000000000000" pitchFamily="2" charset="2"/>
              </a:rPr>
              <a:t>u</a:t>
            </a:r>
            <a:r>
              <a:rPr lang="en-US" sz="2000" dirty="0">
                <a:sym typeface="Wingdings" panose="05000000000000000000" pitchFamily="2" charset="2"/>
              </a:rPr>
              <a:t> </a:t>
            </a:r>
            <a:r>
              <a:rPr kumimoji="1" lang="en-US" altLang="ja-JP" sz="2000" i="0" u="none" strike="noStrike" cap="none" normalizeH="0" baseline="0" dirty="0">
                <a:ln>
                  <a:noFill/>
                </a:ln>
                <a:effectLst/>
                <a:ea typeface="ＭＳ Ｐゴシック" pitchFamily="50" charset="-128"/>
              </a:rPr>
              <a:t>∧ c</a:t>
            </a:r>
            <a:r>
              <a:rPr kumimoji="1" lang="en-US" altLang="ja-JP" sz="2000" i="0" u="none" strike="noStrike" cap="none" normalizeH="0" baseline="-25000" dirty="0">
                <a:ln>
                  <a:noFill/>
                </a:ln>
                <a:effectLst/>
                <a:ea typeface="ＭＳ Ｐゴシック" pitchFamily="50" charset="-128"/>
              </a:rPr>
              <a:t>v </a:t>
            </a:r>
            <a:r>
              <a:rPr kumimoji="1" lang="en-US" altLang="ja-JP" sz="2000" i="0" u="none" strike="noStrike" cap="none" normalizeH="0" dirty="0">
                <a:ln>
                  <a:noFill/>
                </a:ln>
                <a:effectLst/>
                <a:ea typeface="ＭＳ Ｐゴシック" pitchFamily="50" charset="-128"/>
                <a:sym typeface="Wingdings" panose="05000000000000000000" pitchFamily="2" charset="2"/>
              </a:rPr>
              <a:t> X</a:t>
            </a:r>
            <a:r>
              <a:rPr kumimoji="1" lang="en-US" altLang="ja-JP" sz="2000" i="0" u="none" strike="noStrike" cap="none" normalizeH="0" baseline="-25000" dirty="0">
                <a:ln>
                  <a:noFill/>
                </a:ln>
                <a:effectLst/>
                <a:ea typeface="ＭＳ Ｐゴシック" pitchFamily="50" charset="-128"/>
                <a:sym typeface="Wingdings" panose="05000000000000000000" pitchFamily="2" charset="2"/>
              </a:rPr>
              <a:t>i</a:t>
            </a:r>
            <a:r>
              <a:rPr kumimoji="1" lang="en-US" altLang="ja-JP" sz="2000" i="0" u="none" strike="noStrike" cap="none" normalizeH="0" baseline="30000" dirty="0">
                <a:ln>
                  <a:noFill/>
                </a:ln>
                <a:effectLst/>
                <a:ea typeface="ＭＳ Ｐゴシック" pitchFamily="50" charset="-128"/>
                <a:sym typeface="Wingdings" panose="05000000000000000000" pitchFamily="2" charset="2"/>
              </a:rPr>
              <a:t> </a:t>
            </a:r>
            <a:r>
              <a:rPr kumimoji="1" lang="en-US" altLang="ja-JP" sz="2000" i="0" u="none" strike="noStrike" cap="none" normalizeH="0" baseline="-25000" dirty="0">
                <a:ln>
                  <a:noFill/>
                </a:ln>
                <a:effectLst/>
                <a:ea typeface="ＭＳ Ｐゴシック" pitchFamily="50" charset="-128"/>
              </a:rPr>
              <a:t> 					</a:t>
            </a:r>
            <a:r>
              <a:rPr kumimoji="1" lang="en-US" altLang="ja-JP" sz="2000" i="0" u="none" strike="noStrike" cap="none" normalizeH="0" dirty="0">
                <a:ln>
                  <a:noFill/>
                </a:ln>
                <a:effectLst/>
                <a:ea typeface="ＭＳ Ｐゴシック" pitchFamily="50" charset="-128"/>
              </a:rPr>
              <a:t>where X</a:t>
            </a:r>
            <a:r>
              <a:rPr kumimoji="1" lang="en-US" altLang="ja-JP" sz="2000" i="0" u="none" strike="noStrike" cap="none" normalizeH="0" baseline="-25000" dirty="0">
                <a:ln>
                  <a:noFill/>
                </a:ln>
                <a:effectLst/>
                <a:ea typeface="ＭＳ Ｐゴシック" pitchFamily="50" charset="-128"/>
              </a:rPr>
              <a:t>i</a:t>
            </a:r>
            <a:r>
              <a:rPr kumimoji="1" lang="en-US" altLang="ja-JP" sz="2000" i="0" u="none" strike="noStrike" cap="none" normalizeH="0" dirty="0">
                <a:ln>
                  <a:noFill/>
                </a:ln>
                <a:effectLst/>
                <a:ea typeface="ＭＳ Ｐゴシック" pitchFamily="50" charset="-128"/>
              </a:rPr>
              <a:t> </a:t>
            </a:r>
            <a:r>
              <a:rPr lang="en-US" sz="2000" dirty="0">
                <a:sym typeface="Wingdings" panose="05000000000000000000" pitchFamily="2" charset="2"/>
              </a:rPr>
              <a:t></a:t>
            </a:r>
            <a:r>
              <a:rPr kumimoji="1" lang="en-US" altLang="ja-JP" sz="2000" i="0" u="none" strike="noStrike" cap="none" normalizeH="0" dirty="0">
                <a:ln>
                  <a:noFill/>
                </a:ln>
                <a:effectLst/>
                <a:ea typeface="ＭＳ Ｐゴシック" pitchFamily="50" charset="-128"/>
              </a:rPr>
              <a:t> (</a:t>
            </a:r>
            <a:r>
              <a:rPr kumimoji="1" lang="en-US" altLang="ja-JP" sz="2000" i="0" u="none" strike="noStrike" cap="none" normalizeH="0" dirty="0" err="1">
                <a:ln>
                  <a:noFill/>
                </a:ln>
                <a:effectLst/>
                <a:ea typeface="ＭＳ Ｐゴシック" pitchFamily="50" charset="-128"/>
              </a:rPr>
              <a:t>r</a:t>
            </a:r>
            <a:r>
              <a:rPr kumimoji="1" lang="en-US" altLang="ja-JP" sz="2000" i="0" u="none" strike="noStrike" cap="none" normalizeH="0" baseline="-25000" dirty="0" err="1">
                <a:ln>
                  <a:noFill/>
                </a:ln>
                <a:effectLst/>
                <a:ea typeface="ＭＳ Ｐゴシック" pitchFamily="50" charset="-128"/>
              </a:rPr>
              <a:t>u</a:t>
            </a:r>
            <a:r>
              <a:rPr kumimoji="1" lang="en-US" altLang="ja-JP" sz="2000" i="0" u="none" strike="noStrike" cap="none" normalizeH="0" dirty="0">
                <a:ln>
                  <a:noFill/>
                </a:ln>
                <a:effectLst/>
                <a:ea typeface="ＭＳ Ｐゴシック" pitchFamily="50" charset="-128"/>
              </a:rPr>
              <a:t>, c</a:t>
            </a:r>
            <a:r>
              <a:rPr kumimoji="1" lang="en-US" altLang="ja-JP" sz="2000" i="0" u="none" strike="noStrike" cap="none" normalizeH="0" baseline="-25000" dirty="0">
                <a:ln>
                  <a:noFill/>
                </a:ln>
                <a:effectLst/>
                <a:ea typeface="ＭＳ Ｐゴシック" pitchFamily="50" charset="-128"/>
              </a:rPr>
              <a:t>v</a:t>
            </a:r>
            <a:r>
              <a:rPr kumimoji="1" lang="en-US" altLang="ja-JP" sz="2000" i="0" u="none" strike="noStrike" cap="none" normalizeH="0" dirty="0">
                <a:ln>
                  <a:noFill/>
                </a:ln>
                <a:effectLst/>
                <a:ea typeface="ＭＳ Ｐゴシック" pitchFamily="50" charset="-128"/>
              </a:rPr>
              <a:t>)</a:t>
            </a:r>
            <a:endParaRPr lang="en-US" sz="2000" dirty="0">
              <a:latin typeface="+mj-lt"/>
              <a:cs typeface="Arial" panose="020B0604020202020204" pitchFamily="34" charset="0"/>
            </a:endParaRP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78633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777B78-9DFA-4B26-A85A-933DBC9F2F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Product encoding (1)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B62DA9-3504-4EC7-9603-53AC073438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676400"/>
            <a:ext cx="8413750" cy="4130675"/>
          </a:xfrm>
        </p:spPr>
        <p:txBody>
          <a:bodyPr/>
          <a:lstStyle/>
          <a:p>
            <a:r>
              <a:rPr lang="en-US" dirty="0"/>
              <a:t>For n = 5 (X</a:t>
            </a:r>
            <a:r>
              <a:rPr lang="en-US" baseline="-25000" dirty="0"/>
              <a:t>1</a:t>
            </a:r>
            <a:r>
              <a:rPr lang="en-US" dirty="0"/>
              <a:t>, X</a:t>
            </a:r>
            <a:r>
              <a:rPr lang="en-US" baseline="-25000" dirty="0"/>
              <a:t>2</a:t>
            </a:r>
            <a:r>
              <a:rPr lang="en-US" dirty="0"/>
              <a:t>, X</a:t>
            </a:r>
            <a:r>
              <a:rPr lang="en-US" baseline="-25000" dirty="0"/>
              <a:t>3</a:t>
            </a:r>
            <a:r>
              <a:rPr lang="en-US" dirty="0"/>
              <a:t>, X</a:t>
            </a:r>
            <a:r>
              <a:rPr lang="en-US" baseline="-25000" dirty="0"/>
              <a:t>4</a:t>
            </a:r>
            <a:r>
              <a:rPr lang="en-US" dirty="0"/>
              <a:t>, X</a:t>
            </a:r>
            <a:r>
              <a:rPr lang="en-US" baseline="-25000" dirty="0"/>
              <a:t>5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p = [sqrt (5)] = 3, v = [5/3] = 2</a:t>
            </a:r>
          </a:p>
          <a:p>
            <a:pPr lvl="1"/>
            <a:r>
              <a:rPr lang="en-US" dirty="0"/>
              <a:t>(r</a:t>
            </a:r>
            <a:r>
              <a:rPr lang="en-US" baseline="-25000" dirty="0"/>
              <a:t>1</a:t>
            </a:r>
            <a:r>
              <a:rPr lang="en-US" dirty="0"/>
              <a:t>, r</a:t>
            </a:r>
            <a:r>
              <a:rPr lang="en-US" baseline="-25000" dirty="0"/>
              <a:t>2</a:t>
            </a:r>
            <a:r>
              <a:rPr lang="en-US" dirty="0"/>
              <a:t>, r</a:t>
            </a:r>
            <a:r>
              <a:rPr lang="en-US" baseline="-25000" dirty="0"/>
              <a:t>3</a:t>
            </a:r>
            <a:r>
              <a:rPr lang="en-US" dirty="0"/>
              <a:t>) x (c</a:t>
            </a:r>
            <a:r>
              <a:rPr lang="en-US" baseline="-25000" dirty="0"/>
              <a:t>1</a:t>
            </a:r>
            <a:r>
              <a:rPr lang="en-US" dirty="0"/>
              <a:t>, c</a:t>
            </a:r>
            <a:r>
              <a:rPr lang="en-US" baseline="-25000" dirty="0"/>
              <a:t>2</a:t>
            </a:r>
            <a:r>
              <a:rPr lang="en-US" dirty="0"/>
              <a:t>)</a:t>
            </a:r>
          </a:p>
          <a:p>
            <a:r>
              <a:rPr lang="en-US" dirty="0"/>
              <a:t>AMO (X</a:t>
            </a:r>
            <a:r>
              <a:rPr lang="en-US" baseline="-25000" dirty="0"/>
              <a:t>1</a:t>
            </a:r>
            <a:r>
              <a:rPr lang="en-US" dirty="0"/>
              <a:t>, X</a:t>
            </a:r>
            <a:r>
              <a:rPr lang="en-US" baseline="-25000" dirty="0"/>
              <a:t>2</a:t>
            </a:r>
            <a:r>
              <a:rPr lang="en-US" dirty="0"/>
              <a:t>, X</a:t>
            </a:r>
            <a:r>
              <a:rPr lang="en-US" baseline="-25000" dirty="0"/>
              <a:t>3</a:t>
            </a:r>
            <a:r>
              <a:rPr lang="en-US" dirty="0"/>
              <a:t>, X</a:t>
            </a:r>
            <a:r>
              <a:rPr lang="en-US" baseline="-25000" dirty="0"/>
              <a:t>4</a:t>
            </a:r>
            <a:r>
              <a:rPr lang="en-US" dirty="0"/>
              <a:t>, X</a:t>
            </a:r>
            <a:r>
              <a:rPr lang="en-US" baseline="-25000" dirty="0"/>
              <a:t>5</a:t>
            </a:r>
            <a:r>
              <a:rPr lang="en-US" dirty="0"/>
              <a:t>):</a:t>
            </a:r>
          </a:p>
          <a:p>
            <a:pPr lvl="1"/>
            <a:r>
              <a:rPr lang="en-US" dirty="0"/>
              <a:t>r</a:t>
            </a:r>
            <a:r>
              <a:rPr lang="en-US" baseline="-25000" dirty="0"/>
              <a:t>1</a:t>
            </a:r>
            <a:r>
              <a:rPr lang="en-US" dirty="0"/>
              <a:t> </a:t>
            </a:r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ja-JP" altLang="en-US" sz="2400" dirty="0"/>
              <a:t>￢</a:t>
            </a:r>
            <a:r>
              <a:rPr lang="en-US" dirty="0">
                <a:sym typeface="Wingdings" panose="05000000000000000000" pitchFamily="2" charset="2"/>
              </a:rPr>
              <a:t>r</a:t>
            </a:r>
            <a:r>
              <a:rPr lang="en-US" baseline="-25000" dirty="0">
                <a:sym typeface="Wingdings" panose="05000000000000000000" pitchFamily="2" charset="2"/>
              </a:rPr>
              <a:t>2</a:t>
            </a:r>
            <a:r>
              <a:rPr kumimoji="1" lang="en-US" altLang="ja-JP" sz="2400" i="0" u="none" strike="noStrike" cap="none" normalizeH="0" baseline="0" dirty="0">
                <a:ln>
                  <a:noFill/>
                </a:ln>
                <a:effectLst/>
                <a:ea typeface="ＭＳ Ｐゴシック" pitchFamily="50" charset="-128"/>
              </a:rPr>
              <a:t> ∧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/>
              <a:t>r</a:t>
            </a:r>
            <a:r>
              <a:rPr lang="en-US" baseline="-25000" dirty="0"/>
              <a:t>1</a:t>
            </a:r>
            <a:r>
              <a:rPr lang="en-US" dirty="0"/>
              <a:t> </a:t>
            </a:r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ja-JP" altLang="en-US" sz="2000" dirty="0"/>
              <a:t>￢</a:t>
            </a:r>
            <a:r>
              <a:rPr lang="en-US" dirty="0">
                <a:sym typeface="Wingdings" panose="05000000000000000000" pitchFamily="2" charset="2"/>
              </a:rPr>
              <a:t>r</a:t>
            </a:r>
            <a:r>
              <a:rPr lang="en-US" baseline="-25000" dirty="0">
                <a:sym typeface="Wingdings" panose="05000000000000000000" pitchFamily="2" charset="2"/>
              </a:rPr>
              <a:t>3 </a:t>
            </a:r>
            <a:r>
              <a:rPr kumimoji="1" lang="en-US" altLang="ja-JP" sz="2400" i="0" u="none" strike="noStrike" cap="none" normalizeH="0" baseline="0" dirty="0">
                <a:ln>
                  <a:noFill/>
                </a:ln>
                <a:effectLst/>
                <a:ea typeface="ＭＳ Ｐゴシック" pitchFamily="50" charset="-128"/>
              </a:rPr>
              <a:t>∧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/>
              <a:t>r</a:t>
            </a:r>
            <a:r>
              <a:rPr lang="en-US" baseline="-25000" dirty="0"/>
              <a:t>2</a:t>
            </a:r>
            <a:r>
              <a:rPr lang="en-US" dirty="0"/>
              <a:t> </a:t>
            </a:r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ja-JP" altLang="en-US" sz="2000" dirty="0"/>
              <a:t>￢</a:t>
            </a:r>
            <a:r>
              <a:rPr lang="en-US" dirty="0">
                <a:sym typeface="Wingdings" panose="05000000000000000000" pitchFamily="2" charset="2"/>
              </a:rPr>
              <a:t>r</a:t>
            </a:r>
            <a:r>
              <a:rPr lang="en-US" baseline="-25000" dirty="0">
                <a:sym typeface="Wingdings" panose="05000000000000000000" pitchFamily="2" charset="2"/>
              </a:rPr>
              <a:t>3 </a:t>
            </a:r>
            <a:r>
              <a:rPr kumimoji="1" lang="en-US" altLang="ja-JP" sz="2400" i="0" u="none" strike="noStrike" cap="none" normalizeH="0" baseline="0" dirty="0">
                <a:ln>
                  <a:noFill/>
                </a:ln>
                <a:effectLst/>
                <a:ea typeface="ＭＳ Ｐゴシック" pitchFamily="50" charset="-128"/>
              </a:rPr>
              <a:t>∧</a:t>
            </a:r>
          </a:p>
          <a:p>
            <a:pPr lvl="1"/>
            <a:r>
              <a:rPr lang="en-US" dirty="0"/>
              <a:t>c</a:t>
            </a:r>
            <a:r>
              <a:rPr lang="en-US" baseline="-25000" dirty="0"/>
              <a:t>1</a:t>
            </a:r>
            <a:r>
              <a:rPr lang="en-US" dirty="0"/>
              <a:t> </a:t>
            </a:r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ja-JP" altLang="en-US" sz="2000" dirty="0"/>
              <a:t>￢</a:t>
            </a:r>
            <a:r>
              <a:rPr lang="en-US" altLang="ja-JP" dirty="0">
                <a:sym typeface="Wingdings" panose="05000000000000000000" pitchFamily="2" charset="2"/>
              </a:rPr>
              <a:t>c</a:t>
            </a:r>
            <a:r>
              <a:rPr lang="en-US" baseline="-25000" dirty="0">
                <a:sym typeface="Wingdings" panose="05000000000000000000" pitchFamily="2" charset="2"/>
              </a:rPr>
              <a:t>2</a:t>
            </a:r>
            <a:r>
              <a:rPr kumimoji="1" lang="en-US" altLang="ja-JP" sz="2000" i="0" u="none" strike="noStrike" cap="none" normalizeH="0" baseline="0" dirty="0">
                <a:ln>
                  <a:noFill/>
                </a:ln>
                <a:effectLst/>
                <a:ea typeface="ＭＳ Ｐゴシック" pitchFamily="50" charset="-128"/>
              </a:rPr>
              <a:t> ∧</a:t>
            </a:r>
          </a:p>
          <a:p>
            <a:pPr lvl="1"/>
            <a:r>
              <a:rPr kumimoji="1" lang="en-US" sz="2000" dirty="0">
                <a:ea typeface="ＭＳ Ｐゴシック" pitchFamily="50" charset="-128"/>
              </a:rPr>
              <a:t>X</a:t>
            </a:r>
            <a:r>
              <a:rPr kumimoji="1" lang="en-US" sz="2000" baseline="-25000" dirty="0">
                <a:ea typeface="ＭＳ Ｐゴシック" pitchFamily="50" charset="-128"/>
              </a:rPr>
              <a:t>1</a:t>
            </a:r>
            <a:r>
              <a:rPr kumimoji="1" lang="en-US" sz="2000" dirty="0">
                <a:ea typeface="ＭＳ Ｐゴシック" pitchFamily="50" charset="-128"/>
              </a:rPr>
              <a:t> </a:t>
            </a:r>
            <a:r>
              <a:rPr kumimoji="1" lang="en-US" sz="2000" dirty="0">
                <a:ea typeface="ＭＳ Ｐゴシック" pitchFamily="50" charset="-128"/>
                <a:sym typeface="Wingdings" panose="05000000000000000000" pitchFamily="2" charset="2"/>
              </a:rPr>
              <a:t> r</a:t>
            </a:r>
            <a:r>
              <a:rPr kumimoji="1" lang="en-US" sz="2000" baseline="-25000" dirty="0">
                <a:ea typeface="ＭＳ Ｐゴシック" pitchFamily="50" charset="-128"/>
                <a:sym typeface="Wingdings" panose="05000000000000000000" pitchFamily="2" charset="2"/>
              </a:rPr>
              <a:t>1</a:t>
            </a:r>
            <a:r>
              <a:rPr kumimoji="1" lang="en-US" sz="2000" dirty="0">
                <a:ea typeface="ＭＳ Ｐゴシック" pitchFamily="50" charset="-128"/>
                <a:sym typeface="Wingdings" panose="05000000000000000000" pitchFamily="2" charset="2"/>
              </a:rPr>
              <a:t> </a:t>
            </a:r>
            <a:r>
              <a:rPr kumimoji="1" lang="en-US" altLang="ja-JP" sz="2000" i="0" u="none" strike="noStrike" cap="none" normalizeH="0" baseline="0" dirty="0">
                <a:ln>
                  <a:noFill/>
                </a:ln>
                <a:effectLst/>
                <a:ea typeface="ＭＳ Ｐゴシック" pitchFamily="50" charset="-128"/>
              </a:rPr>
              <a:t>∧ X</a:t>
            </a:r>
            <a:r>
              <a:rPr kumimoji="1" lang="en-US" altLang="ja-JP" sz="2000" i="0" u="none" strike="noStrike" cap="none" normalizeH="0" baseline="-25000" dirty="0">
                <a:ln>
                  <a:noFill/>
                </a:ln>
                <a:effectLst/>
                <a:ea typeface="ＭＳ Ｐゴシック" pitchFamily="50" charset="-128"/>
              </a:rPr>
              <a:t>1</a:t>
            </a:r>
            <a:r>
              <a:rPr kumimoji="1" lang="en-US" altLang="ja-JP" sz="2000" i="0" u="none" strike="noStrike" cap="none" normalizeH="0" baseline="0" dirty="0">
                <a:ln>
                  <a:noFill/>
                </a:ln>
                <a:effectLst/>
                <a:ea typeface="ＭＳ Ｐゴシック" pitchFamily="50" charset="-128"/>
              </a:rPr>
              <a:t> </a:t>
            </a:r>
            <a:r>
              <a:rPr kumimoji="1" lang="en-US" altLang="ja-JP" sz="2000" i="0" u="none" strike="noStrike" cap="none" normalizeH="0" baseline="0" dirty="0">
                <a:ln>
                  <a:noFill/>
                </a:ln>
                <a:effectLst/>
                <a:ea typeface="ＭＳ Ｐゴシック" pitchFamily="50" charset="-128"/>
                <a:sym typeface="Wingdings" panose="05000000000000000000" pitchFamily="2" charset="2"/>
              </a:rPr>
              <a:t> c</a:t>
            </a:r>
            <a:r>
              <a:rPr kumimoji="1" lang="en-US" altLang="ja-JP" sz="2000" i="0" u="none" strike="noStrike" cap="none" normalizeH="0" baseline="-25000" dirty="0">
                <a:ln>
                  <a:noFill/>
                </a:ln>
                <a:effectLst/>
                <a:ea typeface="ＭＳ Ｐゴシック" pitchFamily="50" charset="-128"/>
                <a:sym typeface="Wingdings" panose="05000000000000000000" pitchFamily="2" charset="2"/>
              </a:rPr>
              <a:t>1 </a:t>
            </a:r>
            <a:r>
              <a:rPr kumimoji="1" lang="en-US" altLang="ja-JP" sz="2000" i="0" u="none" strike="noStrike" cap="none" normalizeH="0" baseline="0" dirty="0">
                <a:ln>
                  <a:noFill/>
                </a:ln>
                <a:effectLst/>
                <a:ea typeface="ＭＳ Ｐゴシック" pitchFamily="50" charset="-128"/>
              </a:rPr>
              <a:t>∧ </a:t>
            </a:r>
            <a:r>
              <a:rPr kumimoji="1" lang="en-US" sz="2000" dirty="0">
                <a:ea typeface="ＭＳ Ｐゴシック" pitchFamily="50" charset="-128"/>
              </a:rPr>
              <a:t>X</a:t>
            </a:r>
            <a:r>
              <a:rPr kumimoji="1" lang="en-US" sz="2000" baseline="-25000" dirty="0">
                <a:ea typeface="ＭＳ Ｐゴシック" pitchFamily="50" charset="-128"/>
              </a:rPr>
              <a:t>2</a:t>
            </a:r>
            <a:r>
              <a:rPr kumimoji="1" lang="en-US" sz="2000" dirty="0">
                <a:ea typeface="ＭＳ Ｐゴシック" pitchFamily="50" charset="-128"/>
              </a:rPr>
              <a:t> </a:t>
            </a:r>
            <a:r>
              <a:rPr kumimoji="1" lang="en-US" sz="2000" dirty="0">
                <a:ea typeface="ＭＳ Ｐゴシック" pitchFamily="50" charset="-128"/>
                <a:sym typeface="Wingdings" panose="05000000000000000000" pitchFamily="2" charset="2"/>
              </a:rPr>
              <a:t> r</a:t>
            </a:r>
            <a:r>
              <a:rPr kumimoji="1" lang="en-US" sz="2000" baseline="-25000" dirty="0">
                <a:ea typeface="ＭＳ Ｐゴシック" pitchFamily="50" charset="-128"/>
                <a:sym typeface="Wingdings" panose="05000000000000000000" pitchFamily="2" charset="2"/>
              </a:rPr>
              <a:t>1</a:t>
            </a:r>
            <a:r>
              <a:rPr kumimoji="1" lang="en-US" sz="2000" dirty="0">
                <a:ea typeface="ＭＳ Ｐゴシック" pitchFamily="50" charset="-128"/>
                <a:sym typeface="Wingdings" panose="05000000000000000000" pitchFamily="2" charset="2"/>
              </a:rPr>
              <a:t> </a:t>
            </a:r>
            <a:r>
              <a:rPr kumimoji="1" lang="en-US" altLang="ja-JP" sz="2000" i="0" u="none" strike="noStrike" cap="none" normalizeH="0" baseline="0" dirty="0">
                <a:ln>
                  <a:noFill/>
                </a:ln>
                <a:effectLst/>
                <a:ea typeface="ＭＳ Ｐゴシック" pitchFamily="50" charset="-128"/>
              </a:rPr>
              <a:t>∧ X</a:t>
            </a:r>
            <a:r>
              <a:rPr kumimoji="1" lang="en-US" altLang="ja-JP" sz="2000" i="0" u="none" strike="noStrike" cap="none" normalizeH="0" baseline="-25000" dirty="0">
                <a:ln>
                  <a:noFill/>
                </a:ln>
                <a:effectLst/>
                <a:ea typeface="ＭＳ Ｐゴシック" pitchFamily="50" charset="-128"/>
              </a:rPr>
              <a:t>2</a:t>
            </a:r>
            <a:r>
              <a:rPr kumimoji="1" lang="en-US" altLang="ja-JP" sz="2000" i="0" u="none" strike="noStrike" cap="none" normalizeH="0" baseline="0" dirty="0">
                <a:ln>
                  <a:noFill/>
                </a:ln>
                <a:effectLst/>
                <a:ea typeface="ＭＳ Ｐゴシック" pitchFamily="50" charset="-128"/>
              </a:rPr>
              <a:t> </a:t>
            </a:r>
            <a:r>
              <a:rPr kumimoji="1" lang="en-US" altLang="ja-JP" sz="2000" i="0" u="none" strike="noStrike" cap="none" normalizeH="0" baseline="0" dirty="0">
                <a:ln>
                  <a:noFill/>
                </a:ln>
                <a:effectLst/>
                <a:ea typeface="ＭＳ Ｐゴシック" pitchFamily="50" charset="-128"/>
                <a:sym typeface="Wingdings" panose="05000000000000000000" pitchFamily="2" charset="2"/>
              </a:rPr>
              <a:t> c</a:t>
            </a:r>
            <a:r>
              <a:rPr kumimoji="1" lang="en-US" altLang="ja-JP" sz="2000" i="0" u="none" strike="noStrike" cap="none" normalizeH="0" baseline="-25000" dirty="0">
                <a:ln>
                  <a:noFill/>
                </a:ln>
                <a:effectLst/>
                <a:ea typeface="ＭＳ Ｐゴシック" pitchFamily="50" charset="-128"/>
                <a:sym typeface="Wingdings" panose="05000000000000000000" pitchFamily="2" charset="2"/>
              </a:rPr>
              <a:t>2 </a:t>
            </a:r>
            <a:r>
              <a:rPr kumimoji="1" lang="en-US" altLang="ja-JP" sz="2000" i="0" u="none" strike="noStrike" cap="none" normalizeH="0" baseline="0" dirty="0">
                <a:ln>
                  <a:noFill/>
                </a:ln>
                <a:effectLst/>
                <a:ea typeface="ＭＳ Ｐゴシック" pitchFamily="50" charset="-128"/>
              </a:rPr>
              <a:t>∧</a:t>
            </a:r>
          </a:p>
          <a:p>
            <a:pPr lvl="1"/>
            <a:r>
              <a:rPr kumimoji="1" lang="en-US" sz="2000" dirty="0">
                <a:ea typeface="ＭＳ Ｐゴシック" pitchFamily="50" charset="-128"/>
              </a:rPr>
              <a:t>X</a:t>
            </a:r>
            <a:r>
              <a:rPr kumimoji="1" lang="en-US" sz="2000" baseline="-25000" dirty="0">
                <a:ea typeface="ＭＳ Ｐゴシック" pitchFamily="50" charset="-128"/>
              </a:rPr>
              <a:t>3</a:t>
            </a:r>
            <a:r>
              <a:rPr kumimoji="1" lang="en-US" sz="2000" dirty="0">
                <a:ea typeface="ＭＳ Ｐゴシック" pitchFamily="50" charset="-128"/>
              </a:rPr>
              <a:t> </a:t>
            </a:r>
            <a:r>
              <a:rPr kumimoji="1" lang="en-US" sz="2000" dirty="0">
                <a:ea typeface="ＭＳ Ｐゴシック" pitchFamily="50" charset="-128"/>
                <a:sym typeface="Wingdings" panose="05000000000000000000" pitchFamily="2" charset="2"/>
              </a:rPr>
              <a:t> r</a:t>
            </a:r>
            <a:r>
              <a:rPr kumimoji="1" lang="en-US" sz="2000" baseline="-25000" dirty="0">
                <a:ea typeface="ＭＳ Ｐゴシック" pitchFamily="50" charset="-128"/>
                <a:sym typeface="Wingdings" panose="05000000000000000000" pitchFamily="2" charset="2"/>
              </a:rPr>
              <a:t>2</a:t>
            </a:r>
            <a:r>
              <a:rPr kumimoji="1" lang="en-US" sz="2000" dirty="0">
                <a:ea typeface="ＭＳ Ｐゴシック" pitchFamily="50" charset="-128"/>
                <a:sym typeface="Wingdings" panose="05000000000000000000" pitchFamily="2" charset="2"/>
              </a:rPr>
              <a:t> </a:t>
            </a:r>
            <a:r>
              <a:rPr kumimoji="1" lang="en-US" altLang="ja-JP" sz="2000" i="0" u="none" strike="noStrike" cap="none" normalizeH="0" baseline="0" dirty="0">
                <a:ln>
                  <a:noFill/>
                </a:ln>
                <a:effectLst/>
                <a:ea typeface="ＭＳ Ｐゴシック" pitchFamily="50" charset="-128"/>
              </a:rPr>
              <a:t>∧ X</a:t>
            </a:r>
            <a:r>
              <a:rPr kumimoji="1" lang="en-US" altLang="ja-JP" sz="2000" i="0" u="none" strike="noStrike" cap="none" normalizeH="0" baseline="-25000" dirty="0">
                <a:ln>
                  <a:noFill/>
                </a:ln>
                <a:effectLst/>
                <a:ea typeface="ＭＳ Ｐゴシック" pitchFamily="50" charset="-128"/>
              </a:rPr>
              <a:t>3</a:t>
            </a:r>
            <a:r>
              <a:rPr kumimoji="1" lang="en-US" altLang="ja-JP" sz="2000" i="0" u="none" strike="noStrike" cap="none" normalizeH="0" baseline="0" dirty="0">
                <a:ln>
                  <a:noFill/>
                </a:ln>
                <a:effectLst/>
                <a:ea typeface="ＭＳ Ｐゴシック" pitchFamily="50" charset="-128"/>
              </a:rPr>
              <a:t> </a:t>
            </a:r>
            <a:r>
              <a:rPr kumimoji="1" lang="en-US" altLang="ja-JP" sz="2000" i="0" u="none" strike="noStrike" cap="none" normalizeH="0" baseline="0" dirty="0">
                <a:ln>
                  <a:noFill/>
                </a:ln>
                <a:effectLst/>
                <a:ea typeface="ＭＳ Ｐゴシック" pitchFamily="50" charset="-128"/>
                <a:sym typeface="Wingdings" panose="05000000000000000000" pitchFamily="2" charset="2"/>
              </a:rPr>
              <a:t> c</a:t>
            </a:r>
            <a:r>
              <a:rPr kumimoji="1" lang="en-US" altLang="ja-JP" sz="2000" i="0" u="none" strike="noStrike" cap="none" normalizeH="0" baseline="-25000" dirty="0">
                <a:ln>
                  <a:noFill/>
                </a:ln>
                <a:effectLst/>
                <a:ea typeface="ＭＳ Ｐゴシック" pitchFamily="50" charset="-128"/>
                <a:sym typeface="Wingdings" panose="05000000000000000000" pitchFamily="2" charset="2"/>
              </a:rPr>
              <a:t>1 </a:t>
            </a:r>
            <a:r>
              <a:rPr kumimoji="1" lang="en-US" altLang="ja-JP" sz="2000" i="0" u="none" strike="noStrike" cap="none" normalizeH="0" baseline="0" dirty="0">
                <a:ln>
                  <a:noFill/>
                </a:ln>
                <a:effectLst/>
                <a:ea typeface="ＭＳ Ｐゴシック" pitchFamily="50" charset="-128"/>
              </a:rPr>
              <a:t>∧ </a:t>
            </a:r>
            <a:r>
              <a:rPr kumimoji="1" lang="en-US" sz="2000" dirty="0">
                <a:ea typeface="ＭＳ Ｐゴシック" pitchFamily="50" charset="-128"/>
              </a:rPr>
              <a:t>X</a:t>
            </a:r>
            <a:r>
              <a:rPr kumimoji="1" lang="en-US" sz="2000" baseline="-25000" dirty="0">
                <a:ea typeface="ＭＳ Ｐゴシック" pitchFamily="50" charset="-128"/>
              </a:rPr>
              <a:t>4</a:t>
            </a:r>
            <a:r>
              <a:rPr kumimoji="1" lang="en-US" sz="2000" dirty="0">
                <a:ea typeface="ＭＳ Ｐゴシック" pitchFamily="50" charset="-128"/>
              </a:rPr>
              <a:t> </a:t>
            </a:r>
            <a:r>
              <a:rPr kumimoji="1" lang="en-US" sz="2000" dirty="0">
                <a:ea typeface="ＭＳ Ｐゴシック" pitchFamily="50" charset="-128"/>
                <a:sym typeface="Wingdings" panose="05000000000000000000" pitchFamily="2" charset="2"/>
              </a:rPr>
              <a:t> r</a:t>
            </a:r>
            <a:r>
              <a:rPr kumimoji="1" lang="en-US" sz="2000" baseline="-25000" dirty="0">
                <a:ea typeface="ＭＳ Ｐゴシック" pitchFamily="50" charset="-128"/>
                <a:sym typeface="Wingdings" panose="05000000000000000000" pitchFamily="2" charset="2"/>
              </a:rPr>
              <a:t>2</a:t>
            </a:r>
            <a:r>
              <a:rPr kumimoji="1" lang="en-US" sz="2000" dirty="0">
                <a:ea typeface="ＭＳ Ｐゴシック" pitchFamily="50" charset="-128"/>
                <a:sym typeface="Wingdings" panose="05000000000000000000" pitchFamily="2" charset="2"/>
              </a:rPr>
              <a:t> </a:t>
            </a:r>
            <a:r>
              <a:rPr kumimoji="1" lang="en-US" altLang="ja-JP" sz="2000" i="0" u="none" strike="noStrike" cap="none" normalizeH="0" baseline="0" dirty="0">
                <a:ln>
                  <a:noFill/>
                </a:ln>
                <a:effectLst/>
                <a:ea typeface="ＭＳ Ｐゴシック" pitchFamily="50" charset="-128"/>
              </a:rPr>
              <a:t>∧ X</a:t>
            </a:r>
            <a:r>
              <a:rPr kumimoji="1" lang="en-US" altLang="ja-JP" sz="2000" i="0" u="none" strike="noStrike" cap="none" normalizeH="0" baseline="-25000" dirty="0">
                <a:ln>
                  <a:noFill/>
                </a:ln>
                <a:effectLst/>
                <a:ea typeface="ＭＳ Ｐゴシック" pitchFamily="50" charset="-128"/>
              </a:rPr>
              <a:t>4</a:t>
            </a:r>
            <a:r>
              <a:rPr kumimoji="1" lang="en-US" altLang="ja-JP" sz="2000" i="0" u="none" strike="noStrike" cap="none" normalizeH="0" baseline="0" dirty="0">
                <a:ln>
                  <a:noFill/>
                </a:ln>
                <a:effectLst/>
                <a:ea typeface="ＭＳ Ｐゴシック" pitchFamily="50" charset="-128"/>
              </a:rPr>
              <a:t> </a:t>
            </a:r>
            <a:r>
              <a:rPr kumimoji="1" lang="en-US" altLang="ja-JP" sz="2000" i="0" u="none" strike="noStrike" cap="none" normalizeH="0" baseline="0" dirty="0">
                <a:ln>
                  <a:noFill/>
                </a:ln>
                <a:effectLst/>
                <a:ea typeface="ＭＳ Ｐゴシック" pitchFamily="50" charset="-128"/>
                <a:sym typeface="Wingdings" panose="05000000000000000000" pitchFamily="2" charset="2"/>
              </a:rPr>
              <a:t> c</a:t>
            </a:r>
            <a:r>
              <a:rPr kumimoji="1" lang="en-US" altLang="ja-JP" sz="2000" i="0" u="none" strike="noStrike" cap="none" normalizeH="0" baseline="-25000" dirty="0">
                <a:ln>
                  <a:noFill/>
                </a:ln>
                <a:effectLst/>
                <a:ea typeface="ＭＳ Ｐゴシック" pitchFamily="50" charset="-128"/>
                <a:sym typeface="Wingdings" panose="05000000000000000000" pitchFamily="2" charset="2"/>
              </a:rPr>
              <a:t>2 </a:t>
            </a:r>
            <a:r>
              <a:rPr kumimoji="1" lang="en-US" altLang="ja-JP" sz="2000" i="0" u="none" strike="noStrike" cap="none" normalizeH="0" baseline="0" dirty="0">
                <a:ln>
                  <a:noFill/>
                </a:ln>
                <a:effectLst/>
                <a:ea typeface="ＭＳ Ｐゴシック" pitchFamily="50" charset="-128"/>
              </a:rPr>
              <a:t>∧</a:t>
            </a:r>
            <a:endParaRPr lang="en-US" sz="2000" baseline="-25000" dirty="0"/>
          </a:p>
          <a:p>
            <a:pPr lvl="1"/>
            <a:r>
              <a:rPr kumimoji="1" lang="en-US" sz="2000" dirty="0">
                <a:ea typeface="ＭＳ Ｐゴシック" pitchFamily="50" charset="-128"/>
              </a:rPr>
              <a:t>X</a:t>
            </a:r>
            <a:r>
              <a:rPr kumimoji="1" lang="en-US" sz="2000" baseline="-25000" dirty="0">
                <a:ea typeface="ＭＳ Ｐゴシック" pitchFamily="50" charset="-128"/>
              </a:rPr>
              <a:t>5</a:t>
            </a:r>
            <a:r>
              <a:rPr kumimoji="1" lang="en-US" sz="2000" dirty="0">
                <a:ea typeface="ＭＳ Ｐゴシック" pitchFamily="50" charset="-128"/>
              </a:rPr>
              <a:t> </a:t>
            </a:r>
            <a:r>
              <a:rPr kumimoji="1" lang="en-US" sz="2000" dirty="0">
                <a:ea typeface="ＭＳ Ｐゴシック" pitchFamily="50" charset="-128"/>
                <a:sym typeface="Wingdings" panose="05000000000000000000" pitchFamily="2" charset="2"/>
              </a:rPr>
              <a:t> r</a:t>
            </a:r>
            <a:r>
              <a:rPr kumimoji="1" lang="en-US" sz="2000" baseline="-25000" dirty="0">
                <a:ea typeface="ＭＳ Ｐゴシック" pitchFamily="50" charset="-128"/>
                <a:sym typeface="Wingdings" panose="05000000000000000000" pitchFamily="2" charset="2"/>
              </a:rPr>
              <a:t>3</a:t>
            </a:r>
            <a:r>
              <a:rPr kumimoji="1" lang="en-US" sz="2000" dirty="0">
                <a:ea typeface="ＭＳ Ｐゴシック" pitchFamily="50" charset="-128"/>
                <a:sym typeface="Wingdings" panose="05000000000000000000" pitchFamily="2" charset="2"/>
              </a:rPr>
              <a:t> </a:t>
            </a:r>
            <a:r>
              <a:rPr kumimoji="1" lang="en-US" altLang="ja-JP" sz="2000" i="0" u="none" strike="noStrike" cap="none" normalizeH="0" baseline="0" dirty="0">
                <a:ln>
                  <a:noFill/>
                </a:ln>
                <a:effectLst/>
                <a:ea typeface="ＭＳ Ｐゴシック" pitchFamily="50" charset="-128"/>
              </a:rPr>
              <a:t>∧ X</a:t>
            </a:r>
            <a:r>
              <a:rPr kumimoji="1" lang="en-US" altLang="ja-JP" sz="2000" i="0" u="none" strike="noStrike" cap="none" normalizeH="0" baseline="-25000" dirty="0">
                <a:ln>
                  <a:noFill/>
                </a:ln>
                <a:effectLst/>
                <a:ea typeface="ＭＳ Ｐゴシック" pitchFamily="50" charset="-128"/>
              </a:rPr>
              <a:t>5</a:t>
            </a:r>
            <a:r>
              <a:rPr kumimoji="1" lang="en-US" altLang="ja-JP" sz="2000" i="0" u="none" strike="noStrike" cap="none" normalizeH="0" baseline="0" dirty="0">
                <a:ln>
                  <a:noFill/>
                </a:ln>
                <a:effectLst/>
                <a:ea typeface="ＭＳ Ｐゴシック" pitchFamily="50" charset="-128"/>
              </a:rPr>
              <a:t> </a:t>
            </a:r>
            <a:r>
              <a:rPr kumimoji="1" lang="en-US" altLang="ja-JP" sz="2000" i="0" u="none" strike="noStrike" cap="none" normalizeH="0" baseline="0" dirty="0">
                <a:ln>
                  <a:noFill/>
                </a:ln>
                <a:effectLst/>
                <a:ea typeface="ＭＳ Ｐゴシック" pitchFamily="50" charset="-128"/>
                <a:sym typeface="Wingdings" panose="05000000000000000000" pitchFamily="2" charset="2"/>
              </a:rPr>
              <a:t> c</a:t>
            </a:r>
            <a:r>
              <a:rPr kumimoji="1" lang="en-US" altLang="ja-JP" sz="2000" i="0" u="none" strike="noStrike" cap="none" normalizeH="0" baseline="-25000" dirty="0">
                <a:ln>
                  <a:noFill/>
                </a:ln>
                <a:effectLst/>
                <a:ea typeface="ＭＳ Ｐゴシック" pitchFamily="50" charset="-128"/>
                <a:sym typeface="Wingdings" panose="05000000000000000000" pitchFamily="2" charset="2"/>
              </a:rPr>
              <a:t>1</a:t>
            </a:r>
            <a:endParaRPr lang="en-US" sz="2000" baseline="-25000" dirty="0"/>
          </a:p>
          <a:p>
            <a:pPr lvl="1"/>
            <a:endParaRPr lang="en-US" sz="2000" baseline="-25000" dirty="0"/>
          </a:p>
          <a:p>
            <a:pPr lvl="1"/>
            <a:endParaRPr lang="en-US" sz="2000" baseline="-25000" dirty="0"/>
          </a:p>
        </p:txBody>
      </p:sp>
    </p:spTree>
    <p:extLst>
      <p:ext uri="{BB962C8B-B14F-4D97-AF65-F5344CB8AC3E}">
        <p14:creationId xmlns:p14="http://schemas.microsoft.com/office/powerpoint/2010/main" val="26141000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777B78-9DFA-4B26-A85A-933DBC9F2F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Product encoding (2)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B62DA9-3504-4EC7-9603-53AC073438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676400"/>
            <a:ext cx="8413750" cy="4130675"/>
          </a:xfrm>
        </p:spPr>
        <p:txBody>
          <a:bodyPr/>
          <a:lstStyle/>
          <a:p>
            <a:r>
              <a:rPr lang="en-US" dirty="0"/>
              <a:t>For n = 6 (X</a:t>
            </a:r>
            <a:r>
              <a:rPr lang="en-US" baseline="-25000" dirty="0"/>
              <a:t>1</a:t>
            </a:r>
            <a:r>
              <a:rPr lang="en-US" dirty="0"/>
              <a:t>, X</a:t>
            </a:r>
            <a:r>
              <a:rPr lang="en-US" baseline="-25000" dirty="0"/>
              <a:t>2</a:t>
            </a:r>
            <a:r>
              <a:rPr lang="en-US" dirty="0"/>
              <a:t>, X</a:t>
            </a:r>
            <a:r>
              <a:rPr lang="en-US" baseline="-25000" dirty="0"/>
              <a:t>3</a:t>
            </a:r>
            <a:r>
              <a:rPr lang="en-US" dirty="0"/>
              <a:t>, X</a:t>
            </a:r>
            <a:r>
              <a:rPr lang="en-US" baseline="-25000" dirty="0"/>
              <a:t>4</a:t>
            </a:r>
            <a:r>
              <a:rPr lang="en-US" dirty="0"/>
              <a:t>, X</a:t>
            </a:r>
            <a:r>
              <a:rPr lang="en-US" baseline="-25000" dirty="0"/>
              <a:t>5</a:t>
            </a:r>
            <a:r>
              <a:rPr lang="en-US" dirty="0"/>
              <a:t>, X</a:t>
            </a:r>
            <a:r>
              <a:rPr lang="en-US" baseline="-25000" dirty="0"/>
              <a:t>6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p = [sqrt (6)] = 3, v = [6/3] = 2</a:t>
            </a:r>
          </a:p>
          <a:p>
            <a:pPr lvl="1"/>
            <a:r>
              <a:rPr lang="en-US" dirty="0"/>
              <a:t>(r</a:t>
            </a:r>
            <a:r>
              <a:rPr lang="en-US" baseline="-25000" dirty="0"/>
              <a:t>1</a:t>
            </a:r>
            <a:r>
              <a:rPr lang="en-US" dirty="0"/>
              <a:t>, r</a:t>
            </a:r>
            <a:r>
              <a:rPr lang="en-US" baseline="-25000" dirty="0"/>
              <a:t>2</a:t>
            </a:r>
            <a:r>
              <a:rPr lang="en-US" dirty="0"/>
              <a:t>, r</a:t>
            </a:r>
            <a:r>
              <a:rPr lang="en-US" baseline="-25000" dirty="0"/>
              <a:t>3</a:t>
            </a:r>
            <a:r>
              <a:rPr lang="en-US" dirty="0"/>
              <a:t>) x (c</a:t>
            </a:r>
            <a:r>
              <a:rPr lang="en-US" baseline="-25000" dirty="0"/>
              <a:t>1</a:t>
            </a:r>
            <a:r>
              <a:rPr lang="en-US" dirty="0"/>
              <a:t>, c</a:t>
            </a:r>
            <a:r>
              <a:rPr lang="en-US" baseline="-25000" dirty="0"/>
              <a:t>2</a:t>
            </a:r>
            <a:r>
              <a:rPr lang="en-US" dirty="0"/>
              <a:t>)</a:t>
            </a:r>
          </a:p>
          <a:p>
            <a:r>
              <a:rPr lang="en-US" dirty="0"/>
              <a:t>AMO (X</a:t>
            </a:r>
            <a:r>
              <a:rPr lang="en-US" baseline="-25000" dirty="0"/>
              <a:t>1</a:t>
            </a:r>
            <a:r>
              <a:rPr lang="en-US" dirty="0"/>
              <a:t>, X</a:t>
            </a:r>
            <a:r>
              <a:rPr lang="en-US" baseline="-25000" dirty="0"/>
              <a:t>2</a:t>
            </a:r>
            <a:r>
              <a:rPr lang="en-US" dirty="0"/>
              <a:t>, X</a:t>
            </a:r>
            <a:r>
              <a:rPr lang="en-US" baseline="-25000" dirty="0"/>
              <a:t>3</a:t>
            </a:r>
            <a:r>
              <a:rPr lang="en-US" dirty="0"/>
              <a:t>, X</a:t>
            </a:r>
            <a:r>
              <a:rPr lang="en-US" baseline="-25000" dirty="0"/>
              <a:t>4</a:t>
            </a:r>
            <a:r>
              <a:rPr lang="en-US" dirty="0"/>
              <a:t>, X</a:t>
            </a:r>
            <a:r>
              <a:rPr lang="en-US" baseline="-25000" dirty="0"/>
              <a:t>5</a:t>
            </a:r>
            <a:r>
              <a:rPr lang="en-US" dirty="0"/>
              <a:t>, X</a:t>
            </a:r>
            <a:r>
              <a:rPr lang="en-US" baseline="-25000" dirty="0"/>
              <a:t>6</a:t>
            </a:r>
            <a:r>
              <a:rPr lang="en-US" dirty="0"/>
              <a:t>):</a:t>
            </a:r>
          </a:p>
          <a:p>
            <a:pPr lvl="1"/>
            <a:r>
              <a:rPr lang="en-US" dirty="0"/>
              <a:t>r</a:t>
            </a:r>
            <a:r>
              <a:rPr lang="en-US" baseline="-25000" dirty="0"/>
              <a:t>1</a:t>
            </a:r>
            <a:r>
              <a:rPr lang="en-US" dirty="0"/>
              <a:t> </a:t>
            </a:r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ja-JP" altLang="en-US" sz="2400" dirty="0"/>
              <a:t>￢</a:t>
            </a:r>
            <a:r>
              <a:rPr lang="en-US" dirty="0">
                <a:sym typeface="Wingdings" panose="05000000000000000000" pitchFamily="2" charset="2"/>
              </a:rPr>
              <a:t>r</a:t>
            </a:r>
            <a:r>
              <a:rPr lang="en-US" baseline="-25000" dirty="0">
                <a:sym typeface="Wingdings" panose="05000000000000000000" pitchFamily="2" charset="2"/>
              </a:rPr>
              <a:t>2</a:t>
            </a:r>
            <a:r>
              <a:rPr kumimoji="1" lang="en-US" altLang="ja-JP" sz="2400" i="0" u="none" strike="noStrike" cap="none" normalizeH="0" baseline="0" dirty="0">
                <a:ln>
                  <a:noFill/>
                </a:ln>
                <a:effectLst/>
                <a:ea typeface="ＭＳ Ｐゴシック" pitchFamily="50" charset="-128"/>
              </a:rPr>
              <a:t> ∧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/>
              <a:t>r</a:t>
            </a:r>
            <a:r>
              <a:rPr lang="en-US" baseline="-25000" dirty="0"/>
              <a:t>1</a:t>
            </a:r>
            <a:r>
              <a:rPr lang="en-US" dirty="0"/>
              <a:t> </a:t>
            </a:r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ja-JP" altLang="en-US" sz="2000" dirty="0"/>
              <a:t>￢</a:t>
            </a:r>
            <a:r>
              <a:rPr lang="en-US" dirty="0">
                <a:sym typeface="Wingdings" panose="05000000000000000000" pitchFamily="2" charset="2"/>
              </a:rPr>
              <a:t>r</a:t>
            </a:r>
            <a:r>
              <a:rPr lang="en-US" baseline="-25000" dirty="0">
                <a:sym typeface="Wingdings" panose="05000000000000000000" pitchFamily="2" charset="2"/>
              </a:rPr>
              <a:t>3 </a:t>
            </a:r>
            <a:r>
              <a:rPr kumimoji="1" lang="en-US" altLang="ja-JP" sz="2400" i="0" u="none" strike="noStrike" cap="none" normalizeH="0" baseline="0" dirty="0">
                <a:ln>
                  <a:noFill/>
                </a:ln>
                <a:effectLst/>
                <a:ea typeface="ＭＳ Ｐゴシック" pitchFamily="50" charset="-128"/>
              </a:rPr>
              <a:t>∧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/>
              <a:t>r</a:t>
            </a:r>
            <a:r>
              <a:rPr lang="en-US" baseline="-25000" dirty="0"/>
              <a:t>2</a:t>
            </a:r>
            <a:r>
              <a:rPr lang="en-US" dirty="0"/>
              <a:t> </a:t>
            </a:r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ja-JP" altLang="en-US" sz="2000" dirty="0"/>
              <a:t>￢</a:t>
            </a:r>
            <a:r>
              <a:rPr lang="en-US" dirty="0">
                <a:sym typeface="Wingdings" panose="05000000000000000000" pitchFamily="2" charset="2"/>
              </a:rPr>
              <a:t>r</a:t>
            </a:r>
            <a:r>
              <a:rPr lang="en-US" baseline="-25000" dirty="0">
                <a:sym typeface="Wingdings" panose="05000000000000000000" pitchFamily="2" charset="2"/>
              </a:rPr>
              <a:t>3 </a:t>
            </a:r>
            <a:r>
              <a:rPr kumimoji="1" lang="en-US" altLang="ja-JP" sz="2400" i="0" u="none" strike="noStrike" cap="none" normalizeH="0" baseline="0" dirty="0">
                <a:ln>
                  <a:noFill/>
                </a:ln>
                <a:effectLst/>
                <a:ea typeface="ＭＳ Ｐゴシック" pitchFamily="50" charset="-128"/>
              </a:rPr>
              <a:t>∧</a:t>
            </a:r>
          </a:p>
          <a:p>
            <a:pPr lvl="1"/>
            <a:r>
              <a:rPr lang="en-US" dirty="0"/>
              <a:t>c</a:t>
            </a:r>
            <a:r>
              <a:rPr lang="en-US" baseline="-25000" dirty="0"/>
              <a:t>1</a:t>
            </a:r>
            <a:r>
              <a:rPr lang="en-US" dirty="0"/>
              <a:t> </a:t>
            </a:r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ja-JP" altLang="en-US" sz="2000" dirty="0"/>
              <a:t>￢</a:t>
            </a:r>
            <a:r>
              <a:rPr lang="en-US" altLang="ja-JP" dirty="0">
                <a:sym typeface="Wingdings" panose="05000000000000000000" pitchFamily="2" charset="2"/>
              </a:rPr>
              <a:t>c</a:t>
            </a:r>
            <a:r>
              <a:rPr lang="en-US" baseline="-25000" dirty="0">
                <a:sym typeface="Wingdings" panose="05000000000000000000" pitchFamily="2" charset="2"/>
              </a:rPr>
              <a:t>2</a:t>
            </a:r>
            <a:r>
              <a:rPr kumimoji="1" lang="en-US" altLang="ja-JP" sz="2000" i="0" u="none" strike="noStrike" cap="none" normalizeH="0" baseline="0" dirty="0">
                <a:ln>
                  <a:noFill/>
                </a:ln>
                <a:effectLst/>
                <a:ea typeface="ＭＳ Ｐゴシック" pitchFamily="50" charset="-128"/>
              </a:rPr>
              <a:t> ∧</a:t>
            </a:r>
          </a:p>
          <a:p>
            <a:pPr lvl="1"/>
            <a:r>
              <a:rPr kumimoji="1" lang="en-US" sz="2000" dirty="0">
                <a:ea typeface="ＭＳ Ｐゴシック" pitchFamily="50" charset="-128"/>
              </a:rPr>
              <a:t>X</a:t>
            </a:r>
            <a:r>
              <a:rPr kumimoji="1" lang="en-US" sz="2000" baseline="-25000" dirty="0">
                <a:ea typeface="ＭＳ Ｐゴシック" pitchFamily="50" charset="-128"/>
              </a:rPr>
              <a:t>1</a:t>
            </a:r>
            <a:r>
              <a:rPr kumimoji="1" lang="en-US" sz="2000" dirty="0">
                <a:ea typeface="ＭＳ Ｐゴシック" pitchFamily="50" charset="-128"/>
              </a:rPr>
              <a:t> </a:t>
            </a:r>
            <a:r>
              <a:rPr kumimoji="1" lang="en-US" sz="2000" dirty="0">
                <a:ea typeface="ＭＳ Ｐゴシック" pitchFamily="50" charset="-128"/>
                <a:sym typeface="Wingdings" panose="05000000000000000000" pitchFamily="2" charset="2"/>
              </a:rPr>
              <a:t> r</a:t>
            </a:r>
            <a:r>
              <a:rPr kumimoji="1" lang="en-US" sz="2000" baseline="-25000" dirty="0">
                <a:ea typeface="ＭＳ Ｐゴシック" pitchFamily="50" charset="-128"/>
                <a:sym typeface="Wingdings" panose="05000000000000000000" pitchFamily="2" charset="2"/>
              </a:rPr>
              <a:t>1</a:t>
            </a:r>
            <a:r>
              <a:rPr kumimoji="1" lang="en-US" sz="2000" dirty="0">
                <a:ea typeface="ＭＳ Ｐゴシック" pitchFamily="50" charset="-128"/>
                <a:sym typeface="Wingdings" panose="05000000000000000000" pitchFamily="2" charset="2"/>
              </a:rPr>
              <a:t> </a:t>
            </a:r>
            <a:r>
              <a:rPr kumimoji="1" lang="en-US" altLang="ja-JP" sz="2000" i="0" u="none" strike="noStrike" cap="none" normalizeH="0" baseline="0" dirty="0">
                <a:ln>
                  <a:noFill/>
                </a:ln>
                <a:effectLst/>
                <a:ea typeface="ＭＳ Ｐゴシック" pitchFamily="50" charset="-128"/>
              </a:rPr>
              <a:t>∧ X</a:t>
            </a:r>
            <a:r>
              <a:rPr kumimoji="1" lang="en-US" altLang="ja-JP" sz="2000" i="0" u="none" strike="noStrike" cap="none" normalizeH="0" baseline="-25000" dirty="0">
                <a:ln>
                  <a:noFill/>
                </a:ln>
                <a:effectLst/>
                <a:ea typeface="ＭＳ Ｐゴシック" pitchFamily="50" charset="-128"/>
              </a:rPr>
              <a:t>1</a:t>
            </a:r>
            <a:r>
              <a:rPr kumimoji="1" lang="en-US" altLang="ja-JP" sz="2000" i="0" u="none" strike="noStrike" cap="none" normalizeH="0" baseline="0" dirty="0">
                <a:ln>
                  <a:noFill/>
                </a:ln>
                <a:effectLst/>
                <a:ea typeface="ＭＳ Ｐゴシック" pitchFamily="50" charset="-128"/>
              </a:rPr>
              <a:t> </a:t>
            </a:r>
            <a:r>
              <a:rPr kumimoji="1" lang="en-US" altLang="ja-JP" sz="2000" i="0" u="none" strike="noStrike" cap="none" normalizeH="0" baseline="0" dirty="0">
                <a:ln>
                  <a:noFill/>
                </a:ln>
                <a:effectLst/>
                <a:ea typeface="ＭＳ Ｐゴシック" pitchFamily="50" charset="-128"/>
                <a:sym typeface="Wingdings" panose="05000000000000000000" pitchFamily="2" charset="2"/>
              </a:rPr>
              <a:t> c</a:t>
            </a:r>
            <a:r>
              <a:rPr kumimoji="1" lang="en-US" altLang="ja-JP" sz="2000" i="0" u="none" strike="noStrike" cap="none" normalizeH="0" baseline="-25000" dirty="0">
                <a:ln>
                  <a:noFill/>
                </a:ln>
                <a:effectLst/>
                <a:ea typeface="ＭＳ Ｐゴシック" pitchFamily="50" charset="-128"/>
                <a:sym typeface="Wingdings" panose="05000000000000000000" pitchFamily="2" charset="2"/>
              </a:rPr>
              <a:t>1 </a:t>
            </a:r>
            <a:r>
              <a:rPr kumimoji="1" lang="en-US" altLang="ja-JP" sz="2000" i="0" u="none" strike="noStrike" cap="none" normalizeH="0" baseline="0" dirty="0">
                <a:ln>
                  <a:noFill/>
                </a:ln>
                <a:effectLst/>
                <a:ea typeface="ＭＳ Ｐゴシック" pitchFamily="50" charset="-128"/>
              </a:rPr>
              <a:t>∧ </a:t>
            </a:r>
            <a:r>
              <a:rPr kumimoji="1" lang="en-US" sz="2000" dirty="0">
                <a:ea typeface="ＭＳ Ｐゴシック" pitchFamily="50" charset="-128"/>
              </a:rPr>
              <a:t>X</a:t>
            </a:r>
            <a:r>
              <a:rPr kumimoji="1" lang="en-US" sz="2000" baseline="-25000" dirty="0">
                <a:ea typeface="ＭＳ Ｐゴシック" pitchFamily="50" charset="-128"/>
              </a:rPr>
              <a:t>2</a:t>
            </a:r>
            <a:r>
              <a:rPr kumimoji="1" lang="en-US" sz="2000" dirty="0">
                <a:ea typeface="ＭＳ Ｐゴシック" pitchFamily="50" charset="-128"/>
              </a:rPr>
              <a:t> </a:t>
            </a:r>
            <a:r>
              <a:rPr kumimoji="1" lang="en-US" sz="2000" dirty="0">
                <a:ea typeface="ＭＳ Ｐゴシック" pitchFamily="50" charset="-128"/>
                <a:sym typeface="Wingdings" panose="05000000000000000000" pitchFamily="2" charset="2"/>
              </a:rPr>
              <a:t> r</a:t>
            </a:r>
            <a:r>
              <a:rPr kumimoji="1" lang="en-US" sz="2000" baseline="-25000" dirty="0">
                <a:ea typeface="ＭＳ Ｐゴシック" pitchFamily="50" charset="-128"/>
                <a:sym typeface="Wingdings" panose="05000000000000000000" pitchFamily="2" charset="2"/>
              </a:rPr>
              <a:t>1</a:t>
            </a:r>
            <a:r>
              <a:rPr kumimoji="1" lang="en-US" sz="2000" dirty="0">
                <a:ea typeface="ＭＳ Ｐゴシック" pitchFamily="50" charset="-128"/>
                <a:sym typeface="Wingdings" panose="05000000000000000000" pitchFamily="2" charset="2"/>
              </a:rPr>
              <a:t> </a:t>
            </a:r>
            <a:r>
              <a:rPr kumimoji="1" lang="en-US" altLang="ja-JP" sz="2000" i="0" u="none" strike="noStrike" cap="none" normalizeH="0" baseline="0" dirty="0">
                <a:ln>
                  <a:noFill/>
                </a:ln>
                <a:effectLst/>
                <a:ea typeface="ＭＳ Ｐゴシック" pitchFamily="50" charset="-128"/>
              </a:rPr>
              <a:t>∧ X</a:t>
            </a:r>
            <a:r>
              <a:rPr kumimoji="1" lang="en-US" altLang="ja-JP" sz="2000" i="0" u="none" strike="noStrike" cap="none" normalizeH="0" baseline="-25000" dirty="0">
                <a:ln>
                  <a:noFill/>
                </a:ln>
                <a:effectLst/>
                <a:ea typeface="ＭＳ Ｐゴシック" pitchFamily="50" charset="-128"/>
              </a:rPr>
              <a:t>2</a:t>
            </a:r>
            <a:r>
              <a:rPr kumimoji="1" lang="en-US" altLang="ja-JP" sz="2000" i="0" u="none" strike="noStrike" cap="none" normalizeH="0" baseline="0" dirty="0">
                <a:ln>
                  <a:noFill/>
                </a:ln>
                <a:effectLst/>
                <a:ea typeface="ＭＳ Ｐゴシック" pitchFamily="50" charset="-128"/>
              </a:rPr>
              <a:t> </a:t>
            </a:r>
            <a:r>
              <a:rPr kumimoji="1" lang="en-US" altLang="ja-JP" sz="2000" i="0" u="none" strike="noStrike" cap="none" normalizeH="0" baseline="0" dirty="0">
                <a:ln>
                  <a:noFill/>
                </a:ln>
                <a:effectLst/>
                <a:ea typeface="ＭＳ Ｐゴシック" pitchFamily="50" charset="-128"/>
                <a:sym typeface="Wingdings" panose="05000000000000000000" pitchFamily="2" charset="2"/>
              </a:rPr>
              <a:t> c</a:t>
            </a:r>
            <a:r>
              <a:rPr kumimoji="1" lang="en-US" altLang="ja-JP" sz="2000" i="0" u="none" strike="noStrike" cap="none" normalizeH="0" baseline="-25000" dirty="0">
                <a:ln>
                  <a:noFill/>
                </a:ln>
                <a:effectLst/>
                <a:ea typeface="ＭＳ Ｐゴシック" pitchFamily="50" charset="-128"/>
                <a:sym typeface="Wingdings" panose="05000000000000000000" pitchFamily="2" charset="2"/>
              </a:rPr>
              <a:t>2 </a:t>
            </a:r>
            <a:r>
              <a:rPr kumimoji="1" lang="en-US" altLang="ja-JP" sz="2000" i="0" u="none" strike="noStrike" cap="none" normalizeH="0" baseline="0" dirty="0">
                <a:ln>
                  <a:noFill/>
                </a:ln>
                <a:effectLst/>
                <a:ea typeface="ＭＳ Ｐゴシック" pitchFamily="50" charset="-128"/>
              </a:rPr>
              <a:t>∧</a:t>
            </a:r>
          </a:p>
          <a:p>
            <a:pPr lvl="1"/>
            <a:r>
              <a:rPr kumimoji="1" lang="en-US" sz="2000" dirty="0">
                <a:ea typeface="ＭＳ Ｐゴシック" pitchFamily="50" charset="-128"/>
              </a:rPr>
              <a:t>X</a:t>
            </a:r>
            <a:r>
              <a:rPr kumimoji="1" lang="en-US" sz="2000" baseline="-25000" dirty="0">
                <a:ea typeface="ＭＳ Ｐゴシック" pitchFamily="50" charset="-128"/>
              </a:rPr>
              <a:t>3</a:t>
            </a:r>
            <a:r>
              <a:rPr kumimoji="1" lang="en-US" sz="2000" dirty="0">
                <a:ea typeface="ＭＳ Ｐゴシック" pitchFamily="50" charset="-128"/>
              </a:rPr>
              <a:t> </a:t>
            </a:r>
            <a:r>
              <a:rPr kumimoji="1" lang="en-US" sz="2000" dirty="0">
                <a:ea typeface="ＭＳ Ｐゴシック" pitchFamily="50" charset="-128"/>
                <a:sym typeface="Wingdings" panose="05000000000000000000" pitchFamily="2" charset="2"/>
              </a:rPr>
              <a:t> r</a:t>
            </a:r>
            <a:r>
              <a:rPr kumimoji="1" lang="en-US" sz="2000" baseline="-25000" dirty="0">
                <a:ea typeface="ＭＳ Ｐゴシック" pitchFamily="50" charset="-128"/>
                <a:sym typeface="Wingdings" panose="05000000000000000000" pitchFamily="2" charset="2"/>
              </a:rPr>
              <a:t>2</a:t>
            </a:r>
            <a:r>
              <a:rPr kumimoji="1" lang="en-US" sz="2000" dirty="0">
                <a:ea typeface="ＭＳ Ｐゴシック" pitchFamily="50" charset="-128"/>
                <a:sym typeface="Wingdings" panose="05000000000000000000" pitchFamily="2" charset="2"/>
              </a:rPr>
              <a:t> </a:t>
            </a:r>
            <a:r>
              <a:rPr kumimoji="1" lang="en-US" altLang="ja-JP" sz="2000" i="0" u="none" strike="noStrike" cap="none" normalizeH="0" baseline="0" dirty="0">
                <a:ln>
                  <a:noFill/>
                </a:ln>
                <a:effectLst/>
                <a:ea typeface="ＭＳ Ｐゴシック" pitchFamily="50" charset="-128"/>
              </a:rPr>
              <a:t>∧ X</a:t>
            </a:r>
            <a:r>
              <a:rPr kumimoji="1" lang="en-US" altLang="ja-JP" sz="2000" i="0" u="none" strike="noStrike" cap="none" normalizeH="0" baseline="-25000" dirty="0">
                <a:ln>
                  <a:noFill/>
                </a:ln>
                <a:effectLst/>
                <a:ea typeface="ＭＳ Ｐゴシック" pitchFamily="50" charset="-128"/>
              </a:rPr>
              <a:t>3</a:t>
            </a:r>
            <a:r>
              <a:rPr kumimoji="1" lang="en-US" altLang="ja-JP" sz="2000" i="0" u="none" strike="noStrike" cap="none" normalizeH="0" baseline="0" dirty="0">
                <a:ln>
                  <a:noFill/>
                </a:ln>
                <a:effectLst/>
                <a:ea typeface="ＭＳ Ｐゴシック" pitchFamily="50" charset="-128"/>
              </a:rPr>
              <a:t> </a:t>
            </a:r>
            <a:r>
              <a:rPr kumimoji="1" lang="en-US" altLang="ja-JP" sz="2000" i="0" u="none" strike="noStrike" cap="none" normalizeH="0" baseline="0" dirty="0">
                <a:ln>
                  <a:noFill/>
                </a:ln>
                <a:effectLst/>
                <a:ea typeface="ＭＳ Ｐゴシック" pitchFamily="50" charset="-128"/>
                <a:sym typeface="Wingdings" panose="05000000000000000000" pitchFamily="2" charset="2"/>
              </a:rPr>
              <a:t> c</a:t>
            </a:r>
            <a:r>
              <a:rPr kumimoji="1" lang="en-US" altLang="ja-JP" sz="2000" i="0" u="none" strike="noStrike" cap="none" normalizeH="0" baseline="-25000" dirty="0">
                <a:ln>
                  <a:noFill/>
                </a:ln>
                <a:effectLst/>
                <a:ea typeface="ＭＳ Ｐゴシック" pitchFamily="50" charset="-128"/>
                <a:sym typeface="Wingdings" panose="05000000000000000000" pitchFamily="2" charset="2"/>
              </a:rPr>
              <a:t>1 </a:t>
            </a:r>
            <a:r>
              <a:rPr kumimoji="1" lang="en-US" altLang="ja-JP" sz="2000" i="0" u="none" strike="noStrike" cap="none" normalizeH="0" baseline="0" dirty="0">
                <a:ln>
                  <a:noFill/>
                </a:ln>
                <a:effectLst/>
                <a:ea typeface="ＭＳ Ｐゴシック" pitchFamily="50" charset="-128"/>
              </a:rPr>
              <a:t>∧ </a:t>
            </a:r>
            <a:r>
              <a:rPr kumimoji="1" lang="en-US" sz="2000" dirty="0">
                <a:ea typeface="ＭＳ Ｐゴシック" pitchFamily="50" charset="-128"/>
              </a:rPr>
              <a:t>X</a:t>
            </a:r>
            <a:r>
              <a:rPr kumimoji="1" lang="en-US" sz="2000" baseline="-25000" dirty="0">
                <a:ea typeface="ＭＳ Ｐゴシック" pitchFamily="50" charset="-128"/>
              </a:rPr>
              <a:t>4</a:t>
            </a:r>
            <a:r>
              <a:rPr kumimoji="1" lang="en-US" sz="2000" dirty="0">
                <a:ea typeface="ＭＳ Ｐゴシック" pitchFamily="50" charset="-128"/>
              </a:rPr>
              <a:t> </a:t>
            </a:r>
            <a:r>
              <a:rPr kumimoji="1" lang="en-US" sz="2000" dirty="0">
                <a:ea typeface="ＭＳ Ｐゴシック" pitchFamily="50" charset="-128"/>
                <a:sym typeface="Wingdings" panose="05000000000000000000" pitchFamily="2" charset="2"/>
              </a:rPr>
              <a:t> r</a:t>
            </a:r>
            <a:r>
              <a:rPr kumimoji="1" lang="en-US" sz="2000" baseline="-25000" dirty="0">
                <a:ea typeface="ＭＳ Ｐゴシック" pitchFamily="50" charset="-128"/>
                <a:sym typeface="Wingdings" panose="05000000000000000000" pitchFamily="2" charset="2"/>
              </a:rPr>
              <a:t>2</a:t>
            </a:r>
            <a:r>
              <a:rPr kumimoji="1" lang="en-US" sz="2000" dirty="0">
                <a:ea typeface="ＭＳ Ｐゴシック" pitchFamily="50" charset="-128"/>
                <a:sym typeface="Wingdings" panose="05000000000000000000" pitchFamily="2" charset="2"/>
              </a:rPr>
              <a:t> </a:t>
            </a:r>
            <a:r>
              <a:rPr kumimoji="1" lang="en-US" altLang="ja-JP" sz="2000" i="0" u="none" strike="noStrike" cap="none" normalizeH="0" baseline="0" dirty="0">
                <a:ln>
                  <a:noFill/>
                </a:ln>
                <a:effectLst/>
                <a:ea typeface="ＭＳ Ｐゴシック" pitchFamily="50" charset="-128"/>
              </a:rPr>
              <a:t>∧ X</a:t>
            </a:r>
            <a:r>
              <a:rPr kumimoji="1" lang="en-US" altLang="ja-JP" sz="2000" i="0" u="none" strike="noStrike" cap="none" normalizeH="0" baseline="-25000" dirty="0">
                <a:ln>
                  <a:noFill/>
                </a:ln>
                <a:effectLst/>
                <a:ea typeface="ＭＳ Ｐゴシック" pitchFamily="50" charset="-128"/>
              </a:rPr>
              <a:t>4</a:t>
            </a:r>
            <a:r>
              <a:rPr kumimoji="1" lang="en-US" altLang="ja-JP" sz="2000" i="0" u="none" strike="noStrike" cap="none" normalizeH="0" baseline="0" dirty="0">
                <a:ln>
                  <a:noFill/>
                </a:ln>
                <a:effectLst/>
                <a:ea typeface="ＭＳ Ｐゴシック" pitchFamily="50" charset="-128"/>
              </a:rPr>
              <a:t> </a:t>
            </a:r>
            <a:r>
              <a:rPr kumimoji="1" lang="en-US" altLang="ja-JP" sz="2000" i="0" u="none" strike="noStrike" cap="none" normalizeH="0" baseline="0" dirty="0">
                <a:ln>
                  <a:noFill/>
                </a:ln>
                <a:effectLst/>
                <a:ea typeface="ＭＳ Ｐゴシック" pitchFamily="50" charset="-128"/>
                <a:sym typeface="Wingdings" panose="05000000000000000000" pitchFamily="2" charset="2"/>
              </a:rPr>
              <a:t> c</a:t>
            </a:r>
            <a:r>
              <a:rPr kumimoji="1" lang="en-US" altLang="ja-JP" sz="2000" i="0" u="none" strike="noStrike" cap="none" normalizeH="0" baseline="-25000" dirty="0">
                <a:ln>
                  <a:noFill/>
                </a:ln>
                <a:effectLst/>
                <a:ea typeface="ＭＳ Ｐゴシック" pitchFamily="50" charset="-128"/>
                <a:sym typeface="Wingdings" panose="05000000000000000000" pitchFamily="2" charset="2"/>
              </a:rPr>
              <a:t>2 </a:t>
            </a:r>
            <a:r>
              <a:rPr kumimoji="1" lang="en-US" altLang="ja-JP" sz="2000" i="0" u="none" strike="noStrike" cap="none" normalizeH="0" baseline="0" dirty="0">
                <a:ln>
                  <a:noFill/>
                </a:ln>
                <a:effectLst/>
                <a:ea typeface="ＭＳ Ｐゴシック" pitchFamily="50" charset="-128"/>
              </a:rPr>
              <a:t>∧</a:t>
            </a:r>
            <a:endParaRPr lang="en-US" sz="2000" baseline="-25000" dirty="0"/>
          </a:p>
          <a:p>
            <a:pPr lvl="1"/>
            <a:r>
              <a:rPr kumimoji="1" lang="en-US" sz="2000" dirty="0">
                <a:ea typeface="ＭＳ Ｐゴシック" pitchFamily="50" charset="-128"/>
              </a:rPr>
              <a:t>X</a:t>
            </a:r>
            <a:r>
              <a:rPr kumimoji="1" lang="en-US" sz="2000" baseline="-25000" dirty="0">
                <a:ea typeface="ＭＳ Ｐゴシック" pitchFamily="50" charset="-128"/>
              </a:rPr>
              <a:t>5</a:t>
            </a:r>
            <a:r>
              <a:rPr kumimoji="1" lang="en-US" sz="2000" dirty="0">
                <a:ea typeface="ＭＳ Ｐゴシック" pitchFamily="50" charset="-128"/>
              </a:rPr>
              <a:t> </a:t>
            </a:r>
            <a:r>
              <a:rPr kumimoji="1" lang="en-US" sz="2000" dirty="0">
                <a:ea typeface="ＭＳ Ｐゴシック" pitchFamily="50" charset="-128"/>
                <a:sym typeface="Wingdings" panose="05000000000000000000" pitchFamily="2" charset="2"/>
              </a:rPr>
              <a:t> r</a:t>
            </a:r>
            <a:r>
              <a:rPr kumimoji="1" lang="en-US" sz="2000" baseline="-25000" dirty="0">
                <a:ea typeface="ＭＳ Ｐゴシック" pitchFamily="50" charset="-128"/>
                <a:sym typeface="Wingdings" panose="05000000000000000000" pitchFamily="2" charset="2"/>
              </a:rPr>
              <a:t>3</a:t>
            </a:r>
            <a:r>
              <a:rPr kumimoji="1" lang="en-US" sz="2000" dirty="0">
                <a:ea typeface="ＭＳ Ｐゴシック" pitchFamily="50" charset="-128"/>
                <a:sym typeface="Wingdings" panose="05000000000000000000" pitchFamily="2" charset="2"/>
              </a:rPr>
              <a:t> </a:t>
            </a:r>
            <a:r>
              <a:rPr kumimoji="1" lang="en-US" altLang="ja-JP" sz="2000" i="0" u="none" strike="noStrike" cap="none" normalizeH="0" baseline="0" dirty="0">
                <a:ln>
                  <a:noFill/>
                </a:ln>
                <a:effectLst/>
                <a:ea typeface="ＭＳ Ｐゴシック" pitchFamily="50" charset="-128"/>
              </a:rPr>
              <a:t>∧ X</a:t>
            </a:r>
            <a:r>
              <a:rPr kumimoji="1" lang="en-US" altLang="ja-JP" sz="2000" i="0" u="none" strike="noStrike" cap="none" normalizeH="0" baseline="-25000" dirty="0">
                <a:ln>
                  <a:noFill/>
                </a:ln>
                <a:effectLst/>
                <a:ea typeface="ＭＳ Ｐゴシック" pitchFamily="50" charset="-128"/>
              </a:rPr>
              <a:t>5</a:t>
            </a:r>
            <a:r>
              <a:rPr kumimoji="1" lang="en-US" altLang="ja-JP" sz="2000" i="0" u="none" strike="noStrike" cap="none" normalizeH="0" baseline="0" dirty="0">
                <a:ln>
                  <a:noFill/>
                </a:ln>
                <a:effectLst/>
                <a:ea typeface="ＭＳ Ｐゴシック" pitchFamily="50" charset="-128"/>
              </a:rPr>
              <a:t> </a:t>
            </a:r>
            <a:r>
              <a:rPr kumimoji="1" lang="en-US" altLang="ja-JP" sz="2000" i="0" u="none" strike="noStrike" cap="none" normalizeH="0" baseline="0" dirty="0">
                <a:ln>
                  <a:noFill/>
                </a:ln>
                <a:effectLst/>
                <a:ea typeface="ＭＳ Ｐゴシック" pitchFamily="50" charset="-128"/>
                <a:sym typeface="Wingdings" panose="05000000000000000000" pitchFamily="2" charset="2"/>
              </a:rPr>
              <a:t> c</a:t>
            </a:r>
            <a:r>
              <a:rPr kumimoji="1" lang="en-US" altLang="ja-JP" sz="2000" i="0" u="none" strike="noStrike" cap="none" normalizeH="0" baseline="-25000" dirty="0">
                <a:ln>
                  <a:noFill/>
                </a:ln>
                <a:effectLst/>
                <a:ea typeface="ＭＳ Ｐゴシック" pitchFamily="50" charset="-128"/>
                <a:sym typeface="Wingdings" panose="05000000000000000000" pitchFamily="2" charset="2"/>
              </a:rPr>
              <a:t>1 </a:t>
            </a:r>
            <a:r>
              <a:rPr kumimoji="1" lang="en-US" altLang="ja-JP" sz="200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ea typeface="ＭＳ Ｐゴシック" pitchFamily="50" charset="-128"/>
              </a:rPr>
              <a:t>∧ </a:t>
            </a:r>
            <a:r>
              <a:rPr kumimoji="1" lang="en-US" sz="2000" dirty="0">
                <a:solidFill>
                  <a:srgbClr val="0000FF"/>
                </a:solidFill>
                <a:ea typeface="ＭＳ Ｐゴシック" pitchFamily="50" charset="-128"/>
              </a:rPr>
              <a:t>X</a:t>
            </a:r>
            <a:r>
              <a:rPr kumimoji="1" lang="en-US" sz="2000" baseline="-25000" dirty="0">
                <a:solidFill>
                  <a:srgbClr val="0000FF"/>
                </a:solidFill>
                <a:ea typeface="ＭＳ Ｐゴシック" pitchFamily="50" charset="-128"/>
              </a:rPr>
              <a:t>6</a:t>
            </a:r>
            <a:r>
              <a:rPr kumimoji="1" lang="en-US" sz="2000" dirty="0">
                <a:solidFill>
                  <a:srgbClr val="0000FF"/>
                </a:solidFill>
                <a:ea typeface="ＭＳ Ｐゴシック" pitchFamily="50" charset="-128"/>
              </a:rPr>
              <a:t> </a:t>
            </a:r>
            <a:r>
              <a:rPr kumimoji="1" lang="en-US" sz="2000" dirty="0">
                <a:solidFill>
                  <a:srgbClr val="0000FF"/>
                </a:solidFill>
                <a:ea typeface="ＭＳ Ｐゴシック" pitchFamily="50" charset="-128"/>
                <a:sym typeface="Wingdings" panose="05000000000000000000" pitchFamily="2" charset="2"/>
              </a:rPr>
              <a:t> r</a:t>
            </a:r>
            <a:r>
              <a:rPr kumimoji="1" lang="en-US" sz="2000" baseline="-25000" dirty="0">
                <a:solidFill>
                  <a:srgbClr val="0000FF"/>
                </a:solidFill>
                <a:ea typeface="ＭＳ Ｐゴシック" pitchFamily="50" charset="-128"/>
                <a:sym typeface="Wingdings" panose="05000000000000000000" pitchFamily="2" charset="2"/>
              </a:rPr>
              <a:t>3</a:t>
            </a:r>
            <a:r>
              <a:rPr kumimoji="1" lang="en-US" sz="2000" dirty="0">
                <a:solidFill>
                  <a:srgbClr val="0000FF"/>
                </a:solidFill>
                <a:ea typeface="ＭＳ Ｐゴシック" pitchFamily="50" charset="-128"/>
                <a:sym typeface="Wingdings" panose="05000000000000000000" pitchFamily="2" charset="2"/>
              </a:rPr>
              <a:t> </a:t>
            </a:r>
            <a:r>
              <a:rPr kumimoji="1" lang="en-US" altLang="ja-JP" sz="200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ea typeface="ＭＳ Ｐゴシック" pitchFamily="50" charset="-128"/>
              </a:rPr>
              <a:t>∧ X</a:t>
            </a:r>
            <a:r>
              <a:rPr kumimoji="1" lang="en-US" altLang="ja-JP" sz="2000" i="0" u="none" strike="noStrike" cap="none" normalizeH="0" baseline="-25000" dirty="0">
                <a:ln>
                  <a:noFill/>
                </a:ln>
                <a:solidFill>
                  <a:srgbClr val="0000FF"/>
                </a:solidFill>
                <a:effectLst/>
                <a:ea typeface="ＭＳ Ｐゴシック" pitchFamily="50" charset="-128"/>
              </a:rPr>
              <a:t>6</a:t>
            </a:r>
            <a:r>
              <a:rPr kumimoji="1" lang="en-US" altLang="ja-JP" sz="200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ea typeface="ＭＳ Ｐゴシック" pitchFamily="50" charset="-128"/>
              </a:rPr>
              <a:t> </a:t>
            </a:r>
            <a:r>
              <a:rPr kumimoji="1" lang="en-US" altLang="ja-JP" sz="200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ea typeface="ＭＳ Ｐゴシック" pitchFamily="50" charset="-128"/>
                <a:sym typeface="Wingdings" panose="05000000000000000000" pitchFamily="2" charset="2"/>
              </a:rPr>
              <a:t> c</a:t>
            </a:r>
            <a:r>
              <a:rPr kumimoji="1" lang="en-US" altLang="ja-JP" sz="2000" i="0" u="none" strike="noStrike" cap="none" normalizeH="0" baseline="-25000" dirty="0">
                <a:ln>
                  <a:noFill/>
                </a:ln>
                <a:solidFill>
                  <a:srgbClr val="0000FF"/>
                </a:solidFill>
                <a:effectLst/>
                <a:ea typeface="ＭＳ Ｐゴシック" pitchFamily="50" charset="-128"/>
                <a:sym typeface="Wingdings" panose="05000000000000000000" pitchFamily="2" charset="2"/>
              </a:rPr>
              <a:t>2</a:t>
            </a:r>
          </a:p>
          <a:p>
            <a:r>
              <a:rPr kumimoji="1" lang="en-US" sz="2400" dirty="0">
                <a:solidFill>
                  <a:schemeClr val="accent1"/>
                </a:solidFill>
                <a:ea typeface="ＭＳ Ｐゴシック" pitchFamily="50" charset="-128"/>
                <a:sym typeface="Wingdings" panose="05000000000000000000" pitchFamily="2" charset="2"/>
              </a:rPr>
              <a:t>For n = 7 (p x q = 3 x 3)? n = 8 (p x q = 3 x 3)?</a:t>
            </a:r>
            <a:endParaRPr lang="en-US" sz="2400" dirty="0">
              <a:solidFill>
                <a:schemeClr val="accent1"/>
              </a:solidFill>
            </a:endParaRPr>
          </a:p>
          <a:p>
            <a:pPr lvl="1"/>
            <a:endParaRPr lang="en-US" sz="2000" baseline="-25000" dirty="0"/>
          </a:p>
          <a:p>
            <a:pPr lvl="1"/>
            <a:endParaRPr lang="en-US" sz="2000" baseline="-25000" dirty="0"/>
          </a:p>
        </p:txBody>
      </p:sp>
    </p:spTree>
    <p:extLst>
      <p:ext uri="{BB962C8B-B14F-4D97-AF65-F5344CB8AC3E}">
        <p14:creationId xmlns:p14="http://schemas.microsoft.com/office/powerpoint/2010/main" val="8577856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DD4244-636D-48B6-A3E2-0EAB634DC0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65DCF3-5521-4ED0-9F24-EA4F83AFA7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sz="4000" b="1" dirty="0"/>
              <a:t>Questions?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403846170"/>
      </p:ext>
    </p:extLst>
  </p:cSld>
  <p:clrMapOvr>
    <a:masterClrMapping/>
  </p:clrMapOvr>
</p:sld>
</file>

<file path=ppt/theme/theme1.xml><?xml version="1.0" encoding="utf-8"?>
<a:theme xmlns:a="http://schemas.openxmlformats.org/drawingml/2006/main" name="Bai1a">
  <a:themeElements>
    <a:clrScheme name="">
      <a:dk1>
        <a:srgbClr val="000000"/>
      </a:dk1>
      <a:lt1>
        <a:srgbClr val="FFFFFF"/>
      </a:lt1>
      <a:dk2>
        <a:srgbClr val="081D58"/>
      </a:dk2>
      <a:lt2>
        <a:srgbClr val="919191"/>
      </a:lt2>
      <a:accent1>
        <a:srgbClr val="FC0128"/>
      </a:accent1>
      <a:accent2>
        <a:srgbClr val="063DE8"/>
      </a:accent2>
      <a:accent3>
        <a:srgbClr val="FFFFFF"/>
      </a:accent3>
      <a:accent4>
        <a:srgbClr val="000000"/>
      </a:accent4>
      <a:accent5>
        <a:srgbClr val="FDAAAC"/>
      </a:accent5>
      <a:accent6>
        <a:srgbClr val="0536D2"/>
      </a:accent6>
      <a:hlink>
        <a:srgbClr val="00DFCA"/>
      </a:hlink>
      <a:folHlink>
        <a:srgbClr val="EAEC5E"/>
      </a:folHlink>
    </a:clrScheme>
    <a:fontScheme name="Bai1a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Bai1a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ai1a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ai1a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ai1a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ai1a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ai1a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ai1a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C:\Documents and Settings\Dang Duc Hanh\My Documents\KyNghePhanMem\hanhdd 05\Slide\Bai1a.ppt</Template>
  <TotalTime>22714</TotalTime>
  <Words>1975</Words>
  <Application>Microsoft Office PowerPoint</Application>
  <PresentationFormat>On-screen Show (4:3)</PresentationFormat>
  <Paragraphs>152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ＭＳ Ｐゴシック</vt:lpstr>
      <vt:lpstr>Arial</vt:lpstr>
      <vt:lpstr>Monotype Sorts</vt:lpstr>
      <vt:lpstr>Wingdings</vt:lpstr>
      <vt:lpstr>Zapf Dingbats</vt:lpstr>
      <vt:lpstr>Bai1a</vt:lpstr>
      <vt:lpstr>At Most One – AMO, At Least One – ALO  Encoding      To Van Khanh</vt:lpstr>
      <vt:lpstr>Outline</vt:lpstr>
      <vt:lpstr>AMO, ALO Encoding</vt:lpstr>
      <vt:lpstr>AMO – Binomial encoding</vt:lpstr>
      <vt:lpstr>Binary encoding</vt:lpstr>
      <vt:lpstr>Binary encoding (1)</vt:lpstr>
      <vt:lpstr>Binary encoding (2)</vt:lpstr>
      <vt:lpstr>Binary encoding (3)</vt:lpstr>
      <vt:lpstr>Binary encoding (4)</vt:lpstr>
      <vt:lpstr>Sequential encounter encoding</vt:lpstr>
      <vt:lpstr>Sequential encounter encoding (cont)</vt:lpstr>
      <vt:lpstr>Commander encoding</vt:lpstr>
      <vt:lpstr>Commander encoding (cont)</vt:lpstr>
      <vt:lpstr>Product encoding</vt:lpstr>
      <vt:lpstr>Product encoding (1)</vt:lpstr>
      <vt:lpstr>Product encoding (2)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NhËp m«n C«ng nghÖ phÇn mÒm</dc:title>
  <dc:creator>Nguyen Viet Ha</dc:creator>
  <cp:lastModifiedBy>Đỗ Quốc Nguyên Chương</cp:lastModifiedBy>
  <cp:revision>383</cp:revision>
  <cp:lastPrinted>2021-10-14T05:25:10Z</cp:lastPrinted>
  <dcterms:created xsi:type="dcterms:W3CDTF">2002-09-10T08:53:58Z</dcterms:created>
  <dcterms:modified xsi:type="dcterms:W3CDTF">2026-04-18T07:26:51Z</dcterms:modified>
</cp:coreProperties>
</file>